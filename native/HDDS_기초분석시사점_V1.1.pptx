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6159" y="720090"/>
            <a:ext cx="731501" cy="3429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584" y="836676"/>
            <a:ext cx="10972525" cy="9601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retendard"/>
              </a:rPr>
              <a:t>기초분석 시사점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6159" y="1714500"/>
            <a:ext cx="10972525" cy="41148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400" b="0">
                <a:solidFill>
                  <a:srgbClr val="B0B0B0"/>
                </a:solidFill>
                <a:latin typeface="Pretendard"/>
              </a:rPr>
              <a:t>현대백화점 자사채널(PC·MWEB) 개선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6159" y="4800600"/>
            <a:ext cx="5486262" cy="123444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50" b="0">
                <a:solidFill>
                  <a:srgbClr val="A0A0A0"/>
                </a:solidFill>
                <a:latin typeface="Pretendard"/>
              </a:rPr>
              <a:t>구분   보고 — 문제 정의</a:t>
            </a:r>
          </a:p>
          <a:p>
            <a:pPr algn="l"/>
            <a:r>
              <a:rPr sz="1050" b="0">
                <a:solidFill>
                  <a:srgbClr val="A0A0A0"/>
                </a:solidFill>
                <a:latin typeface="Pretendard"/>
              </a:rPr>
              <a:t>버전   V1.1</a:t>
            </a:r>
          </a:p>
          <a:p>
            <a:pPr algn="l"/>
            <a:r>
              <a:rPr sz="1050" b="0">
                <a:solidFill>
                  <a:srgbClr val="A0A0A0"/>
                </a:solidFill>
                <a:latin typeface="Pretendard"/>
              </a:rPr>
              <a:t>작성자   기획PL</a:t>
            </a:r>
          </a:p>
          <a:p>
            <a:pPr algn="l"/>
            <a:r>
              <a:rPr sz="1050" b="0">
                <a:solidFill>
                  <a:srgbClr val="A0A0A0"/>
                </a:solidFill>
                <a:latin typeface="Pretendard"/>
              </a:rPr>
              <a:t>프로젝트   C2202500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01482" y="5212080"/>
            <a:ext cx="7315017" cy="41148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1300" b="0">
                <a:solidFill>
                  <a:srgbClr val="D8D8D8"/>
                </a:solidFill>
                <a:latin typeface="Pretendard"/>
              </a:rPr>
              <a:t>2026-08-10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6159" y="6309360"/>
            <a:ext cx="3657508" cy="3429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  <a:latin typeface="Pretendard"/>
              </a:rPr>
              <a:t>VinylC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7667" y="137160"/>
            <a:ext cx="7315017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0">
                <a:solidFill>
                  <a:srgbClr val="767676"/>
                </a:solidFill>
                <a:latin typeface="Pretendard"/>
              </a:rPr>
              <a:t>문서 정보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7667" y="548640"/>
            <a:ext cx="7315017" cy="4800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Pretendard"/>
              </a:rPr>
              <a:t>개정이력</a:t>
            </a:r>
          </a:p>
        </p:txBody>
      </p:sp>
      <p:sp>
        <p:nvSpPr>
          <p:cNvPr id="4" name="Rectangle 3"/>
          <p:cNvSpPr/>
          <p:nvPr/>
        </p:nvSpPr>
        <p:spPr>
          <a:xfrm>
            <a:off x="487667" y="1371600"/>
            <a:ext cx="975335" cy="37719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87667" y="1426464"/>
            <a:ext cx="975335" cy="30175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50" b="1">
                <a:solidFill>
                  <a:srgbClr val="1A1A1A"/>
                </a:solidFill>
                <a:latin typeface="Pretendard"/>
              </a:rPr>
              <a:t>버전</a:t>
            </a:r>
          </a:p>
        </p:txBody>
      </p:sp>
      <p:sp>
        <p:nvSpPr>
          <p:cNvPr id="6" name="Rectangle 5"/>
          <p:cNvSpPr/>
          <p:nvPr/>
        </p:nvSpPr>
        <p:spPr>
          <a:xfrm>
            <a:off x="1463003" y="1371600"/>
            <a:ext cx="1463003" cy="37719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03" y="1426464"/>
            <a:ext cx="1463003" cy="30175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50" b="1">
                <a:solidFill>
                  <a:srgbClr val="1A1A1A"/>
                </a:solidFill>
                <a:latin typeface="Pretendard"/>
              </a:rPr>
              <a:t>일자</a:t>
            </a:r>
          </a:p>
        </p:txBody>
      </p:sp>
      <p:sp>
        <p:nvSpPr>
          <p:cNvPr id="8" name="Rectangle 7"/>
          <p:cNvSpPr/>
          <p:nvPr/>
        </p:nvSpPr>
        <p:spPr>
          <a:xfrm>
            <a:off x="2926006" y="1371600"/>
            <a:ext cx="7315017" cy="37719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26006" y="1426464"/>
            <a:ext cx="7315017" cy="30175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50" b="1">
                <a:solidFill>
                  <a:srgbClr val="1A1A1A"/>
                </a:solidFill>
                <a:latin typeface="Pretendard"/>
              </a:rPr>
              <a:t>변경 내역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241023" y="1371600"/>
            <a:ext cx="1706837" cy="37719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023" y="1426464"/>
            <a:ext cx="1706837" cy="30175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50" b="1">
                <a:solidFill>
                  <a:srgbClr val="1A1A1A"/>
                </a:solidFill>
                <a:latin typeface="Pretendard"/>
              </a:rPr>
              <a:t>작성자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7667" y="1748790"/>
            <a:ext cx="975335" cy="411480"/>
          </a:xfrm>
          <a:prstGeom prst="rect">
            <a:avLst/>
          </a:prstGeom>
          <a:noFill/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7667" y="1783080"/>
            <a:ext cx="975335" cy="37033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Pretendard"/>
              </a:rPr>
              <a:t>v0.1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63003" y="1748790"/>
            <a:ext cx="1463003" cy="411480"/>
          </a:xfrm>
          <a:prstGeom prst="rect">
            <a:avLst/>
          </a:prstGeom>
          <a:noFill/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63003" y="1783080"/>
            <a:ext cx="1463003" cy="37033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Pretendard"/>
              </a:rPr>
              <a:t>2026-08-10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926006" y="1748790"/>
            <a:ext cx="7315017" cy="411480"/>
          </a:xfrm>
          <a:prstGeom prst="rect">
            <a:avLst/>
          </a:prstGeom>
          <a:noFill/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26006" y="1783080"/>
            <a:ext cx="7315017" cy="37033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Pretendard"/>
              </a:rPr>
              <a:t>초안작성 — 테마 5 · 핵심 이슈 14 · 상충·미결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241023" y="1748790"/>
            <a:ext cx="1706837" cy="411480"/>
          </a:xfrm>
          <a:prstGeom prst="rect">
            <a:avLst/>
          </a:prstGeom>
          <a:noFill/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41023" y="1783080"/>
            <a:ext cx="1706837" cy="37033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Pretendard"/>
              </a:rPr>
              <a:t>기획PL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87667" y="2160270"/>
            <a:ext cx="975335" cy="411480"/>
          </a:xfrm>
          <a:prstGeom prst="rect">
            <a:avLst/>
          </a:prstGeom>
          <a:noFill/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7667" y="2194560"/>
            <a:ext cx="975335" cy="37033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Pretendard"/>
              </a:rPr>
              <a:t>v1.1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463003" y="2160270"/>
            <a:ext cx="1463003" cy="411480"/>
          </a:xfrm>
          <a:prstGeom prst="rect">
            <a:avLst/>
          </a:prstGeom>
          <a:noFill/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63003" y="2194560"/>
            <a:ext cx="1463003" cy="37033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Pretendard"/>
              </a:rPr>
              <a:t>2026-08-10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926006" y="2160270"/>
            <a:ext cx="7315017" cy="411480"/>
          </a:xfrm>
          <a:prstGeom prst="rect">
            <a:avLst/>
          </a:prstGeom>
          <a:noFill/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926006" y="2194560"/>
            <a:ext cx="7315017" cy="37033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Pretendard"/>
              </a:rPr>
              <a:t>보고 덱 재구성 — 판단 단위 슬라이드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241023" y="2160270"/>
            <a:ext cx="1706837" cy="411480"/>
          </a:xfrm>
          <a:prstGeom prst="rect">
            <a:avLst/>
          </a:prstGeom>
          <a:noFill/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241023" y="2194560"/>
            <a:ext cx="1706837" cy="37033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Pretendard"/>
              </a:rPr>
              <a:t>기획PL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19169" y="1920240"/>
            <a:ext cx="9753356" cy="41148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300" b="0">
                <a:solidFill>
                  <a:srgbClr val="767676"/>
                </a:solidFill>
                <a:latin typeface="Pretendard"/>
              </a:rPr>
              <a:t>이 단계의 목적은 해결이 아니라 정의다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3418" y="2468880"/>
            <a:ext cx="10484857" cy="178308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2400" b="1">
                <a:solidFill>
                  <a:srgbClr val="1A1A1A"/>
                </a:solidFill>
                <a:latin typeface="Pretendard"/>
              </a:rPr>
              <a:t>흩어진 분석이</a:t>
            </a:r>
          </a:p>
          <a:p>
            <a:pPr algn="ctr"/>
            <a:r>
              <a:rPr sz="2400" b="1">
                <a:solidFill>
                  <a:srgbClr val="1A1A1A"/>
                </a:solidFill>
                <a:latin typeface="Pretendard"/>
              </a:rPr>
              <a:t>다섯 개 문제로 수렴한다.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5335" y="4389120"/>
            <a:ext cx="10241023" cy="6858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400" b="1">
                <a:solidFill>
                  <a:srgbClr val="B3261E"/>
                </a:solidFill>
                <a:latin typeface="Pretendard"/>
              </a:rPr>
              <a:t>그중 넷은 심각도 「상」 — 설계 전에 답이 있어야 한다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50" y="6480810"/>
            <a:ext cx="8534186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현대백화점 자사채널(PC·MWEB) 개선 · 기초분석 시사점 · V1.1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91" y="6480810"/>
            <a:ext cx="1097252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750" b="0">
                <a:solidFill>
                  <a:srgbClr val="767676"/>
                </a:solidFill>
                <a:latin typeface="Pretendard"/>
              </a:rPr>
              <a:t>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7667" y="137160"/>
            <a:ext cx="8534186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0">
                <a:solidFill>
                  <a:srgbClr val="767676"/>
                </a:solidFill>
                <a:latin typeface="Pretendard"/>
              </a:rPr>
              <a:t>기초분석 시사점 · 테마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7667" y="548640"/>
            <a:ext cx="11216359" cy="54864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Pretendard"/>
              </a:rPr>
              <a:t>문제는 다섯 갈래다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7667" y="1097280"/>
            <a:ext cx="11216359" cy="41148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50" b="0">
                <a:solidFill>
                  <a:srgbClr val="767676"/>
                </a:solidFill>
                <a:latin typeface="Pretendard"/>
              </a:rPr>
              <a:t>affinity 군집 결과. 심각도는 영향 범위와 하류 차단 여부로 판정했다.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487667" y="1714500"/>
            <a:ext cx="11216359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87667" y="1714500"/>
            <a:ext cx="73150" cy="822960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2460" y="1817370"/>
            <a:ext cx="853418" cy="3429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1">
                <a:solidFill>
                  <a:srgbClr val="B3261E"/>
                </a:solidFill>
                <a:latin typeface="Pretendard"/>
              </a:rPr>
              <a:t>T-A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06837" y="1803654"/>
            <a:ext cx="7558850" cy="37719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Pretendard"/>
              </a:rPr>
              <a:t>두 채널이 하나의 서비스로 작동하지 않는다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06837" y="2167128"/>
            <a:ext cx="8290352" cy="315467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0">
                <a:solidFill>
                  <a:srgbClr val="767676"/>
                </a:solidFill>
                <a:latin typeface="Pretendard"/>
              </a:rPr>
              <a:t>진입 모델 불일치 · 동등성 결손 9건 · 표기 불일치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023" y="1961388"/>
            <a:ext cx="1341086" cy="3429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950" b="1">
                <a:solidFill>
                  <a:srgbClr val="B3261E"/>
                </a:solidFill>
                <a:latin typeface="Pretendard"/>
              </a:rPr>
              <a:t>심각도 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7667" y="2606040"/>
            <a:ext cx="11216359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87667" y="2606040"/>
            <a:ext cx="73150" cy="822960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2460" y="2708910"/>
            <a:ext cx="853418" cy="3429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1">
                <a:solidFill>
                  <a:srgbClr val="B3261E"/>
                </a:solidFill>
                <a:latin typeface="Pretendard"/>
              </a:rPr>
              <a:t>T-B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06837" y="2695194"/>
            <a:ext cx="7558850" cy="37719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Pretendard"/>
              </a:rPr>
              <a:t>규모의 정체가 화면 수가 아니라 반복 구조다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06837" y="3058668"/>
            <a:ext cx="8290352" cy="315467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0">
                <a:solidFill>
                  <a:srgbClr val="767676"/>
                </a:solidFill>
                <a:latin typeface="Pretendard"/>
              </a:rPr>
              <a:t>2대 영역 52.8% · 검색 문맥 상실 · 재방문 장치 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023" y="2852928"/>
            <a:ext cx="1341086" cy="3429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950" b="1">
                <a:solidFill>
                  <a:srgbClr val="B3261E"/>
                </a:solidFill>
                <a:latin typeface="Pretendard"/>
              </a:rPr>
              <a:t>심각도 상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87667" y="3497580"/>
            <a:ext cx="11216359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87667" y="3497580"/>
            <a:ext cx="73150" cy="822960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2460" y="3600450"/>
            <a:ext cx="853418" cy="3429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1">
                <a:solidFill>
                  <a:srgbClr val="B3261E"/>
                </a:solidFill>
                <a:latin typeface="Pretendard"/>
              </a:rPr>
              <a:t>T-C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06837" y="3586734"/>
            <a:ext cx="7558850" cy="37719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Pretendard"/>
              </a:rPr>
              <a:t>실패했을 때 갈 곳이 없다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6837" y="3950208"/>
            <a:ext cx="8290352" cy="315467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0">
                <a:solidFill>
                  <a:srgbClr val="767676"/>
                </a:solidFill>
                <a:latin typeface="Pretendard"/>
              </a:rPr>
              <a:t>예외·오류 화면 0건 · 취소 경로 0건 · 도움말 산재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023" y="3744468"/>
            <a:ext cx="1341086" cy="3429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950" b="1">
                <a:solidFill>
                  <a:srgbClr val="B3261E"/>
                </a:solidFill>
                <a:latin typeface="Pretendard"/>
              </a:rPr>
              <a:t>심각도 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87667" y="4389120"/>
            <a:ext cx="11216359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87667" y="4389120"/>
            <a:ext cx="73150" cy="822960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2460" y="4491990"/>
            <a:ext cx="853418" cy="3429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1">
                <a:solidFill>
                  <a:srgbClr val="B3261E"/>
                </a:solidFill>
                <a:latin typeface="Pretendard"/>
              </a:rPr>
              <a:t>T-D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06837" y="4478274"/>
            <a:ext cx="7558850" cy="37719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Pretendard"/>
              </a:rPr>
              <a:t>회원 체계 전환이 설계 위에 걸쳐 있다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06837" y="4841747"/>
            <a:ext cx="8290352" cy="315467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0">
                <a:solidFill>
                  <a:srgbClr val="767676"/>
                </a:solidFill>
                <a:latin typeface="Pretendard"/>
              </a:rPr>
              <a:t>H.Point 전환 PC 전용 · 제외 경계 68화면 미정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41023" y="4636007"/>
            <a:ext cx="1341086" cy="3429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950" b="1">
                <a:solidFill>
                  <a:srgbClr val="B3261E"/>
                </a:solidFill>
                <a:latin typeface="Pretendard"/>
              </a:rPr>
              <a:t>심각도 상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87667" y="5280660"/>
            <a:ext cx="11216359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87667" y="5280660"/>
            <a:ext cx="73150" cy="82296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2460" y="5383530"/>
            <a:ext cx="853418" cy="3429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Pretendard"/>
              </a:rPr>
              <a:t>T-E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706837" y="5369814"/>
            <a:ext cx="7558850" cy="37719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Pretendard"/>
              </a:rPr>
              <a:t>요건이 계속 움직인다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706837" y="5733288"/>
            <a:ext cx="8290352" cy="315467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0">
                <a:solidFill>
                  <a:srgbClr val="767676"/>
                </a:solidFill>
                <a:latin typeface="Pretendard"/>
              </a:rPr>
              <a:t>운영 변경 4건 병행 · 워크숍 2차 재정의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241023" y="5527548"/>
            <a:ext cx="1341086" cy="3429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950" b="1">
                <a:solidFill>
                  <a:srgbClr val="1A1A1A"/>
                </a:solidFill>
                <a:latin typeface="Pretendard"/>
              </a:rPr>
              <a:t>심각도 중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50" y="6480810"/>
            <a:ext cx="8534186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현대백화점 자사채널(PC·MWEB) 개선 · 기초분석 시사점 · V1.1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728691" y="6480810"/>
            <a:ext cx="1097252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750" b="0">
                <a:solidFill>
                  <a:srgbClr val="767676"/>
                </a:solidFill>
                <a:latin typeface="Pretendard"/>
              </a:rPr>
              <a:t>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7667" y="137160"/>
            <a:ext cx="8534186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0">
                <a:solidFill>
                  <a:srgbClr val="767676"/>
                </a:solidFill>
                <a:latin typeface="Pretendard"/>
              </a:rPr>
              <a:t>기초분석 시사점 · 이슈 분포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7667" y="548640"/>
            <a:ext cx="11216359" cy="54864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Pretendard"/>
              </a:rPr>
              <a:t>핵심 이슈 14건이 어디에 몰려 있는가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7667" y="1097280"/>
            <a:ext cx="11216359" cy="41148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50" b="0">
                <a:solidFill>
                  <a:srgbClr val="767676"/>
                </a:solidFill>
                <a:latin typeface="Pretendard"/>
              </a:rPr>
              <a:t>숫자는 해당 테마·심각도의 이슈 건수. 「상」이 9건 — 이것들이 설계를 막는다.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82172" y="1645920"/>
            <a:ext cx="1463003" cy="37719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Pretendard"/>
              </a:rPr>
              <a:t>T-A 채널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67093" y="1645920"/>
            <a:ext cx="1463003" cy="37719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Pretendard"/>
              </a:rPr>
              <a:t>T-B 규모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013" y="1645920"/>
            <a:ext cx="1463003" cy="37719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Pretendard"/>
              </a:rPr>
              <a:t>T-C 실패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36933" y="1645920"/>
            <a:ext cx="1463003" cy="37719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Pretendard"/>
              </a:rPr>
              <a:t>T-D 회원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21854" y="1645920"/>
            <a:ext cx="1463003" cy="37719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Pretendard"/>
              </a:rPr>
              <a:t>T-E 요건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6774" y="1645920"/>
            <a:ext cx="1463003" cy="37719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Pretendard"/>
              </a:rPr>
              <a:t>전체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7667" y="2235708"/>
            <a:ext cx="2072588" cy="3429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50" b="1">
                <a:solidFill>
                  <a:srgbClr val="1A1A1A"/>
                </a:solidFill>
                <a:latin typeface="Pretendard"/>
              </a:rPr>
              <a:t>심각도 상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82172" y="2057400"/>
            <a:ext cx="1463003" cy="822960"/>
          </a:xfrm>
          <a:prstGeom prst="rect">
            <a:avLst/>
          </a:prstGeom>
          <a:solidFill>
            <a:srgbClr val="1A1A1A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82172" y="2208276"/>
            <a:ext cx="1463003" cy="3429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67093" y="2057400"/>
            <a:ext cx="1463003" cy="822960"/>
          </a:xfrm>
          <a:prstGeom prst="rect">
            <a:avLst/>
          </a:prstGeom>
          <a:solidFill>
            <a:srgbClr val="1A1A1A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67093" y="2208276"/>
            <a:ext cx="1463003" cy="3429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Pretendard"/>
              </a:rPr>
              <a:t>●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52013" y="2057400"/>
            <a:ext cx="1463003" cy="822960"/>
          </a:xfrm>
          <a:prstGeom prst="rect">
            <a:avLst/>
          </a:prstGeom>
          <a:solidFill>
            <a:srgbClr val="1A1A1A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52013" y="2208276"/>
            <a:ext cx="1463003" cy="3429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36933" y="2057400"/>
            <a:ext cx="1463003" cy="822960"/>
          </a:xfrm>
          <a:prstGeom prst="rect">
            <a:avLst/>
          </a:prstGeom>
          <a:solidFill>
            <a:srgbClr val="1A1A1A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36933" y="2208276"/>
            <a:ext cx="1463003" cy="3429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21854" y="2057400"/>
            <a:ext cx="1463003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606774" y="2057400"/>
            <a:ext cx="1463003" cy="822960"/>
          </a:xfrm>
          <a:prstGeom prst="rect">
            <a:avLst/>
          </a:prstGeom>
          <a:solidFill>
            <a:srgbClr val="1A1A1A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06774" y="2208276"/>
            <a:ext cx="1463003" cy="3429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Pretendard"/>
              </a:rPr>
              <a:t>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7667" y="3127248"/>
            <a:ext cx="2072588" cy="3429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50" b="1">
                <a:solidFill>
                  <a:srgbClr val="1A1A1A"/>
                </a:solidFill>
                <a:latin typeface="Pretendard"/>
              </a:rPr>
              <a:t>심각도 중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682172" y="2948940"/>
            <a:ext cx="1463003" cy="822960"/>
          </a:xfrm>
          <a:prstGeom prst="rect">
            <a:avLst/>
          </a:prstGeom>
          <a:solidFill>
            <a:srgbClr val="1A1A1A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682172" y="3099816"/>
            <a:ext cx="1463003" cy="3429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67093" y="2948940"/>
            <a:ext cx="1463003" cy="822960"/>
          </a:xfrm>
          <a:prstGeom prst="rect">
            <a:avLst/>
          </a:prstGeom>
          <a:solidFill>
            <a:srgbClr val="1A1A1A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67093" y="3099816"/>
            <a:ext cx="1463003" cy="3429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852013" y="2948940"/>
            <a:ext cx="1463003" cy="822960"/>
          </a:xfrm>
          <a:prstGeom prst="rect">
            <a:avLst/>
          </a:prstGeom>
          <a:solidFill>
            <a:srgbClr val="1A1A1A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52013" y="3099816"/>
            <a:ext cx="1463003" cy="3429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Pretendard"/>
              </a:rPr>
              <a:t>●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436933" y="2948940"/>
            <a:ext cx="1463003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021854" y="2948940"/>
            <a:ext cx="1463003" cy="822960"/>
          </a:xfrm>
          <a:prstGeom prst="rect">
            <a:avLst/>
          </a:prstGeom>
          <a:solidFill>
            <a:srgbClr val="1A1A1A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21854" y="3099816"/>
            <a:ext cx="1463003" cy="3429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Pretendard"/>
              </a:rPr>
              <a:t>●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606774" y="2948940"/>
            <a:ext cx="1463003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87667" y="4183380"/>
            <a:ext cx="11216359" cy="9601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0">
                <a:solidFill>
                  <a:srgbClr val="767676"/>
                </a:solidFill>
                <a:latin typeface="Pretendard"/>
              </a:rPr>
              <a:t>「전체」 열의 상 1건 = I-14 사용자 근거 0건 — 특정 테마가 아니라 분석 전체에 걸린 문제다.</a:t>
            </a:r>
          </a:p>
          <a:p>
            <a:pPr algn="l"/>
            <a:r>
              <a:rPr sz="1000" b="0">
                <a:solidFill>
                  <a:srgbClr val="767676"/>
                </a:solidFill>
                <a:latin typeface="Pretendard"/>
              </a:rPr>
              <a:t>T-A 가 4건으로 최다 — 채널 분열이 가장 넓게 퍼져 있다.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50" y="6480810"/>
            <a:ext cx="8534186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현대백화점 자사채널(PC·MWEB) 개선 · 기초분석 시사점 · V1.1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728691" y="6480810"/>
            <a:ext cx="1097252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750" b="0">
                <a:solidFill>
                  <a:srgbClr val="767676"/>
                </a:solidFill>
                <a:latin typeface="Pretendard"/>
              </a:rPr>
              <a:t>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7667" y="137160"/>
            <a:ext cx="8534186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0">
                <a:solidFill>
                  <a:srgbClr val="767676"/>
                </a:solidFill>
                <a:latin typeface="Pretendard"/>
              </a:rPr>
              <a:t>기초분석 시사점 · 상충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7667" y="548640"/>
            <a:ext cx="11216359" cy="54864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Pretendard"/>
              </a:rPr>
              <a:t>같은 자리에서 상반된 결정이 내려졌다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7667" y="1097280"/>
            <a:ext cx="11216359" cy="41148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50" b="0">
                <a:solidFill>
                  <a:srgbClr val="767676"/>
                </a:solidFill>
                <a:latin typeface="Pretendard"/>
              </a:rPr>
              <a:t>봉합하지 않고 그대로 올린다 — I-2. 특히 VIP프로그램이 문제다.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487667" y="1783080"/>
            <a:ext cx="5120511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51" y="1879092"/>
            <a:ext cx="4754761" cy="3429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1">
                <a:solidFill>
                  <a:srgbClr val="1A1A1A"/>
                </a:solidFill>
                <a:latin typeface="Pretendard"/>
              </a:rPr>
              <a:t>1차 워크숍 — 통일 방향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51" y="2263140"/>
            <a:ext cx="4754761" cy="109728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50" b="0">
                <a:solidFill>
                  <a:srgbClr val="767676"/>
                </a:solidFill>
                <a:latin typeface="Pretendard"/>
              </a:rPr>
              <a:t>“VIP프로그램 구조 통일 필요 (PC/MWEB 동일)”</a:t>
            </a:r>
          </a:p>
          <a:p>
            <a:pPr algn="l"/>
            <a:r>
              <a:rPr sz="950" b="0">
                <a:solidFill>
                  <a:srgbClr val="767676"/>
                </a:solidFill>
                <a:latin typeface="Pretendard"/>
              </a:rPr>
              <a:t>프리미엄서비스&gt;VIP프로그램 범위를</a:t>
            </a:r>
          </a:p>
          <a:p>
            <a:pPr algn="l"/>
            <a:r>
              <a:rPr sz="950" b="0">
                <a:solidFill>
                  <a:srgbClr val="767676"/>
                </a:solidFill>
                <a:latin typeface="Pretendard"/>
              </a:rPr>
              <a:t>양 채널 모두 개선 → 스킨변경으로 내림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30096" y="2400300"/>
            <a:ext cx="731501" cy="41148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2000" b="1">
                <a:solidFill>
                  <a:srgbClr val="B3261E"/>
                </a:solidFill>
                <a:latin typeface="Pretendard"/>
              </a:rPr>
              <a:t>≠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515" y="1783080"/>
            <a:ext cx="5120511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54199" y="1879092"/>
            <a:ext cx="4754761" cy="3429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1">
                <a:solidFill>
                  <a:srgbClr val="1A1A1A"/>
                </a:solidFill>
                <a:latin typeface="Pretendard"/>
              </a:rPr>
              <a:t>2차 워크숍 — 개별 결정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54199" y="2263140"/>
            <a:ext cx="4754761" cy="109728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50" b="0">
                <a:solidFill>
                  <a:srgbClr val="767676"/>
                </a:solidFill>
                <a:latin typeface="Pretendard"/>
              </a:rPr>
              <a:t>“[MWEB] VIP프로그램 범위 스킨변경 → 개선,</a:t>
            </a:r>
          </a:p>
          <a:p>
            <a:pPr algn="l"/>
            <a:r>
              <a:rPr sz="950" b="0">
                <a:solidFill>
                  <a:srgbClr val="767676"/>
                </a:solidFill>
                <a:latin typeface="Pretendard"/>
              </a:rPr>
              <a:t>원페이지를 2Tab 구조로 개선”</a:t>
            </a:r>
          </a:p>
          <a:p>
            <a:pPr algn="l"/>
            <a:r>
              <a:rPr sz="950" b="0">
                <a:solidFill>
                  <a:srgbClr val="767676"/>
                </a:solidFill>
                <a:latin typeface="Pretendard"/>
              </a:rPr>
              <a:t>PC 는 스킨변경 그대로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7667" y="3566160"/>
            <a:ext cx="11216359" cy="61722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0543" y="3675888"/>
            <a:ext cx="10850608" cy="44577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50" b="1">
                <a:solidFill>
                  <a:srgbClr val="B3261E"/>
                </a:solidFill>
                <a:latin typeface="Pretendard"/>
              </a:rPr>
              <a:t>결과적으로 구조가 통일되는 게 아니라 더 벌어진다 — 215 [확인필요 13]으로 등록돼 있었고 워크숍 원문으로 확정됐다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7667" y="4251960"/>
            <a:ext cx="11216359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87667" y="4251960"/>
            <a:ext cx="73150" cy="1234440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51" y="4334256"/>
            <a:ext cx="9753356" cy="41148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50" b="1">
                <a:solidFill>
                  <a:srgbClr val="1A1A1A"/>
                </a:solidFill>
                <a:latin typeface="Pretendard"/>
              </a:rPr>
              <a:t>같은 패턴이 마이페이지에도 있다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51" y="4766310"/>
            <a:ext cx="10899375" cy="65151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0">
                <a:solidFill>
                  <a:srgbClr val="767676"/>
                </a:solidFill>
                <a:latin typeface="Pretendard"/>
              </a:rPr>
              <a:t>통일 방향: “개선 시 일원화된 구성 필요 (PC, MWEB)”  ↔  개별 결정: “‘로그인 기록 보기’는 PC에서만 노출”</a:t>
            </a:r>
          </a:p>
          <a:p>
            <a:pPr algn="l"/>
            <a:r>
              <a:rPr sz="1000" b="0">
                <a:solidFill>
                  <a:srgbClr val="767676"/>
                </a:solidFill>
                <a:latin typeface="Pretendard"/>
              </a:rPr>
              <a:t>→ 242 UX컨셉이 채널 통일의 수준을 정의하지 않으면 이 상충이 설계까지 내려온다.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50" y="6480810"/>
            <a:ext cx="8534186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현대백화점 자사채널(PC·MWEB) 개선 · 기초분석 시사점 · V1.1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28691" y="6480810"/>
            <a:ext cx="1097252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750" b="0">
                <a:solidFill>
                  <a:srgbClr val="767676"/>
                </a:solidFill>
                <a:latin typeface="Pretendard"/>
              </a:rPr>
              <a:t>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7667" y="137160"/>
            <a:ext cx="8534186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0">
                <a:solidFill>
                  <a:srgbClr val="767676"/>
                </a:solidFill>
                <a:latin typeface="Pretendard"/>
              </a:rPr>
              <a:t>기초분석 시사점 · 근거 한계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7667" y="548640"/>
            <a:ext cx="11216359" cy="54864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Pretendard"/>
              </a:rPr>
              <a:t>이 분석에는 사용자가 없다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7667" y="1097280"/>
            <a:ext cx="11216359" cy="41148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50" b="0">
                <a:solidFill>
                  <a:srgbClr val="767676"/>
                </a:solidFill>
                <a:latin typeface="Pretendard"/>
              </a:rPr>
              <a:t>I-14 — 심각도 상. 다른 13건과 성격이 다르다: 문제가 아니라 분석의 조건이다.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487667" y="1783080"/>
            <a:ext cx="3535591" cy="150876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87667" y="1783080"/>
            <a:ext cx="3535591" cy="75438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9584" y="1954530"/>
            <a:ext cx="3291757" cy="54864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400" b="1">
                <a:solidFill>
                  <a:srgbClr val="B3261E"/>
                </a:solidFill>
                <a:latin typeface="Pretendard"/>
              </a:rPr>
              <a:t>0건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584" y="2503170"/>
            <a:ext cx="3291757" cy="75438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0">
                <a:solidFill>
                  <a:srgbClr val="767676"/>
                </a:solidFill>
                <a:latin typeface="Pretendard"/>
              </a:rPr>
              <a:t>사용자 발화·관찰 데이터</a:t>
            </a:r>
          </a:p>
        </p:txBody>
      </p:sp>
      <p:sp>
        <p:nvSpPr>
          <p:cNvPr id="9" name="Rectangle 8"/>
          <p:cNvSpPr/>
          <p:nvPr/>
        </p:nvSpPr>
        <p:spPr>
          <a:xfrm>
            <a:off x="4328051" y="1783080"/>
            <a:ext cx="3535591" cy="150876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28051" y="1783080"/>
            <a:ext cx="3535591" cy="7543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49968" y="1954530"/>
            <a:ext cx="3291757" cy="54864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Pretendard"/>
              </a:rPr>
              <a:t>78건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49968" y="2503170"/>
            <a:ext cx="3291757" cy="75438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0">
                <a:solidFill>
                  <a:srgbClr val="767676"/>
                </a:solidFill>
                <a:latin typeface="Pretendard"/>
              </a:rPr>
              <a:t>요구 — 전부 비사용자 출처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68435" y="1783080"/>
            <a:ext cx="3535591" cy="150876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68435" y="1783080"/>
            <a:ext cx="3535591" cy="7543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90352" y="1954530"/>
            <a:ext cx="3291757" cy="54864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Pretendard"/>
              </a:rPr>
              <a:t>13건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0352" y="2503170"/>
            <a:ext cx="3291757" cy="75438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0">
                <a:solidFill>
                  <a:srgbClr val="767676"/>
                </a:solidFill>
                <a:latin typeface="Pretendard"/>
              </a:rPr>
              <a:t>개선기회 — 전부 비사용자 출처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87667" y="3566160"/>
            <a:ext cx="11216359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87667" y="3566160"/>
            <a:ext cx="73150" cy="1508760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51" y="3648456"/>
            <a:ext cx="9753356" cy="41148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Pretendard"/>
              </a:rPr>
              <a:t>그래서 무엇이 달라지나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51" y="4080510"/>
            <a:ext cx="10899375" cy="92583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0">
                <a:solidFill>
                  <a:srgbClr val="767676"/>
                </a:solidFill>
                <a:latin typeface="Pretendard"/>
              </a:rPr>
              <a:t>요구·개선기회는 이해관계자 인터뷰·정책·시스템·AS-IS 구조 실측에서 나왔다 — 근거가 없는 게 아니라 층이 다르다.</a:t>
            </a:r>
          </a:p>
          <a:p>
            <a:pPr algn="l"/>
            <a:r>
              <a:rPr sz="1000" b="0">
                <a:solidFill>
                  <a:srgbClr val="767676"/>
                </a:solidFill>
                <a:latin typeface="Pretendard"/>
              </a:rPr>
              <a:t>다만 “사용자가 실제로 어디서 막히는가”는 이 분석으로 답할 수 없다. 리서치 미계약(231·232·233 제외)이 원인이다.</a:t>
            </a:r>
          </a:p>
          <a:p>
            <a:pPr algn="l"/>
            <a:r>
              <a:rPr sz="1000" b="0">
                <a:solidFill>
                  <a:srgbClr val="767676"/>
                </a:solidFill>
                <a:latin typeface="Pretendard"/>
              </a:rPr>
              <a:t>→ 242 UX컨셉이 사용자 근거 없이 서게 되므로, 컨셉 방향은 사용자 개입으로 확정해야 한다.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50" y="6480810"/>
            <a:ext cx="8534186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현대백화점 자사채널(PC·MWEB) 개선 · 기초분석 시사점 · V1.1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28691" y="6480810"/>
            <a:ext cx="1097252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750" b="0">
                <a:solidFill>
                  <a:srgbClr val="767676"/>
                </a:solidFill>
                <a:latin typeface="Pretendard"/>
              </a:rPr>
              <a:t>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7667" y="137160"/>
            <a:ext cx="8534186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0">
                <a:solidFill>
                  <a:srgbClr val="767676"/>
                </a:solidFill>
                <a:latin typeface="Pretendard"/>
              </a:rPr>
              <a:t>기초분석 시사점 · 미결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7667" y="548640"/>
            <a:ext cx="11216359" cy="54864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Pretendard"/>
              </a:rPr>
              <a:t>봉합하지 않고 넘기는 것 7건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7667" y="1097280"/>
            <a:ext cx="11216359" cy="41148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50" b="0">
                <a:solidFill>
                  <a:srgbClr val="767676"/>
                </a:solidFill>
                <a:latin typeface="Pretendard"/>
              </a:rPr>
              <a:t>확인 주체를 지정했다 — 「누가 답할 수 있는가」가 없으면 미결이 아니라 방치다.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487667" y="1714500"/>
            <a:ext cx="11216359" cy="589788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01" y="1851660"/>
            <a:ext cx="609584" cy="3429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50" b="1">
                <a:solidFill>
                  <a:srgbClr val="767676"/>
                </a:solidFill>
                <a:latin typeface="Pretendard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03" y="1851660"/>
            <a:ext cx="8046518" cy="3429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50" b="0">
                <a:solidFill>
                  <a:srgbClr val="1A1A1A"/>
                </a:solidFill>
                <a:latin typeface="Pretendard"/>
              </a:rPr>
              <a:t>회원 메뉴 제외의 화면 단위 경계 (68화면)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31439" y="1865376"/>
            <a:ext cx="1950671" cy="3429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950" b="1">
                <a:solidFill>
                  <a:srgbClr val="1A5FB4"/>
                </a:solidFill>
                <a:latin typeface="Pretendard"/>
              </a:rPr>
              <a:t>고객사</a:t>
            </a:r>
          </a:p>
        </p:txBody>
      </p:sp>
      <p:sp>
        <p:nvSpPr>
          <p:cNvPr id="9" name="Rectangle 8"/>
          <p:cNvSpPr/>
          <p:nvPr/>
        </p:nvSpPr>
        <p:spPr>
          <a:xfrm>
            <a:off x="487667" y="2359152"/>
            <a:ext cx="11216359" cy="589788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01" y="2496312"/>
            <a:ext cx="609584" cy="3429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50" b="1">
                <a:solidFill>
                  <a:srgbClr val="767676"/>
                </a:solidFill>
                <a:latin typeface="Pretendard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03" y="2496312"/>
            <a:ext cx="8046518" cy="3429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50" b="0">
                <a:solidFill>
                  <a:srgbClr val="1A1A1A"/>
                </a:solidFill>
                <a:latin typeface="Pretendard"/>
              </a:rPr>
              <a:t>층별안내(8화면)·IR예약(1화면) 존치/개선 여부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31439" y="2510028"/>
            <a:ext cx="1950671" cy="3429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950" b="1">
                <a:solidFill>
                  <a:srgbClr val="1A5FB4"/>
                </a:solidFill>
                <a:latin typeface="Pretendard"/>
              </a:rPr>
              <a:t>고객사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7667" y="3003804"/>
            <a:ext cx="11216359" cy="589788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01" y="3140964"/>
            <a:ext cx="609584" cy="3429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50" b="1">
                <a:solidFill>
                  <a:srgbClr val="767676"/>
                </a:solidFill>
                <a:latin typeface="Pretendard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03" y="3140964"/>
            <a:ext cx="8046518" cy="3429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50" b="0">
                <a:solidFill>
                  <a:srgbClr val="1A1A1A"/>
                </a:solidFill>
                <a:latin typeface="Pretendard"/>
              </a:rPr>
              <a:t>더현대 대구 업무 R&amp;R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31439" y="3154680"/>
            <a:ext cx="1950671" cy="3429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950" b="1">
                <a:solidFill>
                  <a:srgbClr val="1A5FB4"/>
                </a:solidFill>
                <a:latin typeface="Pretendard"/>
              </a:rPr>
              <a:t>PM ↔ 고객사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87667" y="3648456"/>
            <a:ext cx="11216359" cy="589788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01" y="3785616"/>
            <a:ext cx="609584" cy="3429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50" b="1">
                <a:solidFill>
                  <a:srgbClr val="767676"/>
                </a:solidFill>
                <a:latin typeface="Pretendard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03" y="3785616"/>
            <a:ext cx="8046518" cy="3429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50" b="0">
                <a:solidFill>
                  <a:srgbClr val="1A1A1A"/>
                </a:solidFill>
                <a:latin typeface="Pretendard"/>
              </a:rPr>
              <a:t>10월 중순 이후 운영 변경분의 반영 방식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31439" y="3799332"/>
            <a:ext cx="1950671" cy="3429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950" b="1">
                <a:solidFill>
                  <a:srgbClr val="1A5FB4"/>
                </a:solidFill>
                <a:latin typeface="Pretendard"/>
              </a:rPr>
              <a:t>PM ↔ 고객사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87667" y="4293107"/>
            <a:ext cx="11216359" cy="589788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01" y="4430267"/>
            <a:ext cx="609584" cy="3429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50" b="1">
                <a:solidFill>
                  <a:srgbClr val="767676"/>
                </a:solidFill>
                <a:latin typeface="Pretendard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03" y="4430267"/>
            <a:ext cx="8046518" cy="3429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50" b="0">
                <a:solidFill>
                  <a:srgbClr val="1A1A1A"/>
                </a:solidFill>
                <a:latin typeface="Pretendard"/>
              </a:rPr>
              <a:t>AS-IS 캡처본·화면ID 고객 최종 검수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31439" y="4443984"/>
            <a:ext cx="1950671" cy="3429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950" b="1">
                <a:solidFill>
                  <a:srgbClr val="1A5FB4"/>
                </a:solidFill>
                <a:latin typeface="Pretendard"/>
              </a:rPr>
              <a:t>고객사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87667" y="4937760"/>
            <a:ext cx="11216359" cy="589788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01" y="5074920"/>
            <a:ext cx="609584" cy="3429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50" b="1">
                <a:solidFill>
                  <a:srgbClr val="767676"/>
                </a:solidFill>
                <a:latin typeface="Pretendard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63003" y="5074920"/>
            <a:ext cx="8046518" cy="3429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50" b="0">
                <a:solidFill>
                  <a:srgbClr val="1A1A1A"/>
                </a:solidFill>
                <a:latin typeface="Pretendard"/>
              </a:rPr>
              <a:t>접근성 「준수 수준」 정의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31439" y="5088636"/>
            <a:ext cx="1950671" cy="3429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950" b="1">
                <a:solidFill>
                  <a:srgbClr val="1A5FB4"/>
                </a:solidFill>
                <a:latin typeface="Pretendard"/>
              </a:rPr>
              <a:t>PM ↔ 고객사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87667" y="5582412"/>
            <a:ext cx="11216359" cy="589788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01" y="5719572"/>
            <a:ext cx="609584" cy="3429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50" b="1">
                <a:solidFill>
                  <a:srgbClr val="767676"/>
                </a:solidFill>
                <a:latin typeface="Pretendard"/>
              </a:rPr>
              <a:t>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63003" y="5719572"/>
            <a:ext cx="8046518" cy="3429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50" b="0">
                <a:solidFill>
                  <a:srgbClr val="1A1A1A"/>
                </a:solidFill>
                <a:latin typeface="Pretendard"/>
              </a:rPr>
              <a:t>`위마켓`/`위마캣` 정식 브랜드명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31439" y="5733288"/>
            <a:ext cx="1950671" cy="3429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950" b="1">
                <a:solidFill>
                  <a:srgbClr val="1A5FB4"/>
                </a:solidFill>
                <a:latin typeface="Pretendard"/>
              </a:rPr>
              <a:t>고객사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50" y="6480810"/>
            <a:ext cx="8534186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현대백화점 자사채널(PC·MWEB) 개선 · 기초분석 시사점 · V1.1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728691" y="6480810"/>
            <a:ext cx="1097252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750" b="0">
                <a:solidFill>
                  <a:srgbClr val="767676"/>
                </a:solidFill>
                <a:latin typeface="Pretendard"/>
              </a:rPr>
              <a:t>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19169" y="1920240"/>
            <a:ext cx="9753356" cy="41148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300" b="0">
                <a:solidFill>
                  <a:srgbClr val="767676"/>
                </a:solidFill>
                <a:latin typeface="Pretendard"/>
              </a:rPr>
              <a:t>다음 단계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3418" y="2468880"/>
            <a:ext cx="10484857" cy="178308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2400" b="1">
                <a:solidFill>
                  <a:srgbClr val="1A1A1A"/>
                </a:solidFill>
                <a:latin typeface="Pretendard"/>
              </a:rPr>
              <a:t>문제 정의는 여기까지다.</a:t>
            </a:r>
          </a:p>
          <a:p>
            <a:pPr algn="ctr"/>
            <a:r>
              <a:rPr sz="2400" b="1">
                <a:solidFill>
                  <a:srgbClr val="1A1A1A"/>
                </a:solidFill>
                <a:latin typeface="Pretendard"/>
              </a:rPr>
              <a:t>방향은 242 UX컨셉이 정한다.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5335" y="4389120"/>
            <a:ext cx="10241023" cy="6858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400" b="1">
                <a:solidFill>
                  <a:srgbClr val="767676"/>
                </a:solidFill>
                <a:latin typeface="Pretendard"/>
              </a:rPr>
              <a:t>이슈 14건 · 미결 7건이 그 입력이다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50" y="6480810"/>
            <a:ext cx="8534186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현대백화점 자사채널(PC·MWEB) 개선 · 기초분석 시사점 · V1.1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91" y="6480810"/>
            <a:ext cx="1097252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750" b="0">
                <a:solidFill>
                  <a:srgbClr val="767676"/>
                </a:solidFill>
                <a:latin typeface="Pretendard"/>
              </a:rPr>
              <a:t>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