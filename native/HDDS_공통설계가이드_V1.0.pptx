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공통 설계가이드 (공통 모듈)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설계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기획PL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본인인증·주소검색·약관 상세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기획PL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1097252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Pretendard"/>
              </a:rPr>
              <a:t>입력 어휘 — 채널별 허용·금지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9154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94640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채널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54" y="891540"/>
            <a:ext cx="536434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754" y="946404"/>
            <a:ext cx="536434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허용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7193100" y="891540"/>
            <a:ext cx="4632844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3100" y="946404"/>
            <a:ext cx="4632844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Pretendard"/>
              </a:rPr>
              <a:t>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1268730"/>
            <a:ext cx="146300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1309878"/>
            <a:ext cx="146300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PC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754" y="1268730"/>
            <a:ext cx="536434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754" y="1309878"/>
            <a:ext cx="536434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선택 · Hover · 입력 · 스크롤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100" y="1268730"/>
            <a:ext cx="46328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100" y="1309878"/>
            <a:ext cx="4632844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우클릭 의존 금지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50" y="1817370"/>
            <a:ext cx="146300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0" y="1858518"/>
            <a:ext cx="146300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MWEB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754" y="1817370"/>
            <a:ext cx="536434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754" y="1858518"/>
            <a:ext cx="536434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Tap · 스와이프(배너·탭) · 스크롤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3100" y="1817370"/>
            <a:ext cx="46328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3100" y="1858518"/>
            <a:ext cx="4632844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Long Tap·Pinch 금지 · 가로 전체 스와이프 금지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50" y="2366010"/>
            <a:ext cx="1463003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0" y="2407158"/>
            <a:ext cx="146300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공통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754" y="2366010"/>
            <a:ext cx="536434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754" y="2407158"/>
            <a:ext cx="5364345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{조건} 충족 시 · {값} 초과 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93100" y="2366010"/>
            <a:ext cx="46328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3100" y="2407158"/>
            <a:ext cx="4632844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50" y="3120390"/>
            <a:ext cx="10972525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0">
                <a:solidFill>
                  <a:srgbClr val="767676"/>
                </a:solidFill>
                <a:latin typeface="Pretendard"/>
              </a:rPr>
              <a:t>※ 증류 원천 3개 프로젝트는 네이티브 앱이라 제스처 8종을 쓴다. 이 프로젝트는 PC·모바일 웹이므로 채널별 어휘로 대체했다 — 342 §1-2 · 352 §1.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공통 설계가이드 (공통 모듈) ·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137160"/>
            <a:ext cx="4876678" cy="3086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767676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03" y="3154680"/>
            <a:ext cx="9265688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Pretendard"/>
              </a:rPr>
              <a:t>4. 공통 모듈 3종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8179" y="4114800"/>
            <a:ext cx="975335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HDP-COM0130L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본인인증 공통 모듈(L)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MWEB 공통 · 프로세스형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카드신청 · 마이페이지 · 문화센터 접수에서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프로세스형 수직 구조 · 오버레이 헤더 → 인증 수단 선택 → 인증 진행 → 결과 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수단 선택]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본인인증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6172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920240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인증 수단 카드 N개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40715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47230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안내 문구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32486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[인증 실패 CASE]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실패 안내 · 재시도</a:t>
            </a:r>
          </a:p>
        </p:txBody>
      </p:sp>
      <p:sp>
        <p:nvSpPr>
          <p:cNvPr id="26" name="Oval 25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본인 확인이 필요한 단계 진입 시 &gt; 레이어로 호출. 완료 시 호출 화면에 인증값 반환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[오버레이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「본인인증」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중단 경고 노출 — 호출 화면의 입력값은 보존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T-07 오버레이 · FN-E03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1854" y="227685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227685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230428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[인증 수단 선택]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미선택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제공 항목 : 인증 수단 — 종류·우선순위는 213(시스템요건분석) 미결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해당 수단 인증 화면으로 전환 — 모듈 내부 전환, 화면 이동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FN-E03 · 212 정책요건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1854" y="33535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1854" y="34084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522" y="33535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522" y="33809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[인증 실패]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 예외 골격 — 무엇 · 왜 · 다음 행동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「다시 시도」 버튼 제공 — 선택 시 &gt; 수단 선택으로 원복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 · 331(와이어프레임설계) 「막다른 화면 0」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1854" y="4258818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1854" y="43136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522" y="4258818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522" y="4286250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[안내 문구]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인증 목적·수집 항목 고지 노출 — 212 정책요건 문구 사용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212 정책요건 · 354 접근성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1854" y="49926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1854" y="50612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522" y="49926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522" y="50269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호출처: HDP-CRD0149(본인회원인증 S1) · HDP-MYP0133(개인정보 관리) · 문화센터 접수. 정의는 1곳, 호출은 N곳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1854" y="5335524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1854" y="54041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522" y="5335524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522" y="53698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인증 수단 종류·PG 계약 — 213(시스템요건분석) 미결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HDP-COM0131L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주소검색 공통 모듈(L)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MWEB 공통 · 조회·결과형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배송지 입력에서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조회·결과형 수직 구조 · 오버레이 헤더 → 검색 입력 → 결과 목록 → 선택 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 — 검색 전]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주소 검색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80022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도로명·지번 입력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167128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232279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영역 미노출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8483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092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092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[결과 없음 CASE]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0927" y="1371600"/>
            <a:ext cx="3657508" cy="75438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0927" y="1625346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결과 없음 안내</a:t>
            </a:r>
          </a:p>
        </p:txBody>
      </p:sp>
      <p:sp>
        <p:nvSpPr>
          <p:cNvPr id="26" name="Oval 25"/>
          <p:cNvSpPr/>
          <p:nvPr/>
        </p:nvSpPr>
        <p:spPr>
          <a:xfrm>
            <a:off x="7973368" y="1289304"/>
            <a:ext cx="243833" cy="2441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</a:rPr>
              <a:t>3a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우편번호 찾기 선택 시 &gt; 레이어로 호출. 선택 시 호출 화면 주소 필드에 값 반환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[오버레이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타이틀 「주소 검색」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값 반환 없이 닫힘 — 호출 화면 기존 값 유지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T-07 오버레이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21854" y="2276856"/>
            <a:ext cx="487667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522" y="2276856"/>
            <a:ext cx="2438339" cy="107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522" y="2304288"/>
            <a:ext cx="2438339" cy="10218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[검색 입력] (필수)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플레이스 홀더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입력 시 &gt; 2자 이상부터 검색 실행 가능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최대 50자 입력 가능, 50자 초과 시 &gt; 입력 차단 처리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C-03 검색 입력(지역)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1854" y="335356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1854" y="340842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522" y="335356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522" y="338099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[결과 목록]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검색 전 미노출 — 빈 상태와 구분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결과 건수 상단 표기 · 선택 시 &gt; 호출 화면에 우편번호·기본주소 반환 후 닫힘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342(UI상세설계) HDP-CRD0150 desc 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21854" y="4258818"/>
            <a:ext cx="487667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1854" y="4313682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522" y="4258818"/>
            <a:ext cx="2438339" cy="73380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522" y="4286250"/>
            <a:ext cx="2438339" cy="67894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[결과 없음]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332(컨텐츠가이드설계) §6-2 빈 상태 1행 골격 문구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332(컨텐츠가이드설계) §6-2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21854" y="4992624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1854" y="50612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522" y="4992624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522" y="50269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호출처: HDP-CRD0150(배송지) · 상품권 배송 · 마이페이지 주소 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1854" y="5335524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1854" y="540410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522" y="5335524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522" y="5369814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주소 API 제공자 — 213(시스템요건분석) 미결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8066"/>
            <a:ext cx="12191695" cy="2057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" y="109728"/>
            <a:ext cx="1402044" cy="3017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792" y="157733"/>
            <a:ext cx="1402044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"/>
              </a:rPr>
              <a:t>HDP-COM0132L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130302"/>
            <a:ext cx="5486262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Pretendard"/>
              </a:rPr>
              <a:t>약관 상세 공통 모듈(L)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6933" y="164592"/>
            <a:ext cx="438901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850" b="0">
                <a:solidFill>
                  <a:srgbClr val="767676"/>
                </a:solidFill>
                <a:latin typeface="Pretendard"/>
              </a:rPr>
              <a:t>PC · MWEB 공통 · 콘텐츠 상세형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70332"/>
            <a:ext cx="5486262" cy="17830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전역 — 약관 동의 블록에서 호출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" y="651510"/>
            <a:ext cx="8168435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" y="692658"/>
            <a:ext cx="8168435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Pretendard"/>
              </a:rPr>
              <a:t>콘텐츠 상세형 수직 구조 · 오버레이 헤더 → 약관 전문 → 닫기·동의 반환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1028700"/>
            <a:ext cx="3657508" cy="274320"/>
          </a:xfrm>
          <a:prstGeom prst="rect">
            <a:avLst/>
          </a:prstGeom>
          <a:solidFill>
            <a:srgbClr val="E6E6E6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67" y="1069848"/>
            <a:ext cx="3657508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1">
                <a:solidFill>
                  <a:srgbClr val="1A1A1A"/>
                </a:solidFill>
                <a:latin typeface="Pretendard"/>
              </a:rPr>
              <a:t>[Default]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1371600"/>
            <a:ext cx="3657508" cy="30861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67" y="1402461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%약관명% · 닫기</a:t>
            </a:r>
          </a:p>
        </p:txBody>
      </p:sp>
      <p:sp>
        <p:nvSpPr>
          <p:cNvPr id="15" name="Oval 14"/>
          <p:cNvSpPr/>
          <p:nvPr/>
        </p:nvSpPr>
        <p:spPr>
          <a:xfrm>
            <a:off x="3950109" y="1289304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1735074"/>
            <a:ext cx="3657508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667" y="1800225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767676"/>
                </a:solidFill>
                <a:latin typeface="Pretendard"/>
              </a:rPr>
              <a:t>약관 전문 — Admin 등록</a:t>
            </a:r>
          </a:p>
        </p:txBody>
      </p:sp>
      <p:sp>
        <p:nvSpPr>
          <p:cNvPr id="18" name="Oval 17"/>
          <p:cNvSpPr/>
          <p:nvPr/>
        </p:nvSpPr>
        <p:spPr>
          <a:xfrm>
            <a:off x="3950109" y="1652778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2167128"/>
            <a:ext cx="3657508" cy="3429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667" y="2215134"/>
            <a:ext cx="3169840" cy="246888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Pretendard"/>
              </a:rPr>
              <a:t>동의하고 닫기</a:t>
            </a:r>
          </a:p>
        </p:txBody>
      </p:sp>
      <p:sp>
        <p:nvSpPr>
          <p:cNvPr id="21" name="Oval 20"/>
          <p:cNvSpPr/>
          <p:nvPr/>
        </p:nvSpPr>
        <p:spPr>
          <a:xfrm>
            <a:off x="3950109" y="2084832"/>
            <a:ext cx="292600" cy="292973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1854" y="651510"/>
            <a:ext cx="487667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1854" y="692658"/>
            <a:ext cx="487667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번호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522" y="651510"/>
            <a:ext cx="2438339" cy="27432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522" y="692658"/>
            <a:ext cx="2438339" cy="219456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Pretendard"/>
              </a:rPr>
              <a:t>설명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1854" y="925830"/>
            <a:ext cx="487667" cy="44577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1854" y="102870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Pretendard"/>
              </a:rPr>
              <a:t>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522" y="925830"/>
            <a:ext cx="2438339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522" y="966978"/>
            <a:ext cx="2438339" cy="363474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Pretendard"/>
              </a:rPr>
              <a:t>약관명 선택 시 &gt; 레이어로 호출. 전문은 Admin 등록값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1854" y="1371600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1854" y="1426464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522" y="1371600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522" y="1399032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[오버레이 헤더]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%약관명%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닫기 선택 시 &gt; 동의 상태 변경 없이 닫힘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333(UI가이드정의) T-07 오버레이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21854" y="2276856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1854" y="2331720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522" y="2276856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522" y="2304288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[약관 전문]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Admin에서 등록한 전문 노출 — 개정 시 Admin에서 버전 관리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스크롤 제공 · 본문 내 링크 없음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212 정책요건 · FN-E07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21854" y="3182112"/>
            <a:ext cx="487667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21854" y="3236976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Pretendard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522" y="3182112"/>
            <a:ext cx="2438339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522" y="3209544"/>
            <a:ext cx="2438339" cy="850391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[동의하고 닫기]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Default : 활성 노출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· 선택 시 &gt; 호출 화면의 해당 약관 동의 체크 반영 후 닫힘</a:t>
            </a:r>
          </a:p>
          <a:p>
            <a:pPr algn="l"/>
            <a:r>
              <a:rPr sz="630" b="0">
                <a:solidFill>
                  <a:srgbClr val="1A1A1A"/>
                </a:solidFill>
                <a:latin typeface="Pretendard"/>
              </a:rPr>
              <a:t>※ 342(UI상세설계) HDP-CRD0150 desc 6 · 354 접근성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1854" y="4087368"/>
            <a:ext cx="48766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1854" y="4155948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Pretendard"/>
              </a:rPr>
              <a:t>비고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522" y="4087368"/>
            <a:ext cx="2438339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522" y="4121658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767676"/>
                </a:solidFill>
                <a:latin typeface="Pretendard"/>
              </a:rPr>
              <a:t>호출처: HDP-CRD0150(약관 동의) · 회원 · 문화센터 접수. MWEB 짝 HDM-COM0123L~0125L 동일 정의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1854" y="4430268"/>
            <a:ext cx="487667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21854" y="4498848"/>
            <a:ext cx="487667" cy="23317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700" b="0">
                <a:solidFill>
                  <a:srgbClr val="B3261E"/>
                </a:solidFill>
                <a:latin typeface="Pretendard"/>
              </a:rPr>
              <a:t>확인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522" y="4430268"/>
            <a:ext cx="2438339" cy="342900"/>
          </a:xfrm>
          <a:prstGeom prst="rect">
            <a:avLst/>
          </a:prstGeom>
          <a:solidFill>
            <a:srgbClr val="FFF6F5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522" y="4464558"/>
            <a:ext cx="2438339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630" b="0">
                <a:solidFill>
                  <a:srgbClr val="B3261E"/>
                </a:solidFill>
                <a:latin typeface="Pretendard"/>
              </a:rPr>
              <a:t>약관 개정 고지 방식(재동의 요구 조건) — 212 정책요건 미결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UI상세설계서 · 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