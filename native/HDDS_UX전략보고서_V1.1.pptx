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75335" y="2194560"/>
            <a:ext cx="10241023" cy="8229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Pretendard"/>
              </a:rPr>
              <a:t>UX전략보고서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5335" y="3086100"/>
            <a:ext cx="10241023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500" b="0">
                <a:solidFill>
                  <a:srgbClr val="C8C8C8"/>
                </a:solidFill>
                <a:latin typeface="Pretendard"/>
              </a:rPr>
              <a:t>현대백화점 자사채널(PC·MWEB) 개선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5335" y="4251960"/>
            <a:ext cx="10241023" cy="13716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100" b="0">
                <a:solidFill>
                  <a:srgbClr val="A8A8A8"/>
                </a:solidFill>
                <a:latin typeface="Pretendard"/>
              </a:rPr>
              <a:t>구분   보고 — 컨셉 승인 게이트</a:t>
            </a:r>
          </a:p>
          <a:p>
            <a:pPr algn="l"/>
            <a:r>
              <a:rPr sz="1100" b="0">
                <a:solidFill>
                  <a:srgbClr val="A8A8A8"/>
                </a:solidFill>
                <a:latin typeface="Pretendard"/>
              </a:rPr>
              <a:t>버전   V1.1</a:t>
            </a:r>
          </a:p>
          <a:p>
            <a:pPr algn="l"/>
            <a:r>
              <a:rPr sz="1100" b="0">
                <a:solidFill>
                  <a:srgbClr val="A8A8A8"/>
                </a:solidFill>
                <a:latin typeface="Pretendard"/>
              </a:rPr>
              <a:t>작성일   2026-08-10</a:t>
            </a:r>
          </a:p>
          <a:p>
            <a:pPr algn="l"/>
            <a:r>
              <a:rPr sz="1100" b="0">
                <a:solidFill>
                  <a:srgbClr val="A8A8A8"/>
                </a:solidFill>
                <a:latin typeface="Pretendard"/>
              </a:rPr>
              <a:t>작성자   UX디렉터</a:t>
            </a:r>
          </a:p>
          <a:p>
            <a:pPr algn="l"/>
            <a:r>
              <a:rPr sz="1100" b="0">
                <a:solidFill>
                  <a:srgbClr val="A8A8A8"/>
                </a:solidFill>
                <a:latin typeface="Pretendard"/>
              </a:rPr>
              <a:t>프로젝트   C2202500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5335" y="6172200"/>
            <a:ext cx="10241023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00" b="0">
                <a:solidFill>
                  <a:srgbClr val="888888"/>
                </a:solidFill>
                <a:latin typeface="Pretendard"/>
              </a:rPr>
              <a:t>VinylC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50" y="274320"/>
            <a:ext cx="7315017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800" b="1">
                <a:solidFill>
                  <a:srgbClr val="1A1A1A"/>
                </a:solidFill>
                <a:latin typeface="Pretendard"/>
              </a:rPr>
              <a:t>개정이력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50" y="822960"/>
            <a:ext cx="975335" cy="34290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50" y="864108"/>
            <a:ext cx="975335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1">
                <a:solidFill>
                  <a:srgbClr val="1A1A1A"/>
                </a:solidFill>
                <a:latin typeface="Pretendard"/>
              </a:rPr>
              <a:t>버전</a:t>
            </a:r>
          </a:p>
        </p:txBody>
      </p:sp>
      <p:sp>
        <p:nvSpPr>
          <p:cNvPr id="5" name="Rectangle 4"/>
          <p:cNvSpPr/>
          <p:nvPr/>
        </p:nvSpPr>
        <p:spPr>
          <a:xfrm>
            <a:off x="1341086" y="822960"/>
            <a:ext cx="1463003" cy="34290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41086" y="864108"/>
            <a:ext cx="1463003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1">
                <a:solidFill>
                  <a:srgbClr val="1A1A1A"/>
                </a:solidFill>
                <a:latin typeface="Pretendard"/>
              </a:rPr>
              <a:t>일자</a:t>
            </a:r>
          </a:p>
        </p:txBody>
      </p:sp>
      <p:sp>
        <p:nvSpPr>
          <p:cNvPr id="7" name="Rectangle 6"/>
          <p:cNvSpPr/>
          <p:nvPr/>
        </p:nvSpPr>
        <p:spPr>
          <a:xfrm>
            <a:off x="2804089" y="822960"/>
            <a:ext cx="7315017" cy="34290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04089" y="864108"/>
            <a:ext cx="7315017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1">
                <a:solidFill>
                  <a:srgbClr val="1A1A1A"/>
                </a:solidFill>
                <a:latin typeface="Pretendard"/>
              </a:rPr>
              <a:t>변경 내역</a:t>
            </a:r>
          </a:p>
        </p:txBody>
      </p:sp>
      <p:sp>
        <p:nvSpPr>
          <p:cNvPr id="9" name="Rectangle 8"/>
          <p:cNvSpPr/>
          <p:nvPr/>
        </p:nvSpPr>
        <p:spPr>
          <a:xfrm>
            <a:off x="10119106" y="822960"/>
            <a:ext cx="1706837" cy="34290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19106" y="864108"/>
            <a:ext cx="1706837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1">
                <a:solidFill>
                  <a:srgbClr val="1A1A1A"/>
                </a:solidFill>
                <a:latin typeface="Pretendard"/>
              </a:rPr>
              <a:t>작성자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50" y="1165860"/>
            <a:ext cx="975335" cy="411480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50" y="1200150"/>
            <a:ext cx="975335" cy="37033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v0.1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41086" y="1165860"/>
            <a:ext cx="1463003" cy="411480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41086" y="1200150"/>
            <a:ext cx="1463003" cy="37033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2026-08-06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804089" y="1165860"/>
            <a:ext cx="7315017" cy="411480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804089" y="1200150"/>
            <a:ext cx="7315017" cy="37033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초안작성 — 컨셉 방향 4(A 지점축 주 + B 계정축 부) 확정 반영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119106" y="1165860"/>
            <a:ext cx="1706837" cy="411480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119106" y="1200150"/>
            <a:ext cx="1706837" cy="37033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UX디렉터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50" y="1577340"/>
            <a:ext cx="975335" cy="411480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50" y="1611630"/>
            <a:ext cx="975335" cy="37033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v1.1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341086" y="1577340"/>
            <a:ext cx="1463003" cy="411480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41086" y="1611630"/>
            <a:ext cx="1463003" cy="37033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2026-08-10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804089" y="1577340"/>
            <a:ext cx="7315017" cy="411480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804089" y="1611630"/>
            <a:ext cx="7315017" cy="37033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보고 덱 재구성 — 판단 단위 슬라이드 · 스탯 타일 · 전략 구조도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119106" y="1577340"/>
            <a:ext cx="1706837" cy="411480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119106" y="1611630"/>
            <a:ext cx="1706837" cy="37033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UX디렉터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19169" y="2057400"/>
            <a:ext cx="9753356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1300" b="0">
                <a:solidFill>
                  <a:srgbClr val="767676"/>
                </a:solidFill>
                <a:latin typeface="Pretendard"/>
              </a:rPr>
              <a:t>이 프로젝트의 UX 전략을 한 문장으로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5335" y="2606040"/>
            <a:ext cx="10241023" cy="17830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2500" b="1">
                <a:solidFill>
                  <a:srgbClr val="1A1A1A"/>
                </a:solidFill>
                <a:latin typeface="Pretendard"/>
              </a:rPr>
              <a:t>“어느 점포인가”에서 시작해,</a:t>
            </a:r>
          </a:p>
          <a:p>
            <a:pPr algn="ctr"/>
            <a:r>
              <a:rPr sz="2500" b="1">
                <a:solidFill>
                  <a:srgbClr val="1A1A1A"/>
                </a:solidFill>
                <a:latin typeface="Pretendard"/>
              </a:rPr>
              <a:t>한 번 만든 것을 지점마다 붙이고,</a:t>
            </a:r>
          </a:p>
          <a:p>
            <a:pPr algn="ctr"/>
            <a:r>
              <a:rPr sz="2500" b="1">
                <a:solidFill>
                  <a:srgbClr val="1A1A1A"/>
                </a:solidFill>
                <a:latin typeface="Pretendard"/>
              </a:rPr>
              <a:t>어느 채널에서든 같은 일을 할 수 있게 한다.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5335" y="4526280"/>
            <a:ext cx="10241023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1600" b="1">
                <a:solidFill>
                  <a:srgbClr val="B3261E"/>
                </a:solidFill>
                <a:latin typeface="Pretendard"/>
              </a:rPr>
              <a:t>그리고 — 막혔을 때 갈 곳을 먼저 만든다.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UX전략보고서 · V1.1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67" y="13716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0">
                <a:solidFill>
                  <a:srgbClr val="767676"/>
                </a:solidFill>
                <a:latin typeface="Pretendard"/>
              </a:rPr>
              <a:t>UX전략보고서 · 문제 정의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7667" y="548640"/>
            <a:ext cx="11216359" cy="54864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Pretendard"/>
              </a:rPr>
              <a:t>현행 채널의 문제는 “디자인이 낡았다”가 아니다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7667" y="1097280"/>
            <a:ext cx="11216359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250" b="0">
                <a:solidFill>
                  <a:srgbClr val="767676"/>
                </a:solidFill>
                <a:latin typeface="Pretendard"/>
              </a:rPr>
              <a:t>구조가 두 갈래로 갈라져 있고, 반복으로 부풀어 있으며, 실패를 처리하지 않는다.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487667" y="1645920"/>
            <a:ext cx="5486262" cy="21259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87667" y="1645920"/>
            <a:ext cx="73150" cy="212598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51" y="1728216"/>
            <a:ext cx="5169278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Pretendard"/>
              </a:rPr>
              <a:t>P1  두 채널이 하나의 서비스가 아니다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51" y="2160270"/>
            <a:ext cx="5169278" cy="154305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0">
                <a:solidFill>
                  <a:srgbClr val="767676"/>
                </a:solidFill>
                <a:latin typeface="Pretendard"/>
              </a:rPr>
              <a:t>진입 구조 PC 32 vs MWEB 6</a:t>
            </a:r>
          </a:p>
          <a:p>
            <a:pPr algn="l"/>
            <a:r>
              <a:rPr sz="950" b="0">
                <a:solidFill>
                  <a:srgbClr val="767676"/>
                </a:solidFill>
                <a:latin typeface="Pretendard"/>
              </a:rPr>
              <a:t>계정 기능 결손 9건 — 모바일에서</a:t>
            </a:r>
          </a:p>
          <a:p>
            <a:pPr algn="l"/>
            <a:r>
              <a:rPr sz="950" b="0">
                <a:solidFill>
                  <a:srgbClr val="767676"/>
                </a:solidFill>
                <a:latin typeface="Pretendard"/>
              </a:rPr>
              <a:t>비밀번호를 바꿀 수 없다</a:t>
            </a:r>
          </a:p>
          <a:p>
            <a:pPr algn="l"/>
            <a:r>
              <a:rPr sz="950" b="0">
                <a:solidFill>
                  <a:srgbClr val="767676"/>
                </a:solidFill>
                <a:latin typeface="Pretendard"/>
              </a:rPr>
              <a:t>같은 브랜드가 채널마다 다른 이름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764" y="1645920"/>
            <a:ext cx="5486262" cy="21259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764" y="1645920"/>
            <a:ext cx="73150" cy="212598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88448" y="1728216"/>
            <a:ext cx="5169278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Pretendard"/>
              </a:rPr>
              <a:t>P2  화면이 많은 게 아니라 반복된다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88448" y="2160270"/>
            <a:ext cx="5169278" cy="154305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0">
                <a:solidFill>
                  <a:srgbClr val="767676"/>
                </a:solidFill>
                <a:latin typeface="Pretendard"/>
              </a:rPr>
              <a:t>고유 1,003 · 본화면 574</a:t>
            </a:r>
          </a:p>
          <a:p>
            <a:pPr algn="l"/>
            <a:r>
              <a:rPr sz="950" b="0">
                <a:solidFill>
                  <a:srgbClr val="767676"/>
                </a:solidFill>
                <a:latin typeface="Pretendard"/>
              </a:rPr>
              <a:t>지점 23.0% + 카드 29.8% = 52.8%</a:t>
            </a:r>
          </a:p>
          <a:p>
            <a:pPr algn="l"/>
            <a:r>
              <a:rPr sz="950" b="0">
                <a:solidFill>
                  <a:srgbClr val="767676"/>
                </a:solidFill>
                <a:latin typeface="Pretendard"/>
              </a:rPr>
              <a:t>카드 본화면 171인데 요건은 14건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667" y="3909060"/>
            <a:ext cx="5486262" cy="21259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7667" y="3909060"/>
            <a:ext cx="73150" cy="2125980"/>
          </a:xfrm>
          <a:prstGeom prst="rect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51" y="3991356"/>
            <a:ext cx="5169278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Pretendard"/>
              </a:rPr>
              <a:t>P3  막혔을 때 갈 곳이 없다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51" y="4423410"/>
            <a:ext cx="5169278" cy="154305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0">
                <a:solidFill>
                  <a:srgbClr val="767676"/>
                </a:solidFill>
                <a:latin typeface="Pretendard"/>
              </a:rPr>
              <a:t>오류·404 화면 명세에 0건</a:t>
            </a:r>
          </a:p>
          <a:p>
            <a:pPr algn="l"/>
            <a:r>
              <a:rPr sz="950" b="0">
                <a:solidFill>
                  <a:srgbClr val="767676"/>
                </a:solidFill>
                <a:latin typeface="Pretendard"/>
              </a:rPr>
              <a:t>카드신청 64화면 중 취소 경로 0건</a:t>
            </a:r>
          </a:p>
          <a:p>
            <a:pPr algn="l"/>
            <a:r>
              <a:rPr sz="950" b="0">
                <a:solidFill>
                  <a:srgbClr val="767676"/>
                </a:solidFill>
                <a:latin typeface="Pretendard"/>
              </a:rPr>
              <a:t>정원 초과가 사후 처리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764" y="3909060"/>
            <a:ext cx="5486262" cy="21259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17764" y="3909060"/>
            <a:ext cx="73150" cy="212598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88448" y="3991356"/>
            <a:ext cx="5169278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Pretendard"/>
              </a:rPr>
              <a:t>P4  회원 전환이 설계 위에 걸쳐 있다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88448" y="4423410"/>
            <a:ext cx="5169278" cy="154305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0">
                <a:solidFill>
                  <a:srgbClr val="767676"/>
                </a:solidFill>
                <a:latin typeface="Pretendard"/>
              </a:rPr>
              <a:t>H.Point 통합 23.1.1 — 오픈 근접</a:t>
            </a:r>
          </a:p>
          <a:p>
            <a:pPr algn="l"/>
            <a:r>
              <a:rPr sz="950" b="0">
                <a:solidFill>
                  <a:srgbClr val="767676"/>
                </a:solidFill>
                <a:latin typeface="Pretendard"/>
              </a:rPr>
              <a:t>전환 화면이 PC에만 존재</a:t>
            </a:r>
          </a:p>
          <a:p>
            <a:pPr algn="l"/>
            <a:r>
              <a:rPr sz="950" b="0">
                <a:solidFill>
                  <a:srgbClr val="767676"/>
                </a:solidFill>
                <a:latin typeface="Pretendard"/>
              </a:rPr>
              <a:t>제외 경계 68화면 미정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7667" y="6240780"/>
            <a:ext cx="11216359" cy="30861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1">
                <a:solidFill>
                  <a:srgbClr val="1A1A1A"/>
                </a:solidFill>
                <a:latin typeface="Pretendard"/>
              </a:rPr>
              <a:t>그리고 증설이 예정돼 있다 — 더현대 대구 · 브랜드 입점 · ESG · 전시/공연. 지금 구조로는 증설할 때마다 화면이 곱해진다.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UX전략보고서 · V1.1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67" y="13716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0">
                <a:solidFill>
                  <a:srgbClr val="767676"/>
                </a:solidFill>
                <a:latin typeface="Pretendard"/>
              </a:rPr>
              <a:t>UX전략보고서 · 정량 근거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7667" y="548640"/>
            <a:ext cx="11216359" cy="54864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Pretendard"/>
              </a:rPr>
              <a:t>숫자 여섯 개가 문제를 요약한다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7667" y="1097280"/>
            <a:ext cx="11216359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250" b="0">
                <a:solidFill>
                  <a:srgbClr val="767676"/>
                </a:solidFill>
                <a:latin typeface="Pretendard"/>
              </a:rPr>
              <a:t>전 수치는 AS-IS 명세 실측(122 현시스템기초분석 · 1,003화면 전수) — 인상 평가가 아니다.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487667" y="1783080"/>
            <a:ext cx="3596550" cy="130302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87667" y="1783080"/>
            <a:ext cx="3596550" cy="75438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584" y="1954530"/>
            <a:ext cx="3352716" cy="54864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Pretendard"/>
              </a:rPr>
              <a:t>32 :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584" y="2503170"/>
            <a:ext cx="3352716" cy="54864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0">
                <a:solidFill>
                  <a:srgbClr val="767676"/>
                </a:solidFill>
                <a:latin typeface="Pretendard"/>
              </a:rPr>
              <a:t>PC vs MWEB 1st depth — 진입 모델이 다르다</a:t>
            </a:r>
          </a:p>
        </p:txBody>
      </p:sp>
      <p:sp>
        <p:nvSpPr>
          <p:cNvPr id="9" name="Rectangle 8"/>
          <p:cNvSpPr/>
          <p:nvPr/>
        </p:nvSpPr>
        <p:spPr>
          <a:xfrm>
            <a:off x="4328051" y="1783080"/>
            <a:ext cx="3596550" cy="130302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28051" y="1783080"/>
            <a:ext cx="3596550" cy="75438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49968" y="1954530"/>
            <a:ext cx="3352716" cy="54864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Pretendard"/>
              </a:rPr>
              <a:t>52.8%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49968" y="2503170"/>
            <a:ext cx="3352716" cy="54864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0">
                <a:solidFill>
                  <a:srgbClr val="767676"/>
                </a:solidFill>
                <a:latin typeface="Pretendard"/>
              </a:rPr>
              <a:t>지점(23.0)+카드(29.8) — 절반이 반복 구조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68435" y="1783080"/>
            <a:ext cx="3596550" cy="130302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68435" y="1783080"/>
            <a:ext cx="3596550" cy="75438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0352" y="1954530"/>
            <a:ext cx="3352716" cy="54864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Pretendard"/>
              </a:rPr>
              <a:t>9건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0352" y="2503170"/>
            <a:ext cx="3352716" cy="54864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0">
                <a:solidFill>
                  <a:srgbClr val="767676"/>
                </a:solidFill>
                <a:latin typeface="Pretendard"/>
              </a:rPr>
              <a:t>계정 기능 채널 결손 — 전부 계정 영역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7667" y="3223260"/>
            <a:ext cx="3596550" cy="130302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87667" y="3223260"/>
            <a:ext cx="3596550" cy="75438"/>
          </a:xfrm>
          <a:prstGeom prst="rect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9584" y="3394710"/>
            <a:ext cx="3352716" cy="54864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2600" b="1">
                <a:solidFill>
                  <a:srgbClr val="B3261E"/>
                </a:solidFill>
                <a:latin typeface="Pretendard"/>
              </a:rPr>
              <a:t>0건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584" y="3943350"/>
            <a:ext cx="3352716" cy="54864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0">
                <a:solidFill>
                  <a:srgbClr val="767676"/>
                </a:solidFill>
                <a:latin typeface="Pretendard"/>
              </a:rPr>
              <a:t>오류·404 화면 — 1,003화면 규모에서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28051" y="3223260"/>
            <a:ext cx="3596550" cy="130302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28051" y="3223260"/>
            <a:ext cx="3596550" cy="75438"/>
          </a:xfrm>
          <a:prstGeom prst="rect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49968" y="3394710"/>
            <a:ext cx="3352716" cy="54864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2600" b="1">
                <a:solidFill>
                  <a:srgbClr val="B3261E"/>
                </a:solidFill>
                <a:latin typeface="Pretendard"/>
              </a:rPr>
              <a:t>0건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49968" y="3943350"/>
            <a:ext cx="3352716" cy="54864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0">
                <a:solidFill>
                  <a:srgbClr val="767676"/>
                </a:solidFill>
                <a:latin typeface="Pretendard"/>
              </a:rPr>
              <a:t>카드신청 64화면 중 취소 경로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68435" y="3223260"/>
            <a:ext cx="3596550" cy="130302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168435" y="3223260"/>
            <a:ext cx="3596550" cy="75438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90352" y="3394710"/>
            <a:ext cx="3352716" cy="54864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Pretendard"/>
              </a:rPr>
              <a:t>68화면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90352" y="3943350"/>
            <a:ext cx="3352716" cy="54864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0">
                <a:solidFill>
                  <a:srgbClr val="767676"/>
                </a:solidFill>
                <a:latin typeface="Pretendard"/>
              </a:rPr>
              <a:t>회원 제외 경계 미정 — 전환기 리스크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7667" y="4800600"/>
            <a:ext cx="11216359" cy="13716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50" b="0">
                <a:solidFill>
                  <a:srgbClr val="767676"/>
                </a:solidFill>
                <a:latin typeface="Pretendard"/>
              </a:rPr>
              <a:t>읽는 법 — 왼쪽 위에서 순서대로: 갈라져 있고(32:6) · 부풀어 있고(52.8%) · 계정이 새고(9건) ·</a:t>
            </a:r>
          </a:p>
          <a:p>
            <a:pPr algn="l"/>
            <a:r>
              <a:rPr sz="1050" b="0">
                <a:solidFill>
                  <a:srgbClr val="767676"/>
                </a:solidFill>
                <a:latin typeface="Pretendard"/>
              </a:rPr>
              <a:t>실패를 안 다루고(0·0) · 전환기가 걸쳐 있다(68). 네 문제(P1~P4)가 이 여섯 숫자로 환원된다.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UX전략보고서 · V1.1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87667" y="137160"/>
            <a:ext cx="4876678" cy="30861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00" b="1">
                <a:solidFill>
                  <a:srgbClr val="767676"/>
                </a:solidFill>
                <a:latin typeface="Pretendard"/>
              </a:rPr>
              <a:t>UX전략보고서 · 전략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3003" y="2811780"/>
            <a:ext cx="9265688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1500" b="0">
                <a:solidFill>
                  <a:srgbClr val="767676"/>
                </a:solidFill>
                <a:latin typeface="Pretendard"/>
              </a:rPr>
              <a:t>네 문제를 하나의 축으로는 못 덮는다 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03" y="3154680"/>
            <a:ext cx="9265688" cy="8229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2800" b="1">
                <a:solidFill>
                  <a:srgbClr val="1A1A1A"/>
                </a:solidFill>
                <a:latin typeface="Pretendard"/>
              </a:rPr>
              <a:t>두 개의 축으로 선다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5608179" y="4114800"/>
            <a:ext cx="975335" cy="27432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UX전략보고서 · V1.1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67" y="13716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0">
                <a:solidFill>
                  <a:srgbClr val="767676"/>
                </a:solidFill>
                <a:latin typeface="Pretendard"/>
              </a:rPr>
              <a:t>UX전략보고서 · 전략 구조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7667" y="548640"/>
            <a:ext cx="11216359" cy="54864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Pretendard"/>
              </a:rPr>
              <a:t>주축은 지점, 부축은 계정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7667" y="1097280"/>
            <a:ext cx="11216359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250" b="0">
                <a:solidFill>
                  <a:srgbClr val="767676"/>
                </a:solidFill>
                <a:latin typeface="Pretendard"/>
              </a:rPr>
              <a:t>지점(23.0%)과 카드·멤버십(29.8%)이 비등하다 — 하나만 축으로 삼으면 나머지 절반이 방치된다.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487667" y="1783080"/>
            <a:ext cx="5364345" cy="82296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70543" y="1933956"/>
            <a:ext cx="4998594" cy="54864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Pretendard"/>
              </a:rPr>
              <a:t>주축 — 지점</a:t>
            </a:r>
          </a:p>
          <a:p>
            <a:pPr algn="l"/>
            <a:r>
              <a:rPr sz="1300" b="1">
                <a:solidFill>
                  <a:srgbClr val="FFFFFF"/>
                </a:solidFill>
                <a:latin typeface="Pretendard"/>
              </a:rPr>
              <a:t>「어느 점포인가」로 시작한다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487667" y="2743200"/>
            <a:ext cx="5364345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87667" y="2743200"/>
            <a:ext cx="73150" cy="150876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51" y="2825496"/>
            <a:ext cx="5047361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Pretendard"/>
              </a:rPr>
              <a:t>왜 지점이 주축인가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51" y="3257550"/>
            <a:ext cx="5047361" cy="92583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0">
                <a:solidFill>
                  <a:srgbClr val="767676"/>
                </a:solidFill>
                <a:latin typeface="Pretendard"/>
              </a:rPr>
              <a:t>채널 성격이 오프라인 방문 유도다</a:t>
            </a:r>
          </a:p>
          <a:p>
            <a:pPr algn="l"/>
            <a:r>
              <a:rPr sz="950" b="0">
                <a:solidFill>
                  <a:srgbClr val="767676"/>
                </a:solidFill>
                <a:latin typeface="Pretendard"/>
              </a:rPr>
              <a:t>MWEB은 이미 지점 기점 구조(MSS)를 갖고 있다</a:t>
            </a:r>
          </a:p>
          <a:p>
            <a:pPr algn="l"/>
            <a:r>
              <a:rPr sz="950" b="0">
                <a:solidFill>
                  <a:srgbClr val="767676"/>
                </a:solidFill>
                <a:latin typeface="Pretendard"/>
              </a:rPr>
              <a:t>지점안내가 공수의 23.0% — 실행 리스크가 낮다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39681" y="1783080"/>
            <a:ext cx="5364345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22556" y="1933956"/>
            <a:ext cx="4998594" cy="54864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Pretendard"/>
              </a:rPr>
              <a:t>부축 — 계정</a:t>
            </a:r>
          </a:p>
          <a:p>
            <a:pPr algn="l"/>
            <a:r>
              <a:rPr sz="1300" b="1">
                <a:solidFill>
                  <a:srgbClr val="1A1A1A"/>
                </a:solidFill>
                <a:latin typeface="Pretendard"/>
              </a:rPr>
              <a:t>할 수 있는 일을 채널이 가르지 않는다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39681" y="2743200"/>
            <a:ext cx="5364345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39681" y="2743200"/>
            <a:ext cx="73150" cy="150876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365" y="2825496"/>
            <a:ext cx="5047361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Pretendard"/>
              </a:rPr>
              <a:t>왜 계정이 부축인가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0365" y="3257550"/>
            <a:ext cx="5047361" cy="92583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0">
                <a:solidFill>
                  <a:srgbClr val="767676"/>
                </a:solidFill>
                <a:latin typeface="Pretendard"/>
              </a:rPr>
              <a:t>결손 9건이 전부 계정 영역에 몰려 있다</a:t>
            </a:r>
          </a:p>
          <a:p>
            <a:pPr algn="l"/>
            <a:r>
              <a:rPr sz="950" b="0">
                <a:solidFill>
                  <a:srgbClr val="767676"/>
                </a:solidFill>
                <a:latin typeface="Pretendard"/>
              </a:rPr>
              <a:t>H.Point 전환이 이 시기(23.1.1)에 온다</a:t>
            </a:r>
          </a:p>
          <a:p>
            <a:pPr algn="l"/>
            <a:r>
              <a:rPr sz="950" b="0">
                <a:solidFill>
                  <a:srgbClr val="767676"/>
                </a:solidFill>
                <a:latin typeface="Pretendard"/>
              </a:rPr>
              <a:t>P1·P4를 함께 해소한다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7667" y="4526280"/>
            <a:ext cx="11216359" cy="89154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0543" y="4629150"/>
            <a:ext cx="10850608" cy="6858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검토 후 기각 — 콘텐츠 축:  심각도 상 9건 중 1건만 커버 · CMS 개선이 계약 범위 밖(124 #23)이라 실행 수단이 없다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7667" y="5623560"/>
            <a:ext cx="11216359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Pretendard"/>
              </a:rPr>
              <a:t>이 두 축이 컨셉키워드 4개로 전개된다 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UX전략보고서 · V1.1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67" y="13716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0">
                <a:solidFill>
                  <a:srgbClr val="767676"/>
                </a:solidFill>
                <a:latin typeface="Pretendard"/>
              </a:rPr>
              <a:t>UX전략보고서 · 컨셉키워드</a:t>
            </a:r>
          </a:p>
        </p:txBody>
      </p:sp>
      <p:sp>
        <p:nvSpPr>
          <p:cNvPr id="3" name="Rectangle 2"/>
          <p:cNvSpPr/>
          <p:nvPr/>
        </p:nvSpPr>
        <p:spPr>
          <a:xfrm>
            <a:off x="487667" y="548640"/>
            <a:ext cx="1219169" cy="54864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87667" y="658368"/>
            <a:ext cx="1219169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Pretendard"/>
              </a:rPr>
              <a:t>K1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50671" y="514350"/>
            <a:ext cx="8046518" cy="8229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Pretendard"/>
              </a:rPr>
              <a:t>「어느 점포인가」로 시작한다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023" y="658368"/>
            <a:ext cx="1463003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1100" b="1">
                <a:solidFill>
                  <a:srgbClr val="1A1A1A"/>
                </a:solidFill>
                <a:latin typeface="Pretendard"/>
              </a:rPr>
              <a:t>주축</a:t>
            </a:r>
          </a:p>
        </p:txBody>
      </p:sp>
      <p:sp>
        <p:nvSpPr>
          <p:cNvPr id="7" name="Rectangle 6"/>
          <p:cNvSpPr/>
          <p:nvPr/>
        </p:nvSpPr>
        <p:spPr>
          <a:xfrm>
            <a:off x="487667" y="1783080"/>
            <a:ext cx="3413674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87667" y="1783080"/>
            <a:ext cx="73150" cy="2743200"/>
          </a:xfrm>
          <a:prstGeom prst="rect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51" y="1865376"/>
            <a:ext cx="3096690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Pretendard"/>
              </a:rPr>
              <a:t>무엇이 문제인가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51" y="2297430"/>
            <a:ext cx="3096690" cy="216027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P1 — 두 채널의 진입 모델이 다르다.</a:t>
            </a:r>
          </a:p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검색결과가 진입 문맥을 반영하지 않는다 (최대 21경로 → 화면 1)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023259" y="2948940"/>
            <a:ext cx="365750" cy="219456"/>
          </a:xfrm>
          <a:prstGeom prst="rightArrow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10927" y="1783080"/>
            <a:ext cx="3413674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10927" y="1783080"/>
            <a:ext cx="73150" cy="27432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81610" y="1865376"/>
            <a:ext cx="3096690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Pretendard"/>
              </a:rPr>
              <a:t>어떻게 푸는가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81610" y="2297430"/>
            <a:ext cx="3096690" cy="216027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양 채널 공통 진입에 지점 컨텍스트를 둔다.</a:t>
            </a:r>
          </a:p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검색·목록·상세가 선택된 지점을 유지한다.</a:t>
            </a:r>
          </a:p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지점 무관 정보(IR·ESG)는 명시적으로 축 밖에 둔다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8046518" y="2948940"/>
            <a:ext cx="365750" cy="219456"/>
          </a:xfrm>
          <a:prstGeom prst="rightArrow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534186" y="1783080"/>
            <a:ext cx="316984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534186" y="1783080"/>
            <a:ext cx="73150" cy="2743200"/>
          </a:xfrm>
          <a:prstGeom prst="rect">
            <a:avLst/>
          </a:prstGeom>
          <a:solidFill>
            <a:srgbClr val="1A7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04870" y="1865376"/>
            <a:ext cx="2852856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Pretendard"/>
              </a:rPr>
              <a:t>무엇이 달라지나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04870" y="2297430"/>
            <a:ext cx="2852856" cy="216027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채널을 오갈 때 멘탈모델이 이어진다.</a:t>
            </a:r>
          </a:p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오프라인 방문 유도 + 분산 콘텐츠의 허브라는</a:t>
            </a:r>
          </a:p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채널 목적과 구조가 일치한다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UX전략보고서 · V1.1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67" y="13716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0">
                <a:solidFill>
                  <a:srgbClr val="767676"/>
                </a:solidFill>
                <a:latin typeface="Pretendard"/>
              </a:rPr>
              <a:t>UX전략보고서 · 컨셉키워드</a:t>
            </a:r>
          </a:p>
        </p:txBody>
      </p:sp>
      <p:sp>
        <p:nvSpPr>
          <p:cNvPr id="3" name="Rectangle 2"/>
          <p:cNvSpPr/>
          <p:nvPr/>
        </p:nvSpPr>
        <p:spPr>
          <a:xfrm>
            <a:off x="487667" y="548640"/>
            <a:ext cx="1219169" cy="54864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87667" y="658368"/>
            <a:ext cx="1219169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Pretendard"/>
              </a:rPr>
              <a:t>K2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50671" y="514350"/>
            <a:ext cx="8046518" cy="8229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Pretendard"/>
              </a:rPr>
              <a:t>한 번 만들고 지점마다 붙인다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023" y="658368"/>
            <a:ext cx="1463003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1100" b="1">
                <a:solidFill>
                  <a:srgbClr val="1A1A1A"/>
                </a:solidFill>
                <a:latin typeface="Pretendard"/>
              </a:rPr>
              <a:t>주축</a:t>
            </a:r>
          </a:p>
        </p:txBody>
      </p:sp>
      <p:sp>
        <p:nvSpPr>
          <p:cNvPr id="7" name="Rectangle 6"/>
          <p:cNvSpPr/>
          <p:nvPr/>
        </p:nvSpPr>
        <p:spPr>
          <a:xfrm>
            <a:off x="487667" y="1783080"/>
            <a:ext cx="3413674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87667" y="1783080"/>
            <a:ext cx="73150" cy="2743200"/>
          </a:xfrm>
          <a:prstGeom prst="rect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51" y="1865376"/>
            <a:ext cx="3096690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Pretendard"/>
              </a:rPr>
              <a:t>무엇이 문제인가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51" y="2297430"/>
            <a:ext cx="3096690" cy="216027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P2 — 2대 영역 52.8%가 반복 구조.</a:t>
            </a:r>
          </a:p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증설 예정 3건 — 지금 구조로는 화면이 곱해진다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023259" y="2948940"/>
            <a:ext cx="365750" cy="219456"/>
          </a:xfrm>
          <a:prstGeom prst="rightArrow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10927" y="1783080"/>
            <a:ext cx="3413674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10927" y="1783080"/>
            <a:ext cx="73150" cy="27432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81610" y="1865376"/>
            <a:ext cx="3096690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Pretendard"/>
              </a:rPr>
              <a:t>어떻게 푸는가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81610" y="2297430"/>
            <a:ext cx="3096690" cy="216027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지점 하위·카드 혜택을 템플릿 + 데이터로.</a:t>
            </a:r>
          </a:p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신규 지점·브랜드가 템플릿 인스턴스로</a:t>
            </a:r>
          </a:p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처리되는지가 설계 합격 기준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8046518" y="2948940"/>
            <a:ext cx="365750" cy="219456"/>
          </a:xfrm>
          <a:prstGeom prst="rightArrow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534186" y="1783080"/>
            <a:ext cx="316984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534186" y="1783080"/>
            <a:ext cx="73150" cy="2743200"/>
          </a:xfrm>
          <a:prstGeom prst="rect">
            <a:avLst/>
          </a:prstGeom>
          <a:solidFill>
            <a:srgbClr val="1A7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04870" y="1865376"/>
            <a:ext cx="2852856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Pretendard"/>
              </a:rPr>
              <a:t>무엇이 달라지나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04870" y="2297430"/>
            <a:ext cx="2852856" cy="216027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증설해도 화면 수가 늘지 않는다.</a:t>
            </a:r>
          </a:p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등급·혜택 개편이 화면 수정 없이 반영된다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667" y="4800600"/>
            <a:ext cx="11216359" cy="61722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0543" y="4924044"/>
            <a:ext cx="10850608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0">
                <a:solidFill>
                  <a:srgbClr val="767676"/>
                </a:solidFill>
                <a:latin typeface="Pretendard"/>
              </a:rPr>
              <a:t>유의 — 구조는 통일하되 점포별 특성은 모듈로. 플래그십(더현대 서울)의 개성을 닫지 않는다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UX전략보고서 · V1.1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67" y="13716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0">
                <a:solidFill>
                  <a:srgbClr val="767676"/>
                </a:solidFill>
                <a:latin typeface="Pretendard"/>
              </a:rPr>
              <a:t>UX전략보고서 · 컨셉키워드</a:t>
            </a:r>
          </a:p>
        </p:txBody>
      </p:sp>
      <p:sp>
        <p:nvSpPr>
          <p:cNvPr id="3" name="Rectangle 2"/>
          <p:cNvSpPr/>
          <p:nvPr/>
        </p:nvSpPr>
        <p:spPr>
          <a:xfrm>
            <a:off x="487667" y="548640"/>
            <a:ext cx="1219169" cy="548640"/>
          </a:xfrm>
          <a:prstGeom prst="rect">
            <a:avLst/>
          </a:prstGeom>
          <a:solidFill>
            <a:srgbClr val="767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87667" y="658368"/>
            <a:ext cx="1219169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Pretendard"/>
              </a:rPr>
              <a:t>K3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50671" y="514350"/>
            <a:ext cx="8046518" cy="8229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Pretendard"/>
              </a:rPr>
              <a:t>계정으로 할 수 있는 일을</a:t>
            </a:r>
          </a:p>
          <a:p>
            <a:pPr algn="l"/>
            <a:r>
              <a:rPr sz="2200" b="1">
                <a:solidFill>
                  <a:srgbClr val="1A1A1A"/>
                </a:solidFill>
                <a:latin typeface="Pretendard"/>
              </a:rPr>
              <a:t>채널이 가르지 않는다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023" y="658368"/>
            <a:ext cx="1463003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1100" b="1">
                <a:solidFill>
                  <a:srgbClr val="767676"/>
                </a:solidFill>
                <a:latin typeface="Pretendard"/>
              </a:rPr>
              <a:t>부축</a:t>
            </a:r>
          </a:p>
        </p:txBody>
      </p:sp>
      <p:sp>
        <p:nvSpPr>
          <p:cNvPr id="7" name="Rectangle 6"/>
          <p:cNvSpPr/>
          <p:nvPr/>
        </p:nvSpPr>
        <p:spPr>
          <a:xfrm>
            <a:off x="487667" y="1783080"/>
            <a:ext cx="3413674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87667" y="1783080"/>
            <a:ext cx="73150" cy="2743200"/>
          </a:xfrm>
          <a:prstGeom prst="rect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51" y="1865376"/>
            <a:ext cx="3096690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Pretendard"/>
              </a:rPr>
              <a:t>무엇이 문제인가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51" y="2297430"/>
            <a:ext cx="3096690" cy="216027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P1 — 계정 기능 결손 9건.</a:t>
            </a:r>
          </a:p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P4 — H.Point 전환 경로가 PC 전용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023259" y="2948940"/>
            <a:ext cx="365750" cy="219456"/>
          </a:xfrm>
          <a:prstGeom prst="rightArrow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10927" y="1783080"/>
            <a:ext cx="3413674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10927" y="1783080"/>
            <a:ext cx="73150" cy="27432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81610" y="1865376"/>
            <a:ext cx="3096690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Pretendard"/>
              </a:rPr>
              <a:t>어떻게 푸는가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81610" y="2297430"/>
            <a:ext cx="3096690" cy="216027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로그인·마이페이지 기능 집합을 채널 동일로.</a:t>
            </a:r>
          </a:p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H.Point 전환 경로를 모바일에도.</a:t>
            </a:r>
          </a:p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채널 차이를 남기려면 결정 근거를 화면명세에 기록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8046518" y="2948940"/>
            <a:ext cx="365750" cy="219456"/>
          </a:xfrm>
          <a:prstGeom prst="rightArrow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534186" y="1783080"/>
            <a:ext cx="316984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534186" y="1783080"/>
            <a:ext cx="73150" cy="2743200"/>
          </a:xfrm>
          <a:prstGeom prst="rect">
            <a:avLst/>
          </a:prstGeom>
          <a:solidFill>
            <a:srgbClr val="1A7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04870" y="1865376"/>
            <a:ext cx="2852856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Pretendard"/>
              </a:rPr>
              <a:t>무엇이 달라지나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04870" y="2297430"/>
            <a:ext cx="2852856" cy="216027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“어디서 되는지”를 학습할 필요가 없어진다.</a:t>
            </a:r>
          </a:p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전환 시점에 모바일 이용자가 배제되지 않는다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UX전략보고서 · V1.1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67" y="13716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0">
                <a:solidFill>
                  <a:srgbClr val="767676"/>
                </a:solidFill>
                <a:latin typeface="Pretendard"/>
              </a:rPr>
              <a:t>UX전략보고서 · 컨셉키워드</a:t>
            </a:r>
          </a:p>
        </p:txBody>
      </p:sp>
      <p:sp>
        <p:nvSpPr>
          <p:cNvPr id="3" name="Rectangle 2"/>
          <p:cNvSpPr/>
          <p:nvPr/>
        </p:nvSpPr>
        <p:spPr>
          <a:xfrm>
            <a:off x="487667" y="548640"/>
            <a:ext cx="1219169" cy="548640"/>
          </a:xfrm>
          <a:prstGeom prst="rect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87667" y="658368"/>
            <a:ext cx="1219169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Pretendard"/>
              </a:rPr>
              <a:t>K4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50671" y="514350"/>
            <a:ext cx="8046518" cy="8229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Pretendard"/>
              </a:rPr>
              <a:t>막혔을 때 갈 곳을 먼저 만든다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023" y="658368"/>
            <a:ext cx="1463003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1100" b="1">
                <a:solidFill>
                  <a:srgbClr val="B3261E"/>
                </a:solidFill>
                <a:latin typeface="Pretendard"/>
              </a:rPr>
              <a:t>공통</a:t>
            </a:r>
          </a:p>
        </p:txBody>
      </p:sp>
      <p:sp>
        <p:nvSpPr>
          <p:cNvPr id="7" name="Rectangle 6"/>
          <p:cNvSpPr/>
          <p:nvPr/>
        </p:nvSpPr>
        <p:spPr>
          <a:xfrm>
            <a:off x="487667" y="1783080"/>
            <a:ext cx="3413674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87667" y="1783080"/>
            <a:ext cx="73150" cy="2743200"/>
          </a:xfrm>
          <a:prstGeom prst="rect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51" y="1865376"/>
            <a:ext cx="3096690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Pretendard"/>
              </a:rPr>
              <a:t>무엇이 문제인가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51" y="2297430"/>
            <a:ext cx="3096690" cy="216027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P3 — 오류 화면 0건 · 취소 경로 0건.</a:t>
            </a:r>
          </a:p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실패가 설계되지 않았다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023259" y="2948940"/>
            <a:ext cx="365750" cy="219456"/>
          </a:xfrm>
          <a:prstGeom prst="rightArrow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10927" y="1783080"/>
            <a:ext cx="3413674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10927" y="1783080"/>
            <a:ext cx="73150" cy="27432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81610" y="1865376"/>
            <a:ext cx="3096690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Pretendard"/>
              </a:rPr>
              <a:t>어떻게 푸는가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81610" y="2297430"/>
            <a:ext cx="3096690" cy="216027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예외 화면군(404·권한없음·세션만료·결제실패·</a:t>
            </a:r>
          </a:p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정원초과)을 공통 컴포넌트로 선설계.</a:t>
            </a:r>
          </a:p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사후 처리를 사전 경고로 전환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8046518" y="2948940"/>
            <a:ext cx="365750" cy="219456"/>
          </a:xfrm>
          <a:prstGeom prst="rightArrow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534186" y="1783080"/>
            <a:ext cx="316984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534186" y="1783080"/>
            <a:ext cx="73150" cy="2743200"/>
          </a:xfrm>
          <a:prstGeom prst="rect">
            <a:avLst/>
          </a:prstGeom>
          <a:solidFill>
            <a:srgbClr val="1A7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04870" y="1865376"/>
            <a:ext cx="2852856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Pretendard"/>
              </a:rPr>
              <a:t>무엇이 달라지나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04870" y="2297430"/>
            <a:ext cx="2852856" cy="216027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1,003화면이 같은 방식으로 실패를 처리한다.</a:t>
            </a:r>
          </a:p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거래 완주율이 개선된다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UX전략보고서 · V1.1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67" y="13716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0">
                <a:solidFill>
                  <a:srgbClr val="767676"/>
                </a:solidFill>
                <a:latin typeface="Pretendard"/>
              </a:rPr>
              <a:t>UX전략보고서 · 커버리지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7667" y="548640"/>
            <a:ext cx="11216359" cy="54864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Pretendard"/>
              </a:rPr>
              <a:t>키워드 4개가 문제 4개를 전부 덮는가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7667" y="1097280"/>
            <a:ext cx="11216359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250" b="0">
                <a:solidFill>
                  <a:srgbClr val="767676"/>
                </a:solidFill>
                <a:latin typeface="Pretendard"/>
              </a:rPr>
              <a:t>심각도 상 9건 전건 판정 완료 — 고아 이슈 0건. 셀의 ●가 「이 키워드가 이 문제를 직접 해소」다.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82172" y="1371600"/>
            <a:ext cx="2072588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950" b="1">
                <a:solidFill>
                  <a:srgbClr val="1A1A1A"/>
                </a:solidFill>
                <a:latin typeface="Pretendard"/>
              </a:rPr>
              <a:t>K1 지점 시작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76678" y="1371600"/>
            <a:ext cx="2072588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950" b="1">
                <a:solidFill>
                  <a:srgbClr val="1A1A1A"/>
                </a:solidFill>
                <a:latin typeface="Pretendard"/>
              </a:rPr>
              <a:t>K2 템플릿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71183" y="1371600"/>
            <a:ext cx="2072588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950" b="1">
                <a:solidFill>
                  <a:srgbClr val="1A1A1A"/>
                </a:solidFill>
                <a:latin typeface="Pretendard"/>
              </a:rPr>
              <a:t>K3 계정 동일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65688" y="1371600"/>
            <a:ext cx="2072588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950" b="1">
                <a:solidFill>
                  <a:srgbClr val="1A1A1A"/>
                </a:solidFill>
                <a:latin typeface="Pretendard"/>
              </a:rPr>
              <a:t>K4 예외 선설계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7667" y="1988820"/>
            <a:ext cx="2072588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00" b="1">
                <a:solidFill>
                  <a:srgbClr val="1A1A1A"/>
                </a:solidFill>
                <a:latin typeface="Pretendard"/>
              </a:rPr>
              <a:t>P1  채널 분열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82172" y="1783080"/>
            <a:ext cx="2072588" cy="685800"/>
          </a:xfrm>
          <a:prstGeom prst="rect">
            <a:avLst/>
          </a:prstGeom>
          <a:solidFill>
            <a:srgbClr val="1A1A1A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82172" y="1961388"/>
            <a:ext cx="2072588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Pretendard"/>
              </a:rPr>
              <a:t>●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876678" y="1783080"/>
            <a:ext cx="2072588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071183" y="1783080"/>
            <a:ext cx="2072588" cy="685800"/>
          </a:xfrm>
          <a:prstGeom prst="rect">
            <a:avLst/>
          </a:prstGeom>
          <a:solidFill>
            <a:srgbClr val="1A1A1A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71183" y="1961388"/>
            <a:ext cx="2072588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Pretendard"/>
              </a:rPr>
              <a:t>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265688" y="1783080"/>
            <a:ext cx="2072588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7667" y="2743200"/>
            <a:ext cx="2072588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00" b="1">
                <a:solidFill>
                  <a:srgbClr val="1A1A1A"/>
                </a:solidFill>
                <a:latin typeface="Pretendard"/>
              </a:rPr>
              <a:t>P2  반복 구조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82172" y="2537460"/>
            <a:ext cx="2072588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876678" y="2537460"/>
            <a:ext cx="2072588" cy="685800"/>
          </a:xfrm>
          <a:prstGeom prst="rect">
            <a:avLst/>
          </a:prstGeom>
          <a:solidFill>
            <a:srgbClr val="1A1A1A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76678" y="2715768"/>
            <a:ext cx="2072588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Pretendard"/>
              </a:rPr>
              <a:t>●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071183" y="2537460"/>
            <a:ext cx="2072588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265688" y="2537460"/>
            <a:ext cx="2072588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7667" y="3497580"/>
            <a:ext cx="2072588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00" b="1">
                <a:solidFill>
                  <a:srgbClr val="1A1A1A"/>
                </a:solidFill>
                <a:latin typeface="Pretendard"/>
              </a:rPr>
              <a:t>P3  실패 미설계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682172" y="3291840"/>
            <a:ext cx="2072588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876678" y="3291840"/>
            <a:ext cx="2072588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071183" y="3291840"/>
            <a:ext cx="2072588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265688" y="3291840"/>
            <a:ext cx="2072588" cy="685800"/>
          </a:xfrm>
          <a:prstGeom prst="rect">
            <a:avLst/>
          </a:prstGeom>
          <a:solidFill>
            <a:srgbClr val="1A1A1A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65688" y="3470148"/>
            <a:ext cx="2072588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Pretendard"/>
              </a:rPr>
              <a:t>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7667" y="4251960"/>
            <a:ext cx="2072588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00" b="1">
                <a:solidFill>
                  <a:srgbClr val="1A1A1A"/>
                </a:solidFill>
                <a:latin typeface="Pretendard"/>
              </a:rPr>
              <a:t>P4  회원 전환기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682172" y="4046220"/>
            <a:ext cx="2072588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876678" y="4046220"/>
            <a:ext cx="2072588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071183" y="4046220"/>
            <a:ext cx="2072588" cy="685800"/>
          </a:xfrm>
          <a:prstGeom prst="rect">
            <a:avLst/>
          </a:prstGeom>
          <a:solidFill>
            <a:srgbClr val="1A1A1A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071183" y="4224528"/>
            <a:ext cx="2072588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Pretendard"/>
              </a:rPr>
              <a:t>●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265688" y="4046220"/>
            <a:ext cx="2072588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87667" y="5074920"/>
            <a:ext cx="11216359" cy="10972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행마다 ● 가 최소 1개 — 방치되는 문제가 없다.  열마다 ● 가 최소 1개 — 문제 없는 키워드(장식 컨셉)가 없다.</a:t>
            </a:r>
          </a:p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심각도 중 5건은 하류 작업(341 화면명세·353 가이드)에 이관 지정 — 키워드가 직접 다루지 않는 것도 행선지가 있다.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UX전략보고서 · V1.1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10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67" y="13716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0">
                <a:solidFill>
                  <a:srgbClr val="767676"/>
                </a:solidFill>
                <a:latin typeface="Pretendard"/>
              </a:rPr>
              <a:t>UX전략보고서 · 선결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7667" y="548640"/>
            <a:ext cx="11216359" cy="54864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Pretendard"/>
              </a:rPr>
              <a:t>전략이 서기 위한 결정 2건 — 모두 확정 (2026-08-06)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7667" y="1097280"/>
            <a:ext cx="11216359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250" b="0">
                <a:solidFill>
                  <a:srgbClr val="767676"/>
                </a:solidFill>
                <a:latin typeface="Pretendard"/>
              </a:rPr>
              <a:t>결정이 없으면 이 전략은 가정 위에 선다. 두 결정 모두 사용자 개입으로 닫혔다.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487667" y="1783080"/>
            <a:ext cx="5486262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87667" y="1783080"/>
            <a:ext cx="73150" cy="2331720"/>
          </a:xfrm>
          <a:prstGeom prst="rect">
            <a:avLst/>
          </a:prstGeom>
          <a:solidFill>
            <a:srgbClr val="1A7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51" y="1865376"/>
            <a:ext cx="5169278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150" b="1">
                <a:solidFill>
                  <a:srgbClr val="1A1A1A"/>
                </a:solidFill>
                <a:latin typeface="Pretendard"/>
              </a:rPr>
              <a:t>결정 1 — 회원 메뉴 개편 경계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51" y="2297430"/>
            <a:ext cx="5169278" cy="174879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「부분 포함」으로 확정.</a:t>
            </a:r>
          </a:p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/>
            </a:r>
          </a:p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로그인·전환 진입은 개편 범위,</a:t>
            </a:r>
          </a:p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회원 정보 심층(68화면 중 38)은 제외.</a:t>
            </a:r>
          </a:p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제외 목록은 240 결정 D-2로 화면 단위 확정</a:t>
            </a:r>
          </a:p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→ 341 원장에서 38화면 제외 반영 완료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764" y="1783080"/>
            <a:ext cx="5486262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764" y="1783080"/>
            <a:ext cx="73150" cy="2331720"/>
          </a:xfrm>
          <a:prstGeom prst="rect">
            <a:avLst/>
          </a:prstGeom>
          <a:solidFill>
            <a:srgbClr val="1A7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88448" y="1865376"/>
            <a:ext cx="5169278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150" b="1">
                <a:solidFill>
                  <a:srgbClr val="1A1A1A"/>
                </a:solidFill>
                <a:latin typeface="Pretendard"/>
              </a:rPr>
              <a:t>결정 2 — 채널 통일 상충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88448" y="2297430"/>
            <a:ext cx="5169278" cy="174879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「기능 동일 · 표현 채널별」로 확정.</a:t>
            </a:r>
          </a:p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/>
            </a:r>
          </a:p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계정 기능 집합은 채널 동일(K3),</a:t>
            </a:r>
          </a:p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표현·배치는 채널 특성을 따른다.</a:t>
            </a:r>
          </a:p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채널 차이를 남기는 결정은 근거를</a:t>
            </a:r>
          </a:p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화면명세 비고에 기록한다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667" y="4389120"/>
            <a:ext cx="11216359" cy="82296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0543" y="4526280"/>
            <a:ext cx="10850608" cy="6172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규모 재산정 완료 — 명세 행 1,344 / 고유 1,003 / 본화면 574 (3중 기준선). V0.3의 “1,344화면” 서술은 정정됐다.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UX전략보고서 · V1.1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11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67" y="13716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0">
                <a:solidFill>
                  <a:srgbClr val="767676"/>
                </a:solidFill>
                <a:latin typeface="Pretendard"/>
              </a:rPr>
              <a:t>UX전략보고서 · 근거 한계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7667" y="548640"/>
            <a:ext cx="11216359" cy="54864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Pretendard"/>
              </a:rPr>
              <a:t>이 전략이 서 있지 않은 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7667" y="1097280"/>
            <a:ext cx="11216359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250" b="0">
                <a:solidFill>
                  <a:srgbClr val="767676"/>
                </a:solidFill>
                <a:latin typeface="Pretendard"/>
              </a:rPr>
              <a:t>승인 전에 알아야 할 한계 3가지 — 숨기면 하류에서 더 비싸게 돌아온다.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487667" y="1783080"/>
            <a:ext cx="11216359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87667" y="1783080"/>
            <a:ext cx="73150" cy="1234440"/>
          </a:xfrm>
          <a:prstGeom prst="rect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51" y="1865376"/>
            <a:ext cx="10899375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Pretendard"/>
              </a:rPr>
              <a:t>사용자 리서치 0건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51" y="2297430"/>
            <a:ext cx="10899375" cy="65151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리서치 미계약 — 전략의 근거는 구조 실측과 요구 문서다.</a:t>
            </a:r>
          </a:p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사용자 발화·관찰 데이터가 없다</a:t>
            </a:r>
          </a:p>
        </p:txBody>
      </p:sp>
      <p:sp>
        <p:nvSpPr>
          <p:cNvPr id="9" name="Rectangle 8"/>
          <p:cNvSpPr/>
          <p:nvPr/>
        </p:nvSpPr>
        <p:spPr>
          <a:xfrm>
            <a:off x="487667" y="3154680"/>
            <a:ext cx="11216359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7667" y="3154680"/>
            <a:ext cx="73150" cy="1234440"/>
          </a:xfrm>
          <a:prstGeom prst="rect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51" y="3236976"/>
            <a:ext cx="10899375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Pretendard"/>
              </a:rPr>
              <a:t>감성 근거 없음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51" y="3669030"/>
            <a:ext cx="10899375" cy="65151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무드보드(232) 계약 범위 밖 — 시안 방향은 컨셉에서</a:t>
            </a:r>
          </a:p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연역했지 감성에서 귀납하지 않았다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667" y="4526280"/>
            <a:ext cx="11216359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7667" y="4526280"/>
            <a:ext cx="73150" cy="1234440"/>
          </a:xfrm>
          <a:prstGeom prst="rect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51" y="4608576"/>
            <a:ext cx="10899375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Pretendard"/>
              </a:rPr>
              <a:t>메인 화면 분석 공백 (R-2)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51" y="5040630"/>
            <a:ext cx="10899375" cy="65151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메인 콘텐츠 구성의 사용자 근거가 없다 — 요구 3건뿐.</a:t>
            </a:r>
          </a:p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와이어프레임 단계에서 재검토 1순위로 지정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UX전략보고서 · V1.1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12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19169" y="1645920"/>
            <a:ext cx="9753356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1300" b="1">
                <a:solidFill>
                  <a:srgbClr val="767676"/>
                </a:solidFill>
                <a:latin typeface="Pretendard"/>
              </a:rPr>
              <a:t>승인 요청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19169" y="2194560"/>
            <a:ext cx="9753356" cy="8229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2400" b="1">
                <a:solidFill>
                  <a:srgbClr val="1A1A1A"/>
                </a:solidFill>
                <a:latin typeface="Pretendard"/>
              </a:rPr>
              <a:t>이 두 축과 네 키워드로</a:t>
            </a:r>
          </a:p>
          <a:p>
            <a:pPr algn="ctr"/>
            <a:r>
              <a:rPr sz="2400" b="1">
                <a:solidFill>
                  <a:srgbClr val="1A1A1A"/>
                </a:solidFill>
                <a:latin typeface="Pretendard"/>
              </a:rPr>
              <a:t>설계를 시작해도 되겠습니까</a:t>
            </a:r>
          </a:p>
        </p:txBody>
      </p:sp>
      <p:sp>
        <p:nvSpPr>
          <p:cNvPr id="5" name="Rectangle 4"/>
          <p:cNvSpPr/>
          <p:nvPr/>
        </p:nvSpPr>
        <p:spPr>
          <a:xfrm>
            <a:off x="1219169" y="3566160"/>
            <a:ext cx="4632844" cy="164592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219169" y="3566160"/>
            <a:ext cx="73150" cy="164592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9853" y="3648456"/>
            <a:ext cx="4315860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Pretendard"/>
              </a:rPr>
              <a:t>승인되면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9853" y="4080510"/>
            <a:ext cx="4315860" cy="106299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312 유저플로우 → 321 기능정의 → 322 정보구조 —</a:t>
            </a:r>
          </a:p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네 키워드가 전 하류 산출물의 판정 기준이 된다</a:t>
            </a:r>
          </a:p>
        </p:txBody>
      </p:sp>
      <p:sp>
        <p:nvSpPr>
          <p:cNvPr id="9" name="Rectangle 8"/>
          <p:cNvSpPr/>
          <p:nvPr/>
        </p:nvSpPr>
        <p:spPr>
          <a:xfrm>
            <a:off x="6339681" y="3566160"/>
            <a:ext cx="4632844" cy="164592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39681" y="3566160"/>
            <a:ext cx="73150" cy="164592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0365" y="3648456"/>
            <a:ext cx="4315860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Pretendard"/>
              </a:rPr>
              <a:t>보류되면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10365" y="4080510"/>
            <a:ext cx="4315860" cy="106299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선결 조건이 전부 닫혀 있으므로 보류 사유가 곧</a:t>
            </a:r>
          </a:p>
          <a:p>
            <a:pPr algn="l"/>
            <a:r>
              <a:rPr sz="1000" b="0">
                <a:solidFill>
                  <a:srgbClr val="767676"/>
                </a:solidFill>
                <a:latin typeface="Pretendard"/>
              </a:rPr>
              <a:t>새 요구다 — 요구사항정의서에 등재 후 재보고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UX전략보고서 · V1.1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