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194560"/>
            <a:ext cx="10241023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</a:rPr>
              <a:t>UI상세설계서 (유형 대표)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086100"/>
            <a:ext cx="10241023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0">
                <a:solidFill>
                  <a:srgbClr val="C8C8C8"/>
                </a:solidFill>
                <a:latin typeface="Pretendard"/>
              </a:rPr>
              <a:t>현대백화점 자사채널(PC·MWEB)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251960"/>
            <a:ext cx="10241023" cy="1371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구분   설계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버전   V1.0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작성일   2026-08-10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작성자   기획PL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프로젝트   C2202500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6172200"/>
            <a:ext cx="102410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"/>
              </a:rPr>
              <a:t>VinylC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7315017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Pretendard"/>
              </a:rPr>
              <a:t>개정이력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22960"/>
            <a:ext cx="975335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864108"/>
            <a:ext cx="97533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1086" y="822960"/>
            <a:ext cx="1463003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1086" y="864108"/>
            <a:ext cx="146300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4089" y="822960"/>
            <a:ext cx="731501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089" y="864108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변경 내역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9106" y="822960"/>
            <a:ext cx="170683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9106" y="864108"/>
            <a:ext cx="170683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작성자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" y="116586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" y="120015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1086" y="116586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1086" y="120015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4089" y="116586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4089" y="120015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초안작성 — 유형 7종 대표 화면 7건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19106" y="116586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19106" y="120015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기획PL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50" y="157734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0" y="161163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41086" y="157734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1086" y="161163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4089" y="157734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4089" y="161163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343 설계리뷰 반영 — 공통 모듈 3종 추가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19106" y="157734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19106" y="161163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1097252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Pretendard"/>
              </a:rPr>
              <a:t>입력 어휘 — 채널별 허용·금지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91540"/>
            <a:ext cx="1463003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946404"/>
            <a:ext cx="1463003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채널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754" y="891540"/>
            <a:ext cx="5364345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754" y="946404"/>
            <a:ext cx="5364345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허용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7193100" y="891540"/>
            <a:ext cx="4632844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93100" y="946404"/>
            <a:ext cx="4632844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금지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1268730"/>
            <a:ext cx="1463003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1309878"/>
            <a:ext cx="1463003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PC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754" y="1268730"/>
            <a:ext cx="536434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754" y="1309878"/>
            <a:ext cx="536434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선택 · Hover · 입력 · 스크롤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3100" y="1268730"/>
            <a:ext cx="46328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3100" y="1309878"/>
            <a:ext cx="4632844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우클릭 의존 금지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50" y="1817370"/>
            <a:ext cx="1463003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0" y="1858518"/>
            <a:ext cx="1463003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MWEB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754" y="1817370"/>
            <a:ext cx="536434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754" y="1858518"/>
            <a:ext cx="536434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Tap · 스와이프(배너·탭) · 스크롤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93100" y="1817370"/>
            <a:ext cx="46328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3100" y="1858518"/>
            <a:ext cx="4632844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Long Tap·Pinch 금지 · 가로 전체 스와이프 금지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50" y="2366010"/>
            <a:ext cx="1463003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50" y="2407158"/>
            <a:ext cx="1463003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공통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754" y="2366010"/>
            <a:ext cx="536434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754" y="2407158"/>
            <a:ext cx="536434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{조건} 충족 시 · {값} 초과 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93100" y="2366010"/>
            <a:ext cx="46328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3100" y="2407158"/>
            <a:ext cx="4632844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50" y="3120390"/>
            <a:ext cx="10972525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767676"/>
                </a:solidFill>
                <a:latin typeface="Pretendard"/>
              </a:rPr>
              <a:t>※ 증류 원천 3개 프로젝트는 네이티브 앱이라 제스처 8종을 쓴다. 이 프로젝트는 PC·모바일 웹이므로 채널별 어휘로 대체했다 — 342 §1-2 · 352 §1.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(유형 대표) · V1.0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880360"/>
            <a:ext cx="10241023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767676"/>
                </a:solidFill>
                <a:latin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22326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Pretendard"/>
              </a:rPr>
              <a:t>2. 허브·서브메인형 — 대표 HDP-COM0106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HDP-COM0106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현대백화점 메인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허브·서브메인형 · 상태축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현대백화점 메인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허브·서브메인형 수직 구조 · Header → 지점 컨텍스트 바 → 안내·현황 모듈 → 주요기능 모듈(상태별 가변) → 퀵링크 → Footer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회원 · 지점 확정]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38531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로고 · GNB 6종 · 통합검색 · 로그인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00784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73164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지금 보는 점포 %지점명% · 변경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1848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064258"/>
            <a:ext cx="3657508" cy="8229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352294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메인 비주얼 배너 N개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198196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942082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3007233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진행 중 행사 · 잔여 정원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859786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3374136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559302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카드·멤버십 현황 모듈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3291840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4046220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423138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퀵링크 8종</a:t>
            </a:r>
          </a:p>
        </p:txBody>
      </p:sp>
      <p:sp>
        <p:nvSpPr>
          <p:cNvPr id="30" name="Oval 29"/>
          <p:cNvSpPr/>
          <p:nvPr/>
        </p:nvSpPr>
        <p:spPr>
          <a:xfrm>
            <a:off x="3950109" y="396392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667" y="4718304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667" y="478345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Footer · 사이트맵 · 웹접근성</a:t>
            </a:r>
          </a:p>
        </p:txBody>
      </p:sp>
      <p:sp>
        <p:nvSpPr>
          <p:cNvPr id="33" name="Oval 32"/>
          <p:cNvSpPr/>
          <p:nvPr/>
        </p:nvSpPr>
        <p:spPr>
          <a:xfrm>
            <a:off x="3950109" y="4636007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[비회원 · 지점 미확정 CASE]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1092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092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지점을 선택해 주세요</a:t>
            </a:r>
          </a:p>
        </p:txBody>
      </p:sp>
      <p:sp>
        <p:nvSpPr>
          <p:cNvPr id="38" name="Oval 37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0927" y="1735074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0927" y="1920240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카드·멤버십 → 로그인 유도</a:t>
            </a:r>
          </a:p>
        </p:txBody>
      </p:sp>
      <p:sp>
        <p:nvSpPr>
          <p:cNvPr id="41" name="Oval 40"/>
          <p:cNvSpPr/>
          <p:nvPr/>
        </p:nvSpPr>
        <p:spPr>
          <a:xfrm>
            <a:off x="7973368" y="1652778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5a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앱·사이트 진입 시 &gt; 메인 디폴트 노출 / 지점 미확정 시 지점 선택(HDP-COM0114) 선행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21854" y="1371600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522" y="1371600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522" y="1399032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[GNB]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6종 노출 — 지점안내 · 브랜드 · 문화센터 · 카드·멤버십 · 서비스 · ESG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영역 랜딩으로 이동 / 화면 ID : HDP-STR0101 · HDP-BRD0120 · HDP-CUL0101 · HDP-CRD0101 · HDP-SVC0101 · HDP-CRP0101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Hover 시 &gt; 2Depth 드롭다운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IA-009 · FN-A01 · REQ-LO-001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21854" y="2448306"/>
            <a:ext cx="487667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21854" y="250317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522" y="2448306"/>
            <a:ext cx="2438339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522" y="2475738"/>
            <a:ext cx="2438339" cy="11932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[지점 컨텍스트 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직전 선택 지점 노출 — 쿠키 보존 기간 30일 [가정]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P-TERM-01 정본 문구 「지금 보는 점포」 + %지점명% + 「변경」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지점 선택(HDP-COM0114) 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최대 12자 노출, 12자 초과 시 &gt; 말줄임(…)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컨셉키워드 K1 · 332(컨텐츠가이드설계) §7 플레이스홀더 대응 · P-TERM-01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21854" y="369646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21854" y="375132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522" y="369646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522" y="372389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[지점 컨텍스트 바 — 미확정]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안내 문구 「지점을 선택해 주세요」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지점 선택(HDP-COM0114) 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§6-2 빈 상태 · FN-A05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21854" y="4601718"/>
            <a:ext cx="487667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21854" y="4656582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522" y="4601718"/>
            <a:ext cx="2438339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522" y="4629150"/>
            <a:ext cx="2438339" cy="11932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[메인 비주얼 배너]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Admin에서 등록한 배너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최소 1개 등록 필요 / 최대 10개 등록 가능, 10개 초과 시 &gt; Admin 등록 차단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5초마다 자동 롤링 · 좌우 스와이프 제공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Admin 등록 랜딩으로 이동 — 대상이 Admin 등록값이라 화면ID 생략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FN-A03 · REQ-LO-004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21854" y="5918454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21854" y="5849874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21854" y="591845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09522" y="5849874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09522" y="588416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331(와이어프레임설계) W-02 원형 상속. 상태축 4단(비회원/회원/카드보유Y/VIP)이나 CASE 프레임은 양극단 2개만 그렸다 — 중간 2단은 모듈 노출 여부만 다름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880360"/>
            <a:ext cx="10241023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767676"/>
                </a:solidFill>
                <a:latin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22326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Pretendard"/>
              </a:rPr>
              <a:t>3. 목록형 — 대표 HDP-COM0114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HDP-COM0114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지점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목록형 · 지점축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— 모든 화면에서 호출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목록형 수직 구조 · Header → 필터(1단) → 지점 카드 반복 → (빈 상태) → 닫기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필터 전체]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선택 · 닫기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76593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전체 / 더현대 / 백화점 / 아울렛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098548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163699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지점명 검색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01625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530602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715768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카드 N개 — 지점명 · 영업시간 · 오시는길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448305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3202686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267837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Validation · 미선택 시 처리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3120390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[검색 결과 없음 CASE]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10927" y="1371600"/>
            <a:ext cx="3657508" cy="754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0927" y="162534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없음 — 범위 확장 제안</a:t>
            </a:r>
          </a:p>
        </p:txBody>
      </p:sp>
      <p:sp>
        <p:nvSpPr>
          <p:cNvPr id="32" name="Oval 31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4a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지점 컨텍스트 바 선택 시 또는 지점 미확정 상태 진입 시 &gt; 전역 오버레이로 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21854" y="1371600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522" y="1371600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522" y="1399032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[레이어 헤더]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타이틀 「지점 선택」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닫기 선택 시 &gt; 오버레이 닫힘 처리 후 직전 화면 유지 — 지점 컨텍스트 변경 없음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FN-A02 · 331(와이어프레임설계) W-01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21854" y="2276856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1854" y="233172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522" y="2276856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522" y="2304288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[필터]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「전체」 선택 상태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전체 / 더현대 / 백화점 / 아울렛 — 4종 단일 선택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지점 카드 목록 즉시 갱신 — 페이지 재호출 없음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C-02 필터 · 332(컨텐츠가이드설계) §5-2 · FN-A02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21854" y="3353562"/>
            <a:ext cx="487667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21854" y="340842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9522" y="3353562"/>
            <a:ext cx="2438339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522" y="3380994"/>
            <a:ext cx="2438339" cy="11932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[지점명 검색 입력] (선택)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플레이스 홀더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입력 시 &gt; 2자 이상부터 목록 즉시 필터링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최대 20자 입력 가능, 20자 초과 시 &gt; 입력 차단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필수 아님 — 미입력 시 필터 결과 전량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C-03 검색 입력(지역) · FN-A02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21854" y="4601718"/>
            <a:ext cx="487667" cy="14196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21854" y="4656582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522" y="4601718"/>
            <a:ext cx="2438339" cy="14196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522" y="4629150"/>
            <a:ext cx="2438339" cy="136474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[지점 카드] ~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필터 조건에 해당하는 지점 전량 노출 — 16개 기준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지점명 · 영업시간 `HH:MM ~ HH:MM` · 「오시는길」 링크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지점 확정 처리 후 오버레이 닫힘 &gt; 직전 화면을 %지점명% 기준으로 재호출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오시는길 선택 시 &gt; 지점 오시는길로 이동 / 화면 ID : HDP-STR0104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휴점일 : 영업시간 자리에 「금일 휴점」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§7 지점카드 · 컨셉키워드 K2 · FN-A02 · REQ-SI-001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1854" y="6089904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21854" y="6021324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21854" y="60899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522" y="6021324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522" y="60556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331(와이어프레임설계) W-01 원형 상속. 전역 오버레이라 breadcrumb 대신 호출 조건을 기재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880360"/>
            <a:ext cx="10241023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767676"/>
                </a:solidFill>
                <a:latin typeface="Pretendar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22326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Pretendard"/>
              </a:rPr>
              <a:t>4. 정보·안내형 — 대표 HDP-STR0102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HDP-STR0102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지점 홈 (%지점명%)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정보·안내형 · 지점축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지점안내 &gt; 현대백화점 본관 &gt; %지점명%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정보·안내형 수직 구조 · Header → 지점 컨텍스트 바 → 대표 비주얼 → 탭(절 구분) → 본문 블록 N → 관련 링크 → Footer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지점 확정 · 전체 서비스 제공]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38531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GNB · 통합검색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00784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73164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지금 보는 점포 %지점명% · 변경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1848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064258"/>
            <a:ext cx="3657508" cy="8229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352294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대표 비주얼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198196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942082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972943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층별안내 / 식당가 / 오시는길 / 이용안내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859786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3305556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370707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영업시간 · 휴점일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3223260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3737610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392277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특성 모듈</a:t>
            </a:r>
          </a:p>
        </p:txBody>
      </p:sp>
      <p:sp>
        <p:nvSpPr>
          <p:cNvPr id="30" name="Oval 29"/>
          <p:cNvSpPr/>
          <p:nvPr/>
        </p:nvSpPr>
        <p:spPr>
          <a:xfrm>
            <a:off x="3950109" y="365531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667" y="4409694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667" y="447484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진행 중 행사 링크</a:t>
            </a:r>
          </a:p>
        </p:txBody>
      </p:sp>
      <p:sp>
        <p:nvSpPr>
          <p:cNvPr id="33" name="Oval 32"/>
          <p:cNvSpPr/>
          <p:nvPr/>
        </p:nvSpPr>
        <p:spPr>
          <a:xfrm>
            <a:off x="3950109" y="4327397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[미제공 서비스 CASE]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10927" y="1371600"/>
            <a:ext cx="3657508" cy="754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0927" y="162534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%지점명% 미제공 안내</a:t>
            </a:r>
          </a:p>
        </p:txBody>
      </p:sp>
      <p:sp>
        <p:nvSpPr>
          <p:cNvPr id="38" name="Oval 37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4a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GNB 지점안내 또는 지점 선택(HDP-COM0114) 확정 시 &gt; %지점명% 지점 홈 노출. **화면 1개 × 지점 16 — 지점별 슬라이드를 따로 만들지 않는다**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21854" y="1371600"/>
            <a:ext cx="487667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522" y="1371600"/>
            <a:ext cx="2438339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522" y="1399032"/>
            <a:ext cx="2438339" cy="6789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[GNB]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지점안내 활성 상태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IA-010 · FN-B01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21854" y="2105406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1854" y="216027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522" y="2105406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522" y="2132838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[지점 컨텍스트 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%지점명% 노출 — 화면 진입 경로와 무관하게 항상 동일 위치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지점 선택(HDP-COM0114) 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컨셉키워드 K1 · P-TERM-01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21854" y="301066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1854" y="306552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9522" y="301066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522" y="303809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[지점 대표 비주얼]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Admin에서 등록한 지점 대표 이미지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최대 1개 등록 가능, 초과 등록 시 &gt; 최신 1건만 노출 처리 — 미등록 시 기본 이미지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FN-B02 · REQ-SI-002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21854" y="3915917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21854" y="3970781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09522" y="3915917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09522" y="3943349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[탭]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「층별안내」 선택 상태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층별안내 / 식당가 / 오시는길 / 이용안내 — 지점별 제공 항목만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같은 화면 안에서 본문 블록 전환 — 화면 이동 없음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N-04 탭 · IA-011~014 · FN-B03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21854" y="4992624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21854" y="5047487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9522" y="4992624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9522" y="5020056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[탭 — 미제공 서비스]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332(컨텐츠가이드설계) §6-2 빈 상태 2행 문구 노출 — "{지점명}에서는 제공하지 않는 서비스입니다."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버튼 「다른 지점 보기」 제공 — 선택 시 &gt; 지점 선택(HDP-COM0114) 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미제공 탭은 비활성 노출 — 목록에서 숨기지 않음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§6-2 · FN-B08 · 331(와이어프레임설계) W-04 미제공 안내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21854" y="6137910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21854" y="6069330"/>
            <a:ext cx="487667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21854" y="613791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00" b="0">
                <a:solidFill>
                  <a:srgbClr val="B3261E"/>
                </a:solidFill>
                <a:latin typeface="Pretendard"/>
              </a:rPr>
              <a:t>확인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09522" y="6069330"/>
            <a:ext cx="2438339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509522" y="6103620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B3261E"/>
                </a:solidFill>
                <a:latin typeface="Pretendard"/>
              </a:rPr>
              <a:t>지점 특성 모듈 종류 미확정 — 333(UI가이드정의) 미결 4번과 동일 항목, 343(설계리뷰및리팩토링)에서 확정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880360"/>
            <a:ext cx="10241023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767676"/>
                </a:solidFill>
                <a:latin typeface="Pretendar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22326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Pretendard"/>
              </a:rPr>
              <a:t>5. 콘텐츠 상세형 — 대표 HDP-BRD0103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HDP-BRD0103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브랜드 상세 (%브랜드명%)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콘텐츠 상세형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브랜드 &gt; 패션&amp;뷰티 &gt; %브랜드명%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콘텐츠 상세형 수직 구조 · Header → 대표 이미지 → 제목·메타 → 본문(Admin) → 관련 목록 → 목록으로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브랜드 콘텐츠 등록 상태]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브랜드 목록으로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8229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2023110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브랜드 대표 이미지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612898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678049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%브랜드명% · 카테고리 · 입점 지점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53060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3044952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3110103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브랜드 소개 본문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962656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3477006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662172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입점 지점 목록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3394709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4149090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433425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관련 브랜드</a:t>
            </a:r>
          </a:p>
        </p:txBody>
      </p:sp>
      <p:sp>
        <p:nvSpPr>
          <p:cNvPr id="30" name="Oval 29"/>
          <p:cNvSpPr/>
          <p:nvPr/>
        </p:nvSpPr>
        <p:spPr>
          <a:xfrm>
            <a:off x="3950109" y="406679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[콘텐츠 미등록 CASE]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0927" y="1371600"/>
            <a:ext cx="3657508" cy="754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0927" y="162534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준비 중 안내</a:t>
            </a:r>
          </a:p>
        </p:txBody>
      </p:sp>
      <p:sp>
        <p:nvSpPr>
          <p:cNvPr id="35" name="Oval 34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4a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브랜드 목록(HDP-BRD0120)에서 브랜드 카드 선택 시 진입. **화면 1개 × 브랜드 24 — 반복 인스턴스**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21854" y="1371600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522" y="1371600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522" y="1399032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[목록 복귀 링크]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「브랜드 목록」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직전 목록으로 이동 — 필터·스크롤 위치 보존 / 화면 ID : HDP-BRD0120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331(와이어프레임설계) 「막다른 화면 0」 · FN-C05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21854" y="2276856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21854" y="233172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09522" y="2276856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522" y="2304288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[브랜드 대표 이미지]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Admin에서 등록한 대표 이미지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미등록 시 &gt; 기본 이미지 노출 — 영역 비우지 않음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FN-C04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21854" y="318211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21854" y="323697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522" y="318211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522" y="320954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[제목·메타]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%브랜드명% · %카테고리% · 입점 지점 수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최대 2줄 노출, 2줄 초과 시 &gt; 말줄임(…)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§5-4 · FN-C04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21854" y="4087368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21854" y="4142232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09522" y="4087368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09522" y="4114800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[브랜드 소개 본문]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Admin에서 입력한 본문 노출 — 화면은 그릇이고 본문은 운영 콘텐츠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Admin 관리 X 영역 없음 — 전 영역 등록값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FN-C04 · REQ-BR-002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21854" y="4992624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21854" y="5047488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9522" y="4992624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522" y="5020056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[브랜드 소개 본문 — 미등록]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332(컨텐츠가이드설계) §6-2 빈 상태 3행 문구 노출 — "아직 브랜드 소개가 없습니다."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하위 블록은 비노출 처리 — 본문만 대체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§6-2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21854" y="5966460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21854" y="5897880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21854" y="596646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09522" y="5897880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09522" y="5932170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331(와이어프레임설계) W-06 상세형 원형 상속. 반복 인스턴스 24건이 이 골격 1개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880360"/>
            <a:ext cx="10241023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767676"/>
                </a:solidFill>
                <a:latin typeface="Pretendar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22326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Pretendard"/>
              </a:rPr>
              <a:t>6. 프로세스형 — 대표 HDP-CRD0150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HDP-CRD0150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신청정보입력(S2)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프로세스형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카드·상품권·멤버십 &gt; 현대백화점카드 &gt; 카드신청 &gt; 가족카드 추가신청 &gt; 신청정보입력(S2)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프로세스형 수직 구조 · Sub Header → 단계바 → 입력·확인 블록 → 밸리데이션 → 단일 액션 버튼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필수 미입력]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가족카드 추가신청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80022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4단계 중 2단계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167128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232279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신청인 정보 — 인증값 읽기전용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08483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599182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664333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 수령 방법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516885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3031236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096387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배송지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2948939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3463289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352844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약관 동의</a:t>
            </a:r>
          </a:p>
        </p:txBody>
      </p:sp>
      <p:sp>
        <p:nvSpPr>
          <p:cNvPr id="30" name="Oval 29"/>
          <p:cNvSpPr/>
          <p:nvPr/>
        </p:nvSpPr>
        <p:spPr>
          <a:xfrm>
            <a:off x="3950109" y="3380993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667" y="3895343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667" y="3960494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Validation Check</a:t>
            </a:r>
          </a:p>
        </p:txBody>
      </p:sp>
      <p:sp>
        <p:nvSpPr>
          <p:cNvPr id="33" name="Oval 32"/>
          <p:cNvSpPr/>
          <p:nvPr/>
        </p:nvSpPr>
        <p:spPr>
          <a:xfrm>
            <a:off x="3950109" y="3813047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67" y="4327397"/>
            <a:ext cx="3657508" cy="3429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67" y="4375404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36" name="Oval 35"/>
          <p:cNvSpPr/>
          <p:nvPr/>
        </p:nvSpPr>
        <p:spPr>
          <a:xfrm>
            <a:off x="3950109" y="4245101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[필수 충족 CASE]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0927" y="1371600"/>
            <a:ext cx="3657508" cy="3429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0927" y="141960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다음 — 활성</a:t>
            </a:r>
          </a:p>
        </p:txBody>
      </p:sp>
      <p:sp>
        <p:nvSpPr>
          <p:cNvPr id="41" name="Oval 40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8a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본인회원인증(S1) 완료 시 진입 &gt; 인증 정보 승계 상태로 노출. 직접 진입 시 &gt; S1으로 리다이렉트 처리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21854" y="1371600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522" y="1371600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522" y="1399032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[Sub Header]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신청 상품명 「가족카드 추가신청」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닫기 선택 시 &gt; 중단 경고 노출 — 「신청을 중단하시겠습니까? 입력하신 내용은 저장되지 않습니다.」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중단 확인 시 &gt; 카드 소개로 이동 / 화면 ID : HDP-CRD0101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FN-E08 · 331(와이어프레임설계) W-09 · 122(현시스템기초분석) H3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21854" y="2448306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21854" y="250317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522" y="2448306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522" y="2475738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[단계바]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4단계 중 2단계 활성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완료 단계는 완료 표기 · 이후 단계는 비활성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이전 단계 선택 시 &gt; 입력값 보존 상태로 S1 이동 / 화면 ID : HDP-CRD0149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331(와이어프레임설계) W-08·09·10 3단 구조 · FN-E02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21854" y="3525012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21854" y="357987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522" y="3525012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522" y="3552444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[신청인 정보]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S1 인증값 노출 — 읽기전용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성명 · 생년월일 · 연락처 — 형식 `%성명%` `YYYY.MM.DD` `010-0000-0000`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수정 시 &gt; S1 재인증 필요 안내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FN-E03 · 213(시스템요건분석) 인증 정책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21854" y="4601718"/>
            <a:ext cx="487667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21854" y="4656582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522" y="4601718"/>
            <a:ext cx="2438339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522" y="4629150"/>
            <a:ext cx="2438339" cy="11932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[카드 수령 방법]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미선택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지점 수령 / 배송 — 2종 단일 선택(라디오)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지점 수령 선택 시 &gt; 지점 선택(HDP-COM0114) 호출 후 %지점명% 반영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배송 선택 시 &gt; desc 5 배송지 영역 활성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C-05 선택 컨트롤 · FN-E04 · 컨셉키워드 K3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21854" y="5918454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21854" y="5849874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21854" y="591845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09522" y="5849874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09522" y="588416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331(와이어프레임설계) W-09 원형 상속. 공통 모듈 3종(본인인증·주소검색·약관동의)은 호출만 하고 정의는 343(설계리뷰및리팩토링) 몫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880360"/>
            <a:ext cx="10241023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767676"/>
                </a:solidFill>
                <a:latin typeface="Pretendard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22326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Pretendard"/>
              </a:rPr>
              <a:t>7. 조회·결과형 — 대표 HDP-CUL0186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HDP-CUL0186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대기 상태 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조회·결과형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문화센터·공연·전시 &gt; CH 1985·문화센터 &gt; 나의 강좌 &gt; 대기 상태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조회·결과형 수직 구조 · Header → 조건 입력부 → 조회 버튼 → 결과 영역(결과 N / 빈 상태) → 페이징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조건 미입력]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대기 상태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76593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대기 중 / 등록 완료 / 취소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098548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163699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신청 기간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01625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530602"/>
            <a:ext cx="3657508" cy="3429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578608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조회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448305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2928366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2993517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영역 미노출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2846069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[결과 0건 CASE]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10927" y="1371600"/>
            <a:ext cx="3657508" cy="754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0927" y="162534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목록 비어 있음</a:t>
            </a:r>
          </a:p>
        </p:txBody>
      </p:sp>
      <p:sp>
        <p:nvSpPr>
          <p:cNvPr id="32" name="Oval 31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5a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나의 강좌(HDP-CUL0130)에서 대기 신청 이력 보유 시 진입 / 정원 초과 레이어(HDP-COM0122)의 「대기 신청」 완료 후에도 진입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21854" y="1371600"/>
            <a:ext cx="487667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522" y="1371600"/>
            <a:ext cx="2438339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522" y="1399032"/>
            <a:ext cx="2438339" cy="6789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[Header]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타이틀 「대기 상태」 노출 — P-TERM-05 「나의 강좌」 하위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§5-3 P-TERM-05 · IA-038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21854" y="2105406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1854" y="216027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522" y="2105406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522" y="2132838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[상태 필터] (선택)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「대기 중」 선택 상태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대기 중 / 등록 완료 / 취소 — 3종 단일 선택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결과 목록 즉시 갱신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C-02 필터 · FN-D09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21854" y="318211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21854" y="323697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9522" y="318211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522" y="320954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[신청 기간] (선택)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최근 3개월 — 형식 `YYYY.MM.DD ~ YYYY.MM.DD`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최대 12개월 조회 가능, 12개월 초과 시 &gt; 안내 문구 노출 — "최대 12개월까지 조회할 수 있습니다."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FN-D09 · 213(시스템요건분석) 조회 정책 [가정]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21854" y="4087367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21854" y="4142231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522" y="4087367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522" y="4114799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[조회]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활성 노출 — 조건 전건 기본값 보유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결과 영역 노출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C-01 버튼 주요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1854" y="5061204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21854" y="4992624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21854" y="50612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522" y="4992624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522" y="50269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312(유저플로우설계) 신규 발견②. 원 요구서에 없던 화면 — 플로우 공백에서 도출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21854" y="5335524"/>
            <a:ext cx="487667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21854" y="54041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00" b="0">
                <a:solidFill>
                  <a:srgbClr val="B3261E"/>
                </a:solidFill>
                <a:latin typeface="Pretendard"/>
              </a:rPr>
              <a:t>확인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522" y="5335524"/>
            <a:ext cx="2438339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522" y="53698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B3261E"/>
                </a:solidFill>
                <a:latin typeface="Pretendard"/>
              </a:rPr>
              <a:t>대기 → 등록 전환 알림 채널(문자·앱푸시·이메일) 미정 — 213(시스템요건분석) 이관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880360"/>
            <a:ext cx="10241023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767676"/>
                </a:solidFill>
                <a:latin typeface="Pretendard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22326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Pretendard"/>
              </a:rPr>
              <a:t>8. 예외·안내형 — 대표 HDP-COM0121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HDP-COM0121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결제 실패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예외·안내형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— 결제 단계에서 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예외·안내형 수직 구조 · (Header 비제공) → 상태 아이콘 → 무엇이 잘못됐나 → 왜 → 다음 행동 → 버튼 1~2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사유 미전달]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8229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65963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상태 아이콘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2249423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228028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결제가 완료되지 않았습니다.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216712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612897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678048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신청 내용은 그대로 있습니다. 다시 시도해 주세요.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530601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3044951"/>
            <a:ext cx="3657508" cy="3429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3092957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다시 시도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962655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3442715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50786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신청 취소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3360419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[사유 전달 CASE]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10927" y="1371600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0927" y="143675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PG 전달 사유 노출</a:t>
            </a:r>
          </a:p>
        </p:txBody>
      </p:sp>
      <p:sp>
        <p:nvSpPr>
          <p:cNvPr id="32" name="Oval 31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결제 요청 실패 응답 수신 시 &gt; **레이어로 호출.** 본화면 전환 금지 — 입력값이 소실되면 안내 문구가 거짓이 된다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21854" y="1371600"/>
            <a:ext cx="487667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522" y="1371600"/>
            <a:ext cx="2438339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522" y="1399032"/>
            <a:ext cx="2438339" cy="6789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[상태 아이콘]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오류 상태 아이콘 노출 — 색·형태는 421(UI디자인)에서 확정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331(와이어프레임설계) W-14 공통 골격 · 333(UI가이드정의) 미결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21854" y="2105406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1854" y="216027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522" y="2105406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522" y="2132838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[무엇이 잘못됐나]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332(컨텐츠가이드설계) §6 사전값 고정 — "결제가 완료되지 않았습니다."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문구를 이 문서에서 새로 쓰지 않음 — 사전 정본 인용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주어는 시스템·상황 — 비난 금지 규칙 적용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 결제 실패 · CT-21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21854" y="3182112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21854" y="323697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9522" y="3182112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522" y="3209544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[왜 — 사유 전달 케이스]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PG 전달 사유 노출 — %실패사유%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사유 미전달 시 &gt; 영역 비노출 처리 — 「알 수 없는 오류」 류 문구 금지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코드·상태값 노출 0 — 332(컨텐츠가이드설계) §6-1 규칙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§6-1 코드 노출 0 · 213(시스템요건분석) PG 연동 [미결]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21854" y="4258817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21854" y="4313681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522" y="4258817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522" y="4286249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[다음 행동]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332(컨텐츠가이드설계) §6 사전값 고정 — "신청 내용은 그대로 있습니다. 다시 시도해 주세요."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**이 문장이 화면 유형을 결정했다** — 레이어라서 입력값이 보존되므로 참이 된다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 · 132(수행계획수립) 재산정 근거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21854" y="5164074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21854" y="5218937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09522" y="5164074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522" y="5191506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[다시 시도]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활성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레이어 닫힘 후 결제 재요청 — 입력값 보존 상태 유지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331(와이어프레임설계) 「막다른 화면 0」 · 333(UI가이드정의) C-01 버튼 주요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21854" y="6137910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21854" y="6069330"/>
            <a:ext cx="487667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21854" y="613791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00" b="0">
                <a:solidFill>
                  <a:srgbClr val="B3261E"/>
                </a:solidFill>
                <a:latin typeface="Pretendard"/>
              </a:rPr>
              <a:t>확인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522" y="6069330"/>
            <a:ext cx="2438339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522" y="6103620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B3261E"/>
                </a:solidFill>
                <a:latin typeface="Pretendard"/>
              </a:rPr>
              <a:t>PG 실패 사유 코드 매핑표 미확보 — 213(시스템요건분석) 이관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