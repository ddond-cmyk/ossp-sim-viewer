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6159" y="720090"/>
            <a:ext cx="731501" cy="342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836676"/>
            <a:ext cx="10972525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retendard"/>
              </a:rPr>
              <a:t>디자인 시안전략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159" y="1714500"/>
            <a:ext cx="10972525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B0B0B0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159" y="4800600"/>
            <a:ext cx="5486262" cy="12344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구분   보고 — 방향 승인 게이트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버전   V1.1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작성자   크리에이티브디렉터</a:t>
            </a:r>
          </a:p>
          <a:p>
            <a:pPr algn="l"/>
            <a:r>
              <a:rPr sz="1050" b="0">
                <a:solidFill>
                  <a:srgbClr val="A0A0A0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1482" y="521208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300" b="0">
                <a:solidFill>
                  <a:srgbClr val="D8D8D8"/>
                </a:solidFill>
                <a:latin typeface="Pretendard"/>
              </a:rPr>
              <a:t>2026-08-10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159" y="6309360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문서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7315017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67" y="1371600"/>
            <a:ext cx="975335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7667" y="1426464"/>
            <a:ext cx="975335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03" y="1371600"/>
            <a:ext cx="1463003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03" y="1426464"/>
            <a:ext cx="1463003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6" y="1371600"/>
            <a:ext cx="7315017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06" y="1426464"/>
            <a:ext cx="7315017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023" y="1371600"/>
            <a:ext cx="1706837" cy="37719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023" y="1426464"/>
            <a:ext cx="1706837" cy="30175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" y="174879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178308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03" y="174879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03" y="178308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6" y="174879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06" y="178308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변형 3안 · 선별 6화면 10벌 · 검토 루브릭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023" y="174879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023" y="178308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크리에이티브디렉터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667" y="216027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219456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v1.1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03" y="216027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03" y="219456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06" y="216027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06" y="219456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보고 덱 재구성 + 실물 시안 10벌 생성 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023" y="216027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023" y="219456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크리에이티브디렉터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디자인 시안전략 · 전제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먼저 밝힐 것 — 감성 근거가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정석은 무드보드 위에 방향을 세우는 것이다. 232 감성/이미지조사가 계약 범위 밖이라 없다.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5364345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14500"/>
            <a:ext cx="73150" cy="15087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51" y="179679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무드보드 없이 방향을 잡으면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51" y="2228850"/>
            <a:ext cx="5047361" cy="92583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디자이너 취향이 근거가 된다.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그래서 대체 근거를 4순위로 훑었다.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9681" y="1714500"/>
            <a:ext cx="5364345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9681" y="1714500"/>
            <a:ext cx="73150" cy="15087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365" y="179679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아래 3안의 지위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365" y="2228850"/>
            <a:ext cx="5047361" cy="92583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컨셉에서 연역한 것이지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감성에서 귀납한 것이 아니다.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3497580"/>
            <a:ext cx="1121635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67" y="3497580"/>
            <a:ext cx="73150" cy="6858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60" y="3662172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1. 확정 브랜드 자산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5591" y="3675888"/>
            <a:ext cx="316984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해피니스 산스 · 더현대 로고타입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7349" y="3675888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7F37"/>
                </a:solidFill>
                <a:latin typeface="Pretendard"/>
              </a:rPr>
              <a:t>✅ 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601" y="3675888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서체가 이미 고정 — 타이포 실험 폭이 좁다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667" y="4224528"/>
            <a:ext cx="1121635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667" y="4224528"/>
            <a:ext cx="73150" cy="6858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460" y="4389120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2. UX컨셉 키워드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5591" y="4402836"/>
            <a:ext cx="316984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컨셉키워드 K1~K4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7349" y="4402836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7F37"/>
                </a:solidFill>
                <a:latin typeface="Pretendard"/>
              </a:rPr>
              <a:t>✅ 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601" y="4402836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컨셉이 이미 시각 제약을 담고 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667" y="4951476"/>
            <a:ext cx="1121635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67" y="4951476"/>
            <a:ext cx="73150" cy="685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460" y="5116068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3. 확정 언어 결정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5591" y="5129784"/>
            <a:ext cx="316984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332 Voice [관측 기반 추정]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7349" y="5129784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◐ 추정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4601" y="5129784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“덜어내는 시각 태도”로 번역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7667" y="5678424"/>
            <a:ext cx="11216359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7667" y="5678424"/>
            <a:ext cx="73150" cy="6858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460" y="5843016"/>
            <a:ext cx="268217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4. 현행 자산 관측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35591" y="5856732"/>
            <a:ext cx="3169840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AS-IS 화면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7349" y="5856732"/>
            <a:ext cx="97533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B3261E"/>
                </a:solidFill>
                <a:latin typeface="Pretendard"/>
              </a:rPr>
              <a:t>❌ 없음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4601" y="5856732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122가 구조 컬럼만 사용 — 현행 레이아웃을 본 적 없다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디자인 시안전략 ·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컨셉이 이미 시각 제약을 담고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무드보드를 대신하는 가장 강한 근거 — 키워드 4개를 시각 요구로 번역했다.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14500"/>
            <a:ext cx="11216359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01" y="1824228"/>
            <a:ext cx="3291757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K1 어느 점포인가로 시작한다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093" y="1810512"/>
            <a:ext cx="3657508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지점이 항상 보이되 콘텐츠를 밀어내지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01" y="2221992"/>
            <a:ext cx="10850608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컨텍스트 바가 전 화면 상단에 상주 — 무거우면 매 화면에서 면적을 잃는다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67" y="2674620"/>
            <a:ext cx="11216359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01" y="2784348"/>
            <a:ext cx="3291757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K2 한 번 만들고 지점마다 붙인다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93" y="2770632"/>
            <a:ext cx="3657508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반복이 견디는 절제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01" y="3182112"/>
            <a:ext cx="10850608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지점 템플릿 1종이 16번 반복 — 장식적 요소는 16번 보면 피로하다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3634740"/>
            <a:ext cx="11216359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01" y="3744468"/>
            <a:ext cx="3291757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K3 채널이 가르지 않는다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093" y="3730752"/>
            <a:ext cx="3657508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PC·MWEB이 같은 인상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01" y="4142232"/>
            <a:ext cx="10850608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채널마다 다른 스타일을 쓰면 통일 컨셉이 시각에서 깨진다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4594860"/>
            <a:ext cx="11216359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01" y="4704587"/>
            <a:ext cx="3291757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Pretendard"/>
              </a:rPr>
              <a:t>K4 막혔을 때 갈 곳을 먼저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093" y="4690872"/>
            <a:ext cx="3657508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예외 화면도 브랜드 안에 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01" y="5102352"/>
            <a:ext cx="10850608" cy="315467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오류 화면을 시스템 기본값으로 두면 신뢰가 거기서 끊긴다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667" y="576072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Pretendard"/>
              </a:rPr>
              <a:t>K2가 가장 강한 제약이다 — “반복이 견디는가”가 이 프로젝트 시안의 1차 합격 기준이다.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Pretendard"/>
              </a:rPr>
              <a:t>한 장만 보고 판단하면 안 되고 같은 템플릿을 여러 지점 데이터로 반복해서 봐야 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767676"/>
                </a:solidFill>
                <a:latin typeface="Pretendard"/>
              </a:rPr>
              <a:t>전체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468880"/>
            <a:ext cx="10484857" cy="1783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덜어낸 화면 위에</a:t>
            </a:r>
          </a:p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지점의 성격만 얹는다.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38912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767676"/>
                </a:solidFill>
                <a:latin typeface="Pretendard"/>
              </a:rPr>
              <a:t>서체·로고가 고정이므로 시각 개성은 여백·정렬·위계에서 나온다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디자인 시안전략 · 변형 A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67" y="548640"/>
            <a:ext cx="1097252" cy="548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658368"/>
            <a:ext cx="109725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521208"/>
            <a:ext cx="6095847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정보 우선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518" y="672084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0">
                <a:solidFill>
                  <a:srgbClr val="767676"/>
                </a:solidFill>
                <a:latin typeface="Pretendard"/>
              </a:rPr>
              <a:t>전략적 베팅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7" y="130302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“한 화면에서 더 많이 판단하게 한다”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1920240"/>
            <a:ext cx="5364345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667" y="1920240"/>
            <a:ext cx="73150" cy="2057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51" y="200253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토큰이 구현하는 차이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51" y="2434590"/>
            <a:ext cx="5047361" cy="14744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간격 ×0.75 (밀도↑)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대표 비주얼 120px (최소)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accent = 1px 선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라운드 2px (도구적)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681" y="1920240"/>
            <a:ext cx="5364345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9681" y="1920240"/>
            <a:ext cx="73150" cy="2057400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365" y="200253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3축 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365" y="2434590"/>
            <a:ext cx="5047361" cy="14744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정보 밀도 상 · 개성 표현 하 · 거래 신뢰 중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/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스크롤을 줄이고 밀도를 올린다. 반복 피로에 가장 강하지만 지점 개성이 약하다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4251960"/>
            <a:ext cx="11216359" cy="8229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01" y="4389120"/>
            <a:ext cx="10850608" cy="6172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변형은 무작위 변주가 아니라 각기 다른 전략적 베팅이다 — 어느 안을 고르든 무엇을 얻고 무엇을 포기하는지가 위 3축에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디자인 시안전략 · 변형 B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67" y="548640"/>
            <a:ext cx="1097252" cy="548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658368"/>
            <a:ext cx="109725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521208"/>
            <a:ext cx="6095847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지점의 얼굴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518" y="672084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0">
                <a:solidFill>
                  <a:srgbClr val="767676"/>
                </a:solidFill>
                <a:latin typeface="Pretendard"/>
              </a:rPr>
              <a:t>전략적 베팅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7" y="130302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Pretendard"/>
              </a:rPr>
              <a:t>“지점마다 다른 인상을 준다”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1920240"/>
            <a:ext cx="5364345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667" y="1920240"/>
            <a:ext cx="73150" cy="2057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51" y="200253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토큰이 구현하는 차이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51" y="2434590"/>
            <a:ext cx="5047361" cy="14744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간격 ×1.25 (여백↑)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대표 비주얼 320px (지배적)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accent = 면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라운드 12px (부드러움)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681" y="1920240"/>
            <a:ext cx="5364345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9681" y="1920240"/>
            <a:ext cx="73150" cy="2057400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365" y="200253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3축 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365" y="2434590"/>
            <a:ext cx="5047361" cy="14744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정보 밀도 하 · 개성 표현 상 · 거래 신뢰 중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/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K2 「반복이 견디는가」의 최대 시험대 — 16지점 반복 검증이 필수다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4251960"/>
            <a:ext cx="11216359" cy="8229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01" y="4389120"/>
            <a:ext cx="10850608" cy="6172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변형은 무작위 변주가 아니라 각기 다른 전략적 베팅이다 — 어느 안을 고르든 무엇을 얻고 무엇을 포기하는지가 위 3축에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디자인 시안전략 · 변형 C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67" y="548640"/>
            <a:ext cx="1097252" cy="5486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658368"/>
            <a:ext cx="1097252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754" y="521208"/>
            <a:ext cx="6095847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거래 신뢰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518" y="672084"/>
            <a:ext cx="365750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950" b="0">
                <a:solidFill>
                  <a:srgbClr val="767676"/>
                </a:solidFill>
                <a:latin typeface="Pretendard"/>
              </a:rPr>
              <a:t>전략적 베팅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67" y="130302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B3261E"/>
                </a:solidFill>
                <a:latin typeface="Pretendard"/>
              </a:rPr>
              <a:t>“상태와 다음 행동이 항상 명료하다”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1920240"/>
            <a:ext cx="5364345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667" y="1920240"/>
            <a:ext cx="73150" cy="20574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51" y="200253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토큰이 구현하는 차이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51" y="2434590"/>
            <a:ext cx="5047361" cy="14744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간격 ×1.0 (기준)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대표 비주얼 160px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accent 보다 상태색이 위계 상위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경계선 강화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9681" y="1920240"/>
            <a:ext cx="5364345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9681" y="1920240"/>
            <a:ext cx="73150" cy="2057400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365" y="200253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3축 평가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365" y="2434590"/>
            <a:ext cx="5047361" cy="14744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정보 밀도 중 · 개성 표현 하 · 거래 신뢰 상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/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K4 예외·실패 처리에 가장 유리 — 카드신청·문화센터 접수가 채널의 거래 중심이다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67" y="4251960"/>
            <a:ext cx="11216359" cy="8229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01" y="4389120"/>
            <a:ext cx="10850608" cy="6172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변형은 무작위 변주가 아니라 각기 다른 전략적 베팅이다 — 어느 안을 고르든 무엇을 얻고 무엇을 포기하는지가 위 3축에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디자인 시안전략 · 차별성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세 안이 실제로 다른가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3축 각각에서 최소 1안이 「상」이고 최소 1안이 「하」여야 비교가 성립한다.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69840" y="1645920"/>
            <a:ext cx="2560255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A 정보 우선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013" y="1645920"/>
            <a:ext cx="2560255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B 지점의 얼굴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186" y="1645920"/>
            <a:ext cx="2560255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C 거래 신뢰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67" y="2235708"/>
            <a:ext cx="256025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정보 밀도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3169840" y="2057400"/>
            <a:ext cx="2560255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9840" y="2208276"/>
            <a:ext cx="256025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013" y="2057400"/>
            <a:ext cx="25602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186" y="2057400"/>
            <a:ext cx="25602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667" y="3127248"/>
            <a:ext cx="256025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개성 표현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9840" y="2948940"/>
            <a:ext cx="25602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013" y="2948940"/>
            <a:ext cx="2560255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013" y="3099816"/>
            <a:ext cx="256025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34186" y="2948940"/>
            <a:ext cx="25602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67" y="4018788"/>
            <a:ext cx="256025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거래 신뢰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9840" y="3840480"/>
            <a:ext cx="25602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013" y="3840480"/>
            <a:ext cx="25602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34186" y="3840480"/>
            <a:ext cx="2560255" cy="82296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4186" y="3991356"/>
            <a:ext cx="2560255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67" y="5074920"/>
            <a:ext cx="11216359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대각선이 나왔다 — 세 안이 서로 다른 축에서 이긴다. 겹치면 「다 비슷한데요」가 나온다.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축이 겹쳤다면 안을 줄이는 게 맞다. 안 수를 늘리는 것이 아니라 축이 갈리는지가 기준이다.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디자인 시안전략 · 선별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15화면 전부가 아니라 6화면 10벌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의사결정이 필요한 화면에만 시안을 만든다. 전부 곱하면 제작 비용은 늘고 비교는 흐려진다.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08" y="1440180"/>
            <a:ext cx="243833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A 정보 우선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764" y="1440180"/>
            <a:ext cx="243833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B 지점의 얼굴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020" y="1440180"/>
            <a:ext cx="2438339" cy="3771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Pretendard"/>
              </a:rPr>
              <a:t>C 거래 신뢰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67" y="2029968"/>
            <a:ext cx="30479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W-02 메인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08" y="1851660"/>
            <a:ext cx="2438339" cy="58293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08" y="2002536"/>
            <a:ext cx="243833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764" y="1851660"/>
            <a:ext cx="2438339" cy="58293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764" y="2002536"/>
            <a:ext cx="243833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020" y="1851660"/>
            <a:ext cx="2438339" cy="58293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020" y="2002536"/>
            <a:ext cx="243833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67" y="2681478"/>
            <a:ext cx="30479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W-04 지점 템플릿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508" y="2503170"/>
            <a:ext cx="2438339" cy="58293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508" y="2654046"/>
            <a:ext cx="243833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764" y="2503170"/>
            <a:ext cx="2438339" cy="58293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764" y="2654046"/>
            <a:ext cx="243833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020" y="2503170"/>
            <a:ext cx="243833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667" y="3332988"/>
            <a:ext cx="30479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W-01 지점 선택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508" y="3154680"/>
            <a:ext cx="2438339" cy="58293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08" y="3305556"/>
            <a:ext cx="243833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764" y="3154680"/>
            <a:ext cx="243833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020" y="3154680"/>
            <a:ext cx="243833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667" y="3984498"/>
            <a:ext cx="30479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W-12 VIP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508" y="3806190"/>
            <a:ext cx="2438339" cy="58293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08" y="3957066"/>
            <a:ext cx="243833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764" y="3806190"/>
            <a:ext cx="243833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020" y="3806190"/>
            <a:ext cx="2438339" cy="58293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020" y="3957066"/>
            <a:ext cx="243833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67" y="4636007"/>
            <a:ext cx="30479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W-14 예외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508" y="4457700"/>
            <a:ext cx="243833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764" y="4457700"/>
            <a:ext cx="243833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020" y="4457700"/>
            <a:ext cx="2438339" cy="58293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020" y="4608576"/>
            <a:ext cx="243833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667" y="5287517"/>
            <a:ext cx="30479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W-08 거래 S1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508" y="5109210"/>
            <a:ext cx="243833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764" y="5109210"/>
            <a:ext cx="2438339" cy="58293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78020" y="5109210"/>
            <a:ext cx="2438339" cy="58293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020" y="5260086"/>
            <a:ext cx="243833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7667" y="6103620"/>
            <a:ext cx="11216359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계 10벌. 선정 4축 — ①상류 보류가 걸린 화면 ②신규 구조 ③인상을 좌우 ④원형(하류가 상속).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제외된 9화면은 위 6화면의 원형을 상속하므로 별도 시안이 판단을 더 만들지 않는다.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디자인 시안전략 · 게이트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픽셀이 아니라 방향을 승인받는다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이 자리에서 정해야 할 것과 정하지 않을 것을 갈라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5364345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83080"/>
            <a:ext cx="73150" cy="20574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51" y="186537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이 게이트에서 정하는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51" y="2297430"/>
            <a:ext cx="5047361" cy="14744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· 세 안 중 어느 방향으로 갈 것인가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· 다른 안의 어떤 요소를 접붙일 것인가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· K2 반복 내성이 확인됐는가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  (지점 3곳 이상 데이터 대입본으로)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9681" y="1783080"/>
            <a:ext cx="5364345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9681" y="1783080"/>
            <a:ext cx="73150" cy="2057400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365" y="1865376"/>
            <a:ext cx="3901342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이 게이트에서 정하지 않는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365" y="2297430"/>
            <a:ext cx="5047361" cy="14744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· 정확한 색값 — 브랜드 팔레트 미확보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· 픽셀 단위 여백·정렬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· 컴포넌트 전 variant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  → 351 스타일가이드 · 421 UI디자인의 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4114800"/>
            <a:ext cx="1121635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67" y="4114800"/>
            <a:ext cx="73150" cy="13716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51" y="4197096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승인 후 무엇이 일어나나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51" y="4629150"/>
            <a:ext cx="10899375" cy="7886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채택안의 토큰이 351 스타일가이드 tokens.css 값으로 확정된다 — 현재 [가정값]으로 격리해 둔 자리다.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그 시점에 423 퍼블리싱은 값 교체 1파일로 반영된다. 즉 이 승인이 늦어도 하류는 멈추지 않는다.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디자인 시안전략 ·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승인 전에 알아야 할 것 3가지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이 전략이 서 있지 않은 곳 — 숨기면 시안 제작 단계에서 더 비싸게 돌아온다.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11216359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83080"/>
            <a:ext cx="73150" cy="12344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51" y="1865376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감성 근거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51" y="2297430"/>
            <a:ext cx="10899375" cy="6515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무드보드 부재(232 계약 범위 밖) — 방향은 컨셉 연역이지 감성 귀납이 아니다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67" y="3154680"/>
            <a:ext cx="11216359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67" y="3154680"/>
            <a:ext cx="73150" cy="12344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51" y="3236976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브랜드 팔레트 미확보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51" y="3669030"/>
            <a:ext cx="10899375" cy="6515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색으로는 세 안을 가를 수 없다 — 변형이 가르는 것은 구성 축(밀도·비주얼·accent·라운드)이다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4526280"/>
            <a:ext cx="11216359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67" y="4526280"/>
            <a:ext cx="73150" cy="12344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51" y="4608576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현행 화면 미관측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51" y="5040630"/>
            <a:ext cx="10899375" cy="6515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122가 구조 컬럼만 사용 — “무엇이 바뀌는지”를 구조 수준에서만 말할 수 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767676"/>
                </a:solidFill>
                <a:latin typeface="Pretendard"/>
              </a:rPr>
              <a:t>승인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468880"/>
            <a:ext cx="10484857" cy="1783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어느 방향으로</a:t>
            </a:r>
          </a:p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시안을 확정할까요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389120"/>
            <a:ext cx="10241023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767676"/>
                </a:solidFill>
                <a:latin typeface="Pretendard"/>
              </a:rPr>
              <a:t>A 정보 우선 · B 지점의 얼굴 · C 거래 신뢰 — 접붙일 요소를 함께 지정해 주십시오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디자인 시안전략 ·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