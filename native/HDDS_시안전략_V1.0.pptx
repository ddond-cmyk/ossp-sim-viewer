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75335" y="2194560"/>
            <a:ext cx="10241023" cy="822960"/>
          </a:xfrm>
          <a:prstGeom prst="rect">
            <a:avLst/>
          </a:prstGeom>
          <a:noFill/>
        </p:spPr>
        <p:txBody>
          <a:bodyPr wrap="square" lIns="36000" rIns="36000" tIns="18000" bIns="18000">
            <a:spAutoFit/>
          </a:bodyPr>
          <a:lstStyle/>
          <a:p>
            <a:pPr algn="l"/>
            <a:r>
              <a:rPr sz="3400" b="1">
                <a:solidFill>
                  <a:srgbClr val="FFFFFF"/>
                </a:solidFill>
                <a:latin typeface="Pretendard"/>
              </a:rPr>
              <a:t>디자인 시안전략</a:t>
            </a:r>
          </a:p>
        </p:txBody>
      </p:sp>
      <p:sp>
        <p:nvSpPr>
          <p:cNvPr id="4" name="TextBox 3"/>
          <p:cNvSpPr txBox="1"/>
          <p:nvPr/>
        </p:nvSpPr>
        <p:spPr>
          <a:xfrm>
            <a:off x="975335" y="3086100"/>
            <a:ext cx="10241023" cy="411480"/>
          </a:xfrm>
          <a:prstGeom prst="rect">
            <a:avLst/>
          </a:prstGeom>
          <a:noFill/>
        </p:spPr>
        <p:txBody>
          <a:bodyPr wrap="square" lIns="36000" rIns="36000" tIns="18000" bIns="18000">
            <a:spAutoFit/>
          </a:bodyPr>
          <a:lstStyle/>
          <a:p>
            <a:pPr algn="l"/>
            <a:r>
              <a:rPr sz="1500" b="0">
                <a:solidFill>
                  <a:srgbClr val="C8C8C8"/>
                </a:solidFill>
                <a:latin typeface="Pretendard"/>
              </a:rPr>
              <a:t>현대백화점 자사채널(PC·MWEB) 개선</a:t>
            </a:r>
          </a:p>
        </p:txBody>
      </p:sp>
      <p:sp>
        <p:nvSpPr>
          <p:cNvPr id="5" name="TextBox 4"/>
          <p:cNvSpPr txBox="1"/>
          <p:nvPr/>
        </p:nvSpPr>
        <p:spPr>
          <a:xfrm>
            <a:off x="975335" y="4251960"/>
            <a:ext cx="10241023" cy="1371600"/>
          </a:xfrm>
          <a:prstGeom prst="rect">
            <a:avLst/>
          </a:prstGeom>
          <a:noFill/>
        </p:spPr>
        <p:txBody>
          <a:bodyPr wrap="square" lIns="36000" rIns="36000" tIns="18000" bIns="18000">
            <a:spAutoFit/>
          </a:bodyPr>
          <a:lstStyle/>
          <a:p>
            <a:pPr algn="l"/>
            <a:r>
              <a:rPr sz="1100" b="0">
                <a:solidFill>
                  <a:srgbClr val="A8A8A8"/>
                </a:solidFill>
                <a:latin typeface="Pretendard"/>
              </a:rPr>
              <a:t>구분   보고</a:t>
            </a:r>
          </a:p>
          <a:p>
            <a:pPr algn="l"/>
            <a:r>
              <a:rPr sz="1100" b="0">
                <a:solidFill>
                  <a:srgbClr val="A8A8A8"/>
                </a:solidFill>
                <a:latin typeface="Pretendard"/>
              </a:rPr>
              <a:t>버전   V1.0</a:t>
            </a:r>
          </a:p>
          <a:p>
            <a:pPr algn="l"/>
            <a:r>
              <a:rPr sz="1100" b="0">
                <a:solidFill>
                  <a:srgbClr val="A8A8A8"/>
                </a:solidFill>
                <a:latin typeface="Pretendard"/>
              </a:rPr>
              <a:t>작성일   2026-08-10</a:t>
            </a:r>
          </a:p>
          <a:p>
            <a:pPr algn="l"/>
            <a:r>
              <a:rPr sz="1100" b="0">
                <a:solidFill>
                  <a:srgbClr val="A8A8A8"/>
                </a:solidFill>
                <a:latin typeface="Pretendard"/>
              </a:rPr>
              <a:t>작성자   크리에이티브디렉터</a:t>
            </a:r>
          </a:p>
          <a:p>
            <a:pPr algn="l"/>
            <a:r>
              <a:rPr sz="1100" b="0">
                <a:solidFill>
                  <a:srgbClr val="A8A8A8"/>
                </a:solidFill>
                <a:latin typeface="Pretendard"/>
              </a:rPr>
              <a:t>프로젝트   C2202500</a:t>
            </a:r>
          </a:p>
        </p:txBody>
      </p:sp>
      <p:sp>
        <p:nvSpPr>
          <p:cNvPr id="6" name="TextBox 5"/>
          <p:cNvSpPr txBox="1"/>
          <p:nvPr/>
        </p:nvSpPr>
        <p:spPr>
          <a:xfrm>
            <a:off x="975335" y="6172200"/>
            <a:ext cx="10241023" cy="342900"/>
          </a:xfrm>
          <a:prstGeom prst="rect">
            <a:avLst/>
          </a:prstGeom>
          <a:noFill/>
        </p:spPr>
        <p:txBody>
          <a:bodyPr wrap="square" lIns="36000" rIns="36000" tIns="18000" bIns="18000">
            <a:spAutoFit/>
          </a:bodyPr>
          <a:lstStyle/>
          <a:p>
            <a:pPr algn="l"/>
            <a:r>
              <a:rPr sz="1000" b="0">
                <a:solidFill>
                  <a:srgbClr val="888888"/>
                </a:solidFill>
                <a:latin typeface="Pretendard"/>
              </a:rPr>
              <a:t>VinylC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50" y="274320"/>
            <a:ext cx="7315017" cy="411480"/>
          </a:xfrm>
          <a:prstGeom prst="rect">
            <a:avLst/>
          </a:prstGeom>
          <a:noFill/>
        </p:spPr>
        <p:txBody>
          <a:bodyPr wrap="square" lIns="36000" rIns="36000" tIns="18000" bIns="18000">
            <a:spAutoFit/>
          </a:bodyPr>
          <a:lstStyle/>
          <a:p>
            <a:pPr algn="l"/>
            <a:r>
              <a:rPr sz="1800" b="1">
                <a:solidFill>
                  <a:srgbClr val="1A1A1A"/>
                </a:solidFill>
                <a:latin typeface="Pretendard"/>
              </a:rPr>
              <a:t>개정이력</a:t>
            </a:r>
          </a:p>
        </p:txBody>
      </p:sp>
      <p:sp>
        <p:nvSpPr>
          <p:cNvPr id="3" name="Rectangle 2"/>
          <p:cNvSpPr/>
          <p:nvPr/>
        </p:nvSpPr>
        <p:spPr>
          <a:xfrm>
            <a:off x="365750" y="822960"/>
            <a:ext cx="975335" cy="34290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50" y="864108"/>
            <a:ext cx="975335" cy="274320"/>
          </a:xfrm>
          <a:prstGeom prst="rect">
            <a:avLst/>
          </a:prstGeom>
          <a:noFill/>
        </p:spPr>
        <p:txBody>
          <a:bodyPr wrap="square" lIns="36000" rIns="36000" tIns="18000" bIns="18000">
            <a:spAutoFit/>
          </a:bodyPr>
          <a:lstStyle/>
          <a:p>
            <a:pPr algn="l"/>
            <a:r>
              <a:rPr sz="950" b="1">
                <a:solidFill>
                  <a:srgbClr val="1A1A1A"/>
                </a:solidFill>
                <a:latin typeface="Pretendard"/>
              </a:rPr>
              <a:t>버전</a:t>
            </a:r>
          </a:p>
        </p:txBody>
      </p:sp>
      <p:sp>
        <p:nvSpPr>
          <p:cNvPr id="5" name="Rectangle 4"/>
          <p:cNvSpPr/>
          <p:nvPr/>
        </p:nvSpPr>
        <p:spPr>
          <a:xfrm>
            <a:off x="1341086" y="822960"/>
            <a:ext cx="1463003" cy="34290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41086" y="864108"/>
            <a:ext cx="1463003" cy="274320"/>
          </a:xfrm>
          <a:prstGeom prst="rect">
            <a:avLst/>
          </a:prstGeom>
          <a:noFill/>
        </p:spPr>
        <p:txBody>
          <a:bodyPr wrap="square" lIns="36000" rIns="36000" tIns="18000" bIns="18000">
            <a:spAutoFit/>
          </a:bodyPr>
          <a:lstStyle/>
          <a:p>
            <a:pPr algn="l"/>
            <a:r>
              <a:rPr sz="950" b="1">
                <a:solidFill>
                  <a:srgbClr val="1A1A1A"/>
                </a:solidFill>
                <a:latin typeface="Pretendard"/>
              </a:rPr>
              <a:t>일자</a:t>
            </a:r>
          </a:p>
        </p:txBody>
      </p:sp>
      <p:sp>
        <p:nvSpPr>
          <p:cNvPr id="7" name="Rectangle 6"/>
          <p:cNvSpPr/>
          <p:nvPr/>
        </p:nvSpPr>
        <p:spPr>
          <a:xfrm>
            <a:off x="2804089" y="822960"/>
            <a:ext cx="7315017" cy="34290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04089" y="864108"/>
            <a:ext cx="7315017" cy="274320"/>
          </a:xfrm>
          <a:prstGeom prst="rect">
            <a:avLst/>
          </a:prstGeom>
          <a:noFill/>
        </p:spPr>
        <p:txBody>
          <a:bodyPr wrap="square" lIns="36000" rIns="36000" tIns="18000" bIns="18000">
            <a:spAutoFit/>
          </a:bodyPr>
          <a:lstStyle/>
          <a:p>
            <a:pPr algn="l"/>
            <a:r>
              <a:rPr sz="950" b="1">
                <a:solidFill>
                  <a:srgbClr val="1A1A1A"/>
                </a:solidFill>
                <a:latin typeface="Pretendard"/>
              </a:rPr>
              <a:t>변경 내역</a:t>
            </a:r>
          </a:p>
        </p:txBody>
      </p:sp>
      <p:sp>
        <p:nvSpPr>
          <p:cNvPr id="9" name="Rectangle 8"/>
          <p:cNvSpPr/>
          <p:nvPr/>
        </p:nvSpPr>
        <p:spPr>
          <a:xfrm>
            <a:off x="10119106" y="822960"/>
            <a:ext cx="1706837" cy="34290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19106" y="864108"/>
            <a:ext cx="1706837" cy="274320"/>
          </a:xfrm>
          <a:prstGeom prst="rect">
            <a:avLst/>
          </a:prstGeom>
          <a:noFill/>
        </p:spPr>
        <p:txBody>
          <a:bodyPr wrap="square" lIns="36000" rIns="36000" tIns="18000" bIns="18000">
            <a:spAutoFit/>
          </a:bodyPr>
          <a:lstStyle/>
          <a:p>
            <a:pPr algn="l"/>
            <a:r>
              <a:rPr sz="950" b="1">
                <a:solidFill>
                  <a:srgbClr val="1A1A1A"/>
                </a:solidFill>
                <a:latin typeface="Pretendard"/>
              </a:rPr>
              <a:t>작성자</a:t>
            </a:r>
          </a:p>
        </p:txBody>
      </p:sp>
      <p:sp>
        <p:nvSpPr>
          <p:cNvPr id="11" name="Rectangle 10"/>
          <p:cNvSpPr/>
          <p:nvPr/>
        </p:nvSpPr>
        <p:spPr>
          <a:xfrm>
            <a:off x="365750" y="1165860"/>
            <a:ext cx="975335" cy="411480"/>
          </a:xfrm>
          <a:prstGeom prst="rect">
            <a:avLst/>
          </a:prstGeom>
          <a:no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50" y="1200150"/>
            <a:ext cx="975335" cy="370332"/>
          </a:xfrm>
          <a:prstGeom prst="rect">
            <a:avLst/>
          </a:prstGeom>
          <a:noFill/>
        </p:spPr>
        <p:txBody>
          <a:bodyPr wrap="square" lIns="36000" rIns="36000" tIns="18000" bIns="18000">
            <a:spAutoFit/>
          </a:bodyPr>
          <a:lstStyle/>
          <a:p>
            <a:pPr algn="l"/>
            <a:r>
              <a:rPr sz="850" b="0">
                <a:solidFill>
                  <a:srgbClr val="1A1A1A"/>
                </a:solidFill>
                <a:latin typeface="Pretendard"/>
              </a:rPr>
              <a:t>v0.1</a:t>
            </a:r>
          </a:p>
        </p:txBody>
      </p:sp>
      <p:sp>
        <p:nvSpPr>
          <p:cNvPr id="13" name="Rectangle 12"/>
          <p:cNvSpPr/>
          <p:nvPr/>
        </p:nvSpPr>
        <p:spPr>
          <a:xfrm>
            <a:off x="1341086" y="1165860"/>
            <a:ext cx="1463003" cy="411480"/>
          </a:xfrm>
          <a:prstGeom prst="rect">
            <a:avLst/>
          </a:prstGeom>
          <a:no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1086" y="1200150"/>
            <a:ext cx="1463003" cy="370332"/>
          </a:xfrm>
          <a:prstGeom prst="rect">
            <a:avLst/>
          </a:prstGeom>
          <a:noFill/>
        </p:spPr>
        <p:txBody>
          <a:bodyPr wrap="square" lIns="36000" rIns="36000" tIns="18000" bIns="18000">
            <a:spAutoFit/>
          </a:bodyPr>
          <a:lstStyle/>
          <a:p>
            <a:pPr algn="l"/>
            <a:r>
              <a:rPr sz="850" b="0">
                <a:solidFill>
                  <a:srgbClr val="1A1A1A"/>
                </a:solidFill>
                <a:latin typeface="Pretendard"/>
              </a:rPr>
              <a:t>2026-08-10</a:t>
            </a:r>
          </a:p>
        </p:txBody>
      </p:sp>
      <p:sp>
        <p:nvSpPr>
          <p:cNvPr id="15" name="Rectangle 14"/>
          <p:cNvSpPr/>
          <p:nvPr/>
        </p:nvSpPr>
        <p:spPr>
          <a:xfrm>
            <a:off x="2804089" y="1165860"/>
            <a:ext cx="7315017" cy="411480"/>
          </a:xfrm>
          <a:prstGeom prst="rect">
            <a:avLst/>
          </a:prstGeom>
          <a:no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4089" y="1200150"/>
            <a:ext cx="7315017" cy="370332"/>
          </a:xfrm>
          <a:prstGeom prst="rect">
            <a:avLst/>
          </a:prstGeom>
          <a:noFill/>
        </p:spPr>
        <p:txBody>
          <a:bodyPr wrap="square" lIns="36000" rIns="36000" tIns="18000" bIns="18000">
            <a:spAutoFit/>
          </a:bodyPr>
          <a:lstStyle/>
          <a:p>
            <a:pPr algn="l"/>
            <a:r>
              <a:rPr sz="850" b="0">
                <a:solidFill>
                  <a:srgbClr val="1A1A1A"/>
                </a:solidFill>
                <a:latin typeface="Pretendard"/>
              </a:rPr>
              <a:t>초안작성 — 변형 3안·선별 6화면 10벌</a:t>
            </a:r>
          </a:p>
        </p:txBody>
      </p:sp>
      <p:sp>
        <p:nvSpPr>
          <p:cNvPr id="17" name="Rectangle 16"/>
          <p:cNvSpPr/>
          <p:nvPr/>
        </p:nvSpPr>
        <p:spPr>
          <a:xfrm>
            <a:off x="10119106" y="1165860"/>
            <a:ext cx="1706837" cy="411480"/>
          </a:xfrm>
          <a:prstGeom prst="rect">
            <a:avLst/>
          </a:prstGeom>
          <a:no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19106" y="1200150"/>
            <a:ext cx="1706837" cy="370332"/>
          </a:xfrm>
          <a:prstGeom prst="rect">
            <a:avLst/>
          </a:prstGeom>
          <a:noFill/>
        </p:spPr>
        <p:txBody>
          <a:bodyPr wrap="square" lIns="36000" rIns="36000" tIns="18000" bIns="18000">
            <a:spAutoFit/>
          </a:bodyPr>
          <a:lstStyle/>
          <a:p>
            <a:pPr algn="l"/>
            <a:r>
              <a:rPr sz="850" b="0">
                <a:solidFill>
                  <a:srgbClr val="1A1A1A"/>
                </a:solidFill>
                <a:latin typeface="Pretendard"/>
              </a:rPr>
              <a:t>크리에이티브디렉터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 감성 근거가 없다</a:t>
            </a:r>
          </a:p>
        </p:txBody>
      </p:sp>
      <p:sp>
        <p:nvSpPr>
          <p:cNvPr id="4" name="TextBox 3"/>
          <p:cNvSpPr txBox="1"/>
          <p:nvPr/>
        </p:nvSpPr>
        <p:spPr>
          <a:xfrm>
            <a:off x="487667" y="1097280"/>
            <a:ext cx="11216359" cy="377190"/>
          </a:xfrm>
          <a:prstGeom prst="rect">
            <a:avLst/>
          </a:prstGeom>
          <a:noFill/>
        </p:spPr>
        <p:txBody>
          <a:bodyPr wrap="square" lIns="36000" rIns="36000" tIns="18000" bIns="18000">
            <a:spAutoFit/>
          </a:bodyPr>
          <a:lstStyle/>
          <a:p>
            <a:pPr algn="l"/>
            <a:r>
              <a:rPr sz="1200" b="0">
                <a:solidFill>
                  <a:srgbClr val="767676"/>
                </a:solidFill>
                <a:latin typeface="Pretendard"/>
              </a:rPr>
              <a:t>대체 4순위로 채웠다</a:t>
            </a:r>
          </a:p>
        </p:txBody>
      </p:sp>
      <p:sp>
        <p:nvSpPr>
          <p:cNvPr id="5" name="Rectangle 4"/>
          <p:cNvSpPr/>
          <p:nvPr/>
        </p:nvSpPr>
        <p:spPr>
          <a:xfrm>
            <a:off x="48766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66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순위</a:t>
            </a:r>
          </a:p>
        </p:txBody>
      </p:sp>
      <p:sp>
        <p:nvSpPr>
          <p:cNvPr id="7" name="Rectangle 6"/>
          <p:cNvSpPr/>
          <p:nvPr/>
        </p:nvSpPr>
        <p:spPr>
          <a:xfrm>
            <a:off x="329175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75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근거</a:t>
            </a:r>
          </a:p>
        </p:txBody>
      </p:sp>
      <p:sp>
        <p:nvSpPr>
          <p:cNvPr id="9" name="Rectangle 8"/>
          <p:cNvSpPr/>
          <p:nvPr/>
        </p:nvSpPr>
        <p:spPr>
          <a:xfrm>
            <a:off x="609584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584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확보</a:t>
            </a:r>
          </a:p>
        </p:txBody>
      </p:sp>
      <p:sp>
        <p:nvSpPr>
          <p:cNvPr id="11" name="Rectangle 10"/>
          <p:cNvSpPr/>
          <p:nvPr/>
        </p:nvSpPr>
        <p:spPr>
          <a:xfrm>
            <a:off x="889993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993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읽어낸 것</a:t>
            </a:r>
          </a:p>
        </p:txBody>
      </p:sp>
      <p:sp>
        <p:nvSpPr>
          <p:cNvPr id="13" name="Rectangle 12"/>
          <p:cNvSpPr/>
          <p:nvPr/>
        </p:nvSpPr>
        <p:spPr>
          <a:xfrm>
            <a:off x="487667" y="1954530"/>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667" y="1981962"/>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1. 확정 브랜드 자산</a:t>
            </a:r>
          </a:p>
        </p:txBody>
      </p:sp>
      <p:sp>
        <p:nvSpPr>
          <p:cNvPr id="15" name="Rectangle 14"/>
          <p:cNvSpPr/>
          <p:nvPr/>
        </p:nvSpPr>
        <p:spPr>
          <a:xfrm>
            <a:off x="3291757" y="1954530"/>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757" y="1981962"/>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P-BRD-01 해피니스 산스(대체 불가) · P-BRD-02 더현대 로고타입 국/영문 가이드</a:t>
            </a:r>
          </a:p>
        </p:txBody>
      </p:sp>
      <p:sp>
        <p:nvSpPr>
          <p:cNvPr id="17" name="Rectangle 16"/>
          <p:cNvSpPr/>
          <p:nvPr/>
        </p:nvSpPr>
        <p:spPr>
          <a:xfrm>
            <a:off x="6095847" y="1954530"/>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5847" y="1981962"/>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a:t>
            </a:r>
          </a:p>
        </p:txBody>
      </p:sp>
      <p:sp>
        <p:nvSpPr>
          <p:cNvPr id="19" name="Rectangle 18"/>
          <p:cNvSpPr/>
          <p:nvPr/>
        </p:nvSpPr>
        <p:spPr>
          <a:xfrm>
            <a:off x="8899937" y="1954530"/>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99937" y="1981962"/>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서체가 이미 고정이다. 타이포 실험 폭이 좁다</a:t>
            </a:r>
          </a:p>
        </p:txBody>
      </p:sp>
      <p:sp>
        <p:nvSpPr>
          <p:cNvPr id="21" name="Rectangle 20"/>
          <p:cNvSpPr/>
          <p:nvPr/>
        </p:nvSpPr>
        <p:spPr>
          <a:xfrm>
            <a:off x="487667" y="2489453"/>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667" y="2516885"/>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2. UX컨셉 키워드</a:t>
            </a:r>
          </a:p>
        </p:txBody>
      </p:sp>
      <p:sp>
        <p:nvSpPr>
          <p:cNvPr id="23" name="Rectangle 22"/>
          <p:cNvSpPr/>
          <p:nvPr/>
        </p:nvSpPr>
        <p:spPr>
          <a:xfrm>
            <a:off x="3291757" y="2489453"/>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757" y="2516885"/>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컨셉키워드 K1~K4</a:t>
            </a:r>
          </a:p>
        </p:txBody>
      </p:sp>
      <p:sp>
        <p:nvSpPr>
          <p:cNvPr id="25" name="Rectangle 24"/>
          <p:cNvSpPr/>
          <p:nvPr/>
        </p:nvSpPr>
        <p:spPr>
          <a:xfrm>
            <a:off x="6095847" y="2489453"/>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5847" y="2516885"/>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a:t>
            </a:r>
          </a:p>
        </p:txBody>
      </p:sp>
      <p:sp>
        <p:nvSpPr>
          <p:cNvPr id="27" name="Rectangle 26"/>
          <p:cNvSpPr/>
          <p:nvPr/>
        </p:nvSpPr>
        <p:spPr>
          <a:xfrm>
            <a:off x="8899937" y="2489453"/>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9937" y="2516885"/>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§2 — 컨셉이 시각 제약을 담고 있다</a:t>
            </a:r>
          </a:p>
        </p:txBody>
      </p:sp>
      <p:sp>
        <p:nvSpPr>
          <p:cNvPr id="29" name="Rectangle 28"/>
          <p:cNvSpPr/>
          <p:nvPr/>
        </p:nvSpPr>
        <p:spPr>
          <a:xfrm>
            <a:off x="487667" y="2900934"/>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7667" y="2928366"/>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3. 확정 언어 결정</a:t>
            </a:r>
          </a:p>
        </p:txBody>
      </p:sp>
      <p:sp>
        <p:nvSpPr>
          <p:cNvPr id="31" name="Rectangle 30"/>
          <p:cNvSpPr/>
          <p:nvPr/>
        </p:nvSpPr>
        <p:spPr>
          <a:xfrm>
            <a:off x="3291757" y="2900934"/>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91757" y="2928366"/>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332(컨텐츠가이드설계) Voice [관측 기반 추정]</a:t>
            </a:r>
          </a:p>
        </p:txBody>
      </p:sp>
      <p:sp>
        <p:nvSpPr>
          <p:cNvPr id="33" name="Rectangle 32"/>
          <p:cNvSpPr/>
          <p:nvPr/>
        </p:nvSpPr>
        <p:spPr>
          <a:xfrm>
            <a:off x="6095847" y="2900934"/>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5847" y="2928366"/>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a:t>
            </a:r>
          </a:p>
        </p:txBody>
      </p:sp>
      <p:sp>
        <p:nvSpPr>
          <p:cNvPr id="35" name="Rectangle 34"/>
          <p:cNvSpPr/>
          <p:nvPr/>
        </p:nvSpPr>
        <p:spPr>
          <a:xfrm>
            <a:off x="8899937" y="2900934"/>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99937" y="2928366"/>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"사용자의 지금 상태를 사용자의 말로, 군더더기 없이" → 덜어내는 시각 태도</a:t>
            </a:r>
          </a:p>
        </p:txBody>
      </p:sp>
      <p:sp>
        <p:nvSpPr>
          <p:cNvPr id="37" name="Rectangle 36"/>
          <p:cNvSpPr/>
          <p:nvPr/>
        </p:nvSpPr>
        <p:spPr>
          <a:xfrm>
            <a:off x="487667" y="3435857"/>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7667" y="3463289"/>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4. 현행 자산 관측</a:t>
            </a:r>
          </a:p>
        </p:txBody>
      </p:sp>
      <p:sp>
        <p:nvSpPr>
          <p:cNvPr id="39" name="Rectangle 38"/>
          <p:cNvSpPr/>
          <p:nvPr/>
        </p:nvSpPr>
        <p:spPr>
          <a:xfrm>
            <a:off x="3291757" y="3435857"/>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757" y="3463289"/>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AS-IS 화면</a:t>
            </a:r>
          </a:p>
        </p:txBody>
      </p:sp>
      <p:sp>
        <p:nvSpPr>
          <p:cNvPr id="41" name="Rectangle 40"/>
          <p:cNvSpPr/>
          <p:nvPr/>
        </p:nvSpPr>
        <p:spPr>
          <a:xfrm>
            <a:off x="6095847" y="3435857"/>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5847" y="3463289"/>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a:t>
            </a:r>
          </a:p>
        </p:txBody>
      </p:sp>
      <p:sp>
        <p:nvSpPr>
          <p:cNvPr id="43" name="Rectangle 42"/>
          <p:cNvSpPr/>
          <p:nvPr/>
        </p:nvSpPr>
        <p:spPr>
          <a:xfrm>
            <a:off x="8899937" y="3435857"/>
            <a:ext cx="2804089"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99937" y="3463289"/>
            <a:ext cx="2804089" cy="480060"/>
          </a:xfrm>
          <a:prstGeom prst="rect">
            <a:avLst/>
          </a:prstGeom>
          <a:noFill/>
        </p:spPr>
        <p:txBody>
          <a:bodyPr wrap="square" lIns="36000" rIns="36000" tIns="18000" bIns="18000">
            <a:spAutoFit/>
          </a:bodyPr>
          <a:lstStyle/>
          <a:p>
            <a:pPr algn="l"/>
            <a:r>
              <a:rPr sz="800" b="0">
                <a:solidFill>
                  <a:srgbClr val="1A1A1A"/>
                </a:solidFill>
                <a:latin typeface="Pretendard"/>
              </a:rPr>
              <a:t>현행 화면 캡처 미확보(122(현시스템기초분석) 구조 컬럼만)</a:t>
            </a:r>
          </a:p>
        </p:txBody>
      </p:sp>
      <p:sp>
        <p:nvSpPr>
          <p:cNvPr id="45" name="TextBox 44"/>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46" name="TextBox 45"/>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컨셉이 이미 시각 제약을 담고 있다</a:t>
            </a:r>
          </a:p>
        </p:txBody>
      </p:sp>
      <p:sp>
        <p:nvSpPr>
          <p:cNvPr id="4" name="Rectangle 3"/>
          <p:cNvSpPr/>
          <p:nvPr/>
        </p:nvSpPr>
        <p:spPr>
          <a:xfrm>
            <a:off x="487667" y="1234440"/>
            <a:ext cx="3169840"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67" y="1289304"/>
            <a:ext cx="3169840" cy="301752"/>
          </a:xfrm>
          <a:prstGeom prst="rect">
            <a:avLst/>
          </a:prstGeom>
          <a:noFill/>
        </p:spPr>
        <p:txBody>
          <a:bodyPr wrap="square" lIns="36000" rIns="36000" tIns="18000" bIns="18000">
            <a:spAutoFit/>
          </a:bodyPr>
          <a:lstStyle/>
          <a:p>
            <a:pPr algn="l"/>
            <a:r>
              <a:rPr sz="900" b="1">
                <a:solidFill>
                  <a:srgbClr val="1A1A1A"/>
                </a:solidFill>
                <a:latin typeface="Pretendard"/>
              </a:rPr>
              <a:t>컨셉 키워드</a:t>
            </a:r>
          </a:p>
        </p:txBody>
      </p:sp>
      <p:sp>
        <p:nvSpPr>
          <p:cNvPr id="6" name="Rectangle 5"/>
          <p:cNvSpPr/>
          <p:nvPr/>
        </p:nvSpPr>
        <p:spPr>
          <a:xfrm>
            <a:off x="3657508"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08"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시각 요구</a:t>
            </a:r>
          </a:p>
        </p:txBody>
      </p:sp>
      <p:sp>
        <p:nvSpPr>
          <p:cNvPr id="8" name="Rectangle 7"/>
          <p:cNvSpPr/>
          <p:nvPr/>
        </p:nvSpPr>
        <p:spPr>
          <a:xfrm>
            <a:off x="7802684"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02684"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왜</a:t>
            </a:r>
          </a:p>
        </p:txBody>
      </p:sp>
      <p:sp>
        <p:nvSpPr>
          <p:cNvPr id="10" name="Rectangle 9"/>
          <p:cNvSpPr/>
          <p:nvPr/>
        </p:nvSpPr>
        <p:spPr>
          <a:xfrm>
            <a:off x="487667" y="1611630"/>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7667" y="1639062"/>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컨셉키워드 K1(어느 점포인가로 시작한다)</a:t>
            </a:r>
          </a:p>
        </p:txBody>
      </p:sp>
      <p:sp>
        <p:nvSpPr>
          <p:cNvPr id="12" name="Rectangle 11"/>
          <p:cNvSpPr/>
          <p:nvPr/>
        </p:nvSpPr>
        <p:spPr>
          <a:xfrm>
            <a:off x="3657508" y="161163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508" y="163906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지점이 항상 보이되 콘텐츠를 밀어내지 않는다</a:t>
            </a:r>
          </a:p>
        </p:txBody>
      </p:sp>
      <p:sp>
        <p:nvSpPr>
          <p:cNvPr id="14" name="Rectangle 13"/>
          <p:cNvSpPr/>
          <p:nvPr/>
        </p:nvSpPr>
        <p:spPr>
          <a:xfrm>
            <a:off x="7802684" y="161163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2684" y="163906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컨텍스트 바가 전 화면 상단에 상주한다. 무거우면 매 화면에서 면적을 잃는다</a:t>
            </a:r>
          </a:p>
        </p:txBody>
      </p:sp>
      <p:sp>
        <p:nvSpPr>
          <p:cNvPr id="16" name="Rectangle 15"/>
          <p:cNvSpPr/>
          <p:nvPr/>
        </p:nvSpPr>
        <p:spPr>
          <a:xfrm>
            <a:off x="487667" y="2146554"/>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667" y="2173986"/>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컨셉키워드 K2(한 번 만들고 지점마다 붙인다)</a:t>
            </a:r>
          </a:p>
        </p:txBody>
      </p:sp>
      <p:sp>
        <p:nvSpPr>
          <p:cNvPr id="18" name="Rectangle 17"/>
          <p:cNvSpPr/>
          <p:nvPr/>
        </p:nvSpPr>
        <p:spPr>
          <a:xfrm>
            <a:off x="3657508" y="214655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508" y="217398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반복이 견디는 절제</a:t>
            </a:r>
          </a:p>
        </p:txBody>
      </p:sp>
      <p:sp>
        <p:nvSpPr>
          <p:cNvPr id="20" name="Rectangle 19"/>
          <p:cNvSpPr/>
          <p:nvPr/>
        </p:nvSpPr>
        <p:spPr>
          <a:xfrm>
            <a:off x="7802684" y="214655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2684" y="217398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지점 템플릿 1종이 16번 반복된다. 장식적 요소는 16번 보면 피로하다</a:t>
            </a:r>
          </a:p>
        </p:txBody>
      </p:sp>
      <p:sp>
        <p:nvSpPr>
          <p:cNvPr id="22" name="Rectangle 21"/>
          <p:cNvSpPr/>
          <p:nvPr/>
        </p:nvSpPr>
        <p:spPr>
          <a:xfrm>
            <a:off x="487667" y="2681478"/>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7667" y="2708910"/>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컨셉키워드 K3(계정으로 할 수 있는 일을 채널이 가르지 않는다)</a:t>
            </a:r>
          </a:p>
        </p:txBody>
      </p:sp>
      <p:sp>
        <p:nvSpPr>
          <p:cNvPr id="24" name="Rectangle 23"/>
          <p:cNvSpPr/>
          <p:nvPr/>
        </p:nvSpPr>
        <p:spPr>
          <a:xfrm>
            <a:off x="3657508" y="2681478"/>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508" y="2708910"/>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PC·MWEB이 같은 인상</a:t>
            </a:r>
          </a:p>
        </p:txBody>
      </p:sp>
      <p:sp>
        <p:nvSpPr>
          <p:cNvPr id="26" name="Rectangle 25"/>
          <p:cNvSpPr/>
          <p:nvPr/>
        </p:nvSpPr>
        <p:spPr>
          <a:xfrm>
            <a:off x="7802684" y="2681478"/>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2684" y="2708910"/>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채널마다 다른 스타일을 쓰면 통일 컨셉이 시각에서 깨진다</a:t>
            </a:r>
          </a:p>
        </p:txBody>
      </p:sp>
      <p:sp>
        <p:nvSpPr>
          <p:cNvPr id="28" name="Rectangle 27"/>
          <p:cNvSpPr/>
          <p:nvPr/>
        </p:nvSpPr>
        <p:spPr>
          <a:xfrm>
            <a:off x="487667" y="3216402"/>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7667" y="3243834"/>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컨셉키워드 K4(막혔을 때 갈 곳을 먼저 만든다)</a:t>
            </a:r>
          </a:p>
        </p:txBody>
      </p:sp>
      <p:sp>
        <p:nvSpPr>
          <p:cNvPr id="30" name="Rectangle 29"/>
          <p:cNvSpPr/>
          <p:nvPr/>
        </p:nvSpPr>
        <p:spPr>
          <a:xfrm>
            <a:off x="3657508" y="3216402"/>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508" y="3243834"/>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예외 화면도 브랜드 안에 있다</a:t>
            </a:r>
          </a:p>
        </p:txBody>
      </p:sp>
      <p:sp>
        <p:nvSpPr>
          <p:cNvPr id="32" name="Rectangle 31"/>
          <p:cNvSpPr/>
          <p:nvPr/>
        </p:nvSpPr>
        <p:spPr>
          <a:xfrm>
            <a:off x="7802684" y="3216402"/>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02684" y="3243834"/>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오류 화면을 시스템 기본값으로 두면 신뢰가 거기서 끊긴다</a:t>
            </a:r>
          </a:p>
        </p:txBody>
      </p:sp>
      <p:sp>
        <p:nvSpPr>
          <p:cNvPr id="34" name="TextBox 33"/>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35" name="TextBox 34"/>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전체 방향</a:t>
            </a:r>
          </a:p>
        </p:txBody>
      </p:sp>
      <p:sp>
        <p:nvSpPr>
          <p:cNvPr id="4" name="TextBox 3"/>
          <p:cNvSpPr txBox="1"/>
          <p:nvPr/>
        </p:nvSpPr>
        <p:spPr>
          <a:xfrm>
            <a:off x="487667" y="1097280"/>
            <a:ext cx="11216359" cy="377190"/>
          </a:xfrm>
          <a:prstGeom prst="rect">
            <a:avLst/>
          </a:prstGeom>
          <a:noFill/>
        </p:spPr>
        <p:txBody>
          <a:bodyPr wrap="square" lIns="36000" rIns="36000" tIns="18000" bIns="18000">
            <a:spAutoFit/>
          </a:bodyPr>
          <a:lstStyle/>
          <a:p>
            <a:pPr algn="l"/>
            <a:r>
              <a:rPr sz="1200" b="0">
                <a:solidFill>
                  <a:srgbClr val="767676"/>
                </a:solidFill>
                <a:latin typeface="Pretendard"/>
              </a:rPr>
              <a:t>한 문단</a:t>
            </a:r>
          </a:p>
        </p:txBody>
      </p:sp>
      <p:sp>
        <p:nvSpPr>
          <p:cNvPr id="5" name="TextBox 4"/>
          <p:cNvSpPr txBox="1"/>
          <p:nvPr/>
        </p:nvSpPr>
        <p:spPr>
          <a:xfrm>
            <a:off x="487667" y="1577340"/>
            <a:ext cx="11216359" cy="4732020"/>
          </a:xfrm>
          <a:prstGeom prst="rect">
            <a:avLst/>
          </a:prstGeom>
          <a:noFill/>
        </p:spPr>
        <p:txBody>
          <a:bodyPr wrap="square" lIns="36000" rIns="36000" tIns="18000" bIns="18000">
            <a:spAutoFit/>
          </a:bodyPr>
          <a:lstStyle/>
          <a:p>
            <a:pPr algn="l"/>
            <a:r>
              <a:rPr sz="1150" b="0">
                <a:solidFill>
                  <a:srgbClr val="1A1A1A"/>
                </a:solidFill>
                <a:latin typeface="Pretendard"/>
              </a:rPr>
              <a:t>· 덜어낸 화면 위에 지점의 성격만 얹는다. 서체(해피니스 산스)와 로고는 이미 고정이므로 시각 개성은 레이아웃의 여백·정렬·위계에서 나온다. 반복되는 뼈대는 조용하게 두고, 지점 특성 모듈에서만 온도를 올린다. 예외·빈 상태까지 같은 언어로 만들어 실패하는 순간에도 브랜드 안에 있게 한다.</a:t>
            </a:r>
          </a:p>
        </p:txBody>
      </p:sp>
      <p:sp>
        <p:nvSpPr>
          <p:cNvPr id="6" name="TextBox 5"/>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7" name="TextBox 6"/>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시안 변형 3안</a:t>
            </a:r>
          </a:p>
        </p:txBody>
      </p:sp>
      <p:sp>
        <p:nvSpPr>
          <p:cNvPr id="4" name="TextBox 3"/>
          <p:cNvSpPr txBox="1"/>
          <p:nvPr/>
        </p:nvSpPr>
        <p:spPr>
          <a:xfrm>
            <a:off x="487667" y="1097280"/>
            <a:ext cx="11216359" cy="377190"/>
          </a:xfrm>
          <a:prstGeom prst="rect">
            <a:avLst/>
          </a:prstGeom>
          <a:noFill/>
        </p:spPr>
        <p:txBody>
          <a:bodyPr wrap="square" lIns="36000" rIns="36000" tIns="18000" bIns="18000">
            <a:spAutoFit/>
          </a:bodyPr>
          <a:lstStyle/>
          <a:p>
            <a:pPr algn="l"/>
            <a:r>
              <a:rPr sz="1200" b="0">
                <a:solidFill>
                  <a:srgbClr val="767676"/>
                </a:solidFill>
                <a:latin typeface="Pretendard"/>
              </a:rPr>
              <a:t>무작위 변주가 아니라 전략적 베팅</a:t>
            </a:r>
          </a:p>
        </p:txBody>
      </p:sp>
      <p:sp>
        <p:nvSpPr>
          <p:cNvPr id="5" name="Rectangle 4"/>
          <p:cNvSpPr/>
          <p:nvPr/>
        </p:nvSpPr>
        <p:spPr>
          <a:xfrm>
            <a:off x="487667" y="1577340"/>
            <a:ext cx="3169840"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667" y="1632204"/>
            <a:ext cx="3169840" cy="301752"/>
          </a:xfrm>
          <a:prstGeom prst="rect">
            <a:avLst/>
          </a:prstGeom>
          <a:noFill/>
        </p:spPr>
        <p:txBody>
          <a:bodyPr wrap="square" lIns="36000" rIns="36000" tIns="18000" bIns="18000">
            <a:spAutoFit/>
          </a:bodyPr>
          <a:lstStyle/>
          <a:p>
            <a:pPr algn="l"/>
            <a:r>
              <a:rPr sz="900" b="1">
                <a:solidFill>
                  <a:srgbClr val="1A1A1A"/>
                </a:solidFill>
                <a:latin typeface="Pretendard"/>
              </a:rPr>
              <a:t/>
            </a:r>
          </a:p>
        </p:txBody>
      </p:sp>
      <p:sp>
        <p:nvSpPr>
          <p:cNvPr id="7" name="Rectangle 6"/>
          <p:cNvSpPr/>
          <p:nvPr/>
        </p:nvSpPr>
        <p:spPr>
          <a:xfrm>
            <a:off x="3657508" y="1577340"/>
            <a:ext cx="8290352"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1632204"/>
            <a:ext cx="8290352" cy="301752"/>
          </a:xfrm>
          <a:prstGeom prst="rect">
            <a:avLst/>
          </a:prstGeom>
          <a:noFill/>
        </p:spPr>
        <p:txBody>
          <a:bodyPr wrap="square" lIns="36000" rIns="36000" tIns="18000" bIns="18000">
            <a:spAutoFit/>
          </a:bodyPr>
          <a:lstStyle/>
          <a:p>
            <a:pPr algn="l"/>
            <a:r>
              <a:rPr sz="900" b="1">
                <a:solidFill>
                  <a:srgbClr val="1A1A1A"/>
                </a:solidFill>
                <a:latin typeface="Pretendard"/>
              </a:rPr>
              <a:t/>
            </a:r>
          </a:p>
        </p:txBody>
      </p:sp>
      <p:sp>
        <p:nvSpPr>
          <p:cNvPr id="9" name="Rectangle 8"/>
          <p:cNvSpPr/>
          <p:nvPr/>
        </p:nvSpPr>
        <p:spPr>
          <a:xfrm>
            <a:off x="487667" y="1954530"/>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7667" y="1981962"/>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베팅</a:t>
            </a:r>
          </a:p>
        </p:txBody>
      </p:sp>
      <p:sp>
        <p:nvSpPr>
          <p:cNvPr id="11" name="Rectangle 10"/>
          <p:cNvSpPr/>
          <p:nvPr/>
        </p:nvSpPr>
        <p:spPr>
          <a:xfrm>
            <a:off x="3657508" y="1954530"/>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508" y="1981962"/>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사용자는 정보를 빨리 찾으러 온다. 층별안내·영업시간·행사를 최단 경로로</a:t>
            </a:r>
          </a:p>
        </p:txBody>
      </p:sp>
      <p:sp>
        <p:nvSpPr>
          <p:cNvPr id="13" name="Rectangle 12"/>
          <p:cNvSpPr/>
          <p:nvPr/>
        </p:nvSpPr>
        <p:spPr>
          <a:xfrm>
            <a:off x="487667" y="2489453"/>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667" y="2516885"/>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시각 성질</a:t>
            </a:r>
          </a:p>
        </p:txBody>
      </p:sp>
      <p:sp>
        <p:nvSpPr>
          <p:cNvPr id="15" name="Rectangle 14"/>
          <p:cNvSpPr/>
          <p:nvPr/>
        </p:nvSpPr>
        <p:spPr>
          <a:xfrm>
            <a:off x="3657508" y="2489453"/>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508" y="2516885"/>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높은 밀도 · 텍스트 우위 · 이미지 최소 · 강한 위계 대비</a:t>
            </a:r>
          </a:p>
        </p:txBody>
      </p:sp>
      <p:sp>
        <p:nvSpPr>
          <p:cNvPr id="17" name="Rectangle 16"/>
          <p:cNvSpPr/>
          <p:nvPr/>
        </p:nvSpPr>
        <p:spPr>
          <a:xfrm>
            <a:off x="487667" y="3024377"/>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7667" y="3051809"/>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겨냥 컨셉</a:t>
            </a:r>
          </a:p>
        </p:txBody>
      </p:sp>
      <p:sp>
        <p:nvSpPr>
          <p:cNvPr id="19" name="Rectangle 18"/>
          <p:cNvSpPr/>
          <p:nvPr/>
        </p:nvSpPr>
        <p:spPr>
          <a:xfrm>
            <a:off x="3657508" y="3024377"/>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508" y="3051809"/>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컨셉키워드 K1(빠른 지점 도달) · 컨셉키워드 K2(반복 내성 최고)</a:t>
            </a:r>
          </a:p>
        </p:txBody>
      </p:sp>
      <p:sp>
        <p:nvSpPr>
          <p:cNvPr id="21" name="Rectangle 20"/>
          <p:cNvSpPr/>
          <p:nvPr/>
        </p:nvSpPr>
        <p:spPr>
          <a:xfrm>
            <a:off x="487667" y="3559301"/>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667" y="3586733"/>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포기하는 것</a:t>
            </a:r>
          </a:p>
        </p:txBody>
      </p:sp>
      <p:sp>
        <p:nvSpPr>
          <p:cNvPr id="23" name="Rectangle 22"/>
          <p:cNvSpPr/>
          <p:nvPr/>
        </p:nvSpPr>
        <p:spPr>
          <a:xfrm>
            <a:off x="3657508" y="3559301"/>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508" y="3586733"/>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브랜드 감성·플래그십의 화려함. 더현대 서울이 다른 지점과 똑같아 보인다</a:t>
            </a:r>
          </a:p>
        </p:txBody>
      </p:sp>
      <p:sp>
        <p:nvSpPr>
          <p:cNvPr id="25" name="Rectangle 24"/>
          <p:cNvSpPr/>
          <p:nvPr/>
        </p:nvSpPr>
        <p:spPr>
          <a:xfrm>
            <a:off x="487667" y="4094225"/>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7667" y="4121657"/>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근거</a:t>
            </a:r>
          </a:p>
        </p:txBody>
      </p:sp>
      <p:sp>
        <p:nvSpPr>
          <p:cNvPr id="27" name="Rectangle 26"/>
          <p:cNvSpPr/>
          <p:nvPr/>
        </p:nvSpPr>
        <p:spPr>
          <a:xfrm>
            <a:off x="3657508" y="4094225"/>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508" y="4121657"/>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241(분석종합) 여정 종착점이 오프라인 방문. 122(현시스템기초분석) T1(지점 정보 확인)이 최다 태스크</a:t>
            </a:r>
          </a:p>
        </p:txBody>
      </p:sp>
      <p:sp>
        <p:nvSpPr>
          <p:cNvPr id="29" name="Rectangle 28"/>
          <p:cNvSpPr/>
          <p:nvPr/>
        </p:nvSpPr>
        <p:spPr>
          <a:xfrm>
            <a:off x="487667" y="4629149"/>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7667" y="4656581"/>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베팅</a:t>
            </a:r>
          </a:p>
        </p:txBody>
      </p:sp>
      <p:sp>
        <p:nvSpPr>
          <p:cNvPr id="31" name="Rectangle 30"/>
          <p:cNvSpPr/>
          <p:nvPr/>
        </p:nvSpPr>
        <p:spPr>
          <a:xfrm>
            <a:off x="3657508" y="4629149"/>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508" y="4656581"/>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지점마다 성격이 다르다. 템플릿은 통일하되 특성 모듈에서 개성을 낸다</a:t>
            </a:r>
          </a:p>
        </p:txBody>
      </p:sp>
      <p:sp>
        <p:nvSpPr>
          <p:cNvPr id="33" name="Rectangle 32"/>
          <p:cNvSpPr/>
          <p:nvPr/>
        </p:nvSpPr>
        <p:spPr>
          <a:xfrm>
            <a:off x="487667" y="5164073"/>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7667" y="5191505"/>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시각 성질</a:t>
            </a:r>
          </a:p>
        </p:txBody>
      </p:sp>
      <p:sp>
        <p:nvSpPr>
          <p:cNvPr id="35" name="Rectangle 34"/>
          <p:cNvSpPr/>
          <p:nvPr/>
        </p:nvSpPr>
        <p:spPr>
          <a:xfrm>
            <a:off x="3657508" y="5164073"/>
            <a:ext cx="8290352"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508" y="5191505"/>
            <a:ext cx="8290352" cy="356616"/>
          </a:xfrm>
          <a:prstGeom prst="rect">
            <a:avLst/>
          </a:prstGeom>
          <a:noFill/>
        </p:spPr>
        <p:txBody>
          <a:bodyPr wrap="square" lIns="36000" rIns="36000" tIns="18000" bIns="18000">
            <a:spAutoFit/>
          </a:bodyPr>
          <a:lstStyle/>
          <a:p>
            <a:pPr algn="l"/>
            <a:r>
              <a:rPr sz="800" b="0">
                <a:solidFill>
                  <a:srgbClr val="1A1A1A"/>
                </a:solidFill>
                <a:latin typeface="Pretendard"/>
              </a:rPr>
              <a:t>큰 이미지 영역 · 여백 넉넉 · 특성 모듈에 시각 자유도</a:t>
            </a:r>
          </a:p>
        </p:txBody>
      </p:sp>
      <p:sp>
        <p:nvSpPr>
          <p:cNvPr id="37" name="Rectangle 36"/>
          <p:cNvSpPr/>
          <p:nvPr/>
        </p:nvSpPr>
        <p:spPr>
          <a:xfrm>
            <a:off x="487667" y="5575553"/>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7667" y="5602985"/>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겨냥 컨셉</a:t>
            </a:r>
          </a:p>
        </p:txBody>
      </p:sp>
      <p:sp>
        <p:nvSpPr>
          <p:cNvPr id="39" name="Rectangle 38"/>
          <p:cNvSpPr/>
          <p:nvPr/>
        </p:nvSpPr>
        <p:spPr>
          <a:xfrm>
            <a:off x="3657508" y="5575553"/>
            <a:ext cx="8290352"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508" y="5602985"/>
            <a:ext cx="8290352" cy="480060"/>
          </a:xfrm>
          <a:prstGeom prst="rect">
            <a:avLst/>
          </a:prstGeom>
          <a:noFill/>
        </p:spPr>
        <p:txBody>
          <a:bodyPr wrap="square" lIns="36000" rIns="36000" tIns="18000" bIns="18000">
            <a:spAutoFit/>
          </a:bodyPr>
          <a:lstStyle/>
          <a:p>
            <a:pPr algn="l"/>
            <a:r>
              <a:rPr sz="800" b="0">
                <a:solidFill>
                  <a:srgbClr val="1A1A1A"/>
                </a:solidFill>
                <a:latin typeface="Pretendard"/>
              </a:rPr>
              <a:t>컨셉키워드 K2 trade-off R-1("구조는 통일하고 특성은 모듈로") · 컨셉키워드 K1</a:t>
            </a:r>
          </a:p>
        </p:txBody>
      </p:sp>
      <p:sp>
        <p:nvSpPr>
          <p:cNvPr id="41" name="TextBox 40"/>
          <p:cNvSpPr txBox="1"/>
          <p:nvPr/>
        </p:nvSpPr>
        <p:spPr>
          <a:xfrm>
            <a:off x="487667" y="6179057"/>
            <a:ext cx="11216359" cy="274320"/>
          </a:xfrm>
          <a:prstGeom prst="rect">
            <a:avLst/>
          </a:prstGeom>
          <a:noFill/>
        </p:spPr>
        <p:txBody>
          <a:bodyPr wrap="square" lIns="36000" rIns="36000" tIns="18000" bIns="18000">
            <a:spAutoFit/>
          </a:bodyPr>
          <a:lstStyle/>
          <a:p>
            <a:pPr algn="l"/>
            <a:r>
              <a:rPr sz="800" b="0">
                <a:solidFill>
                  <a:srgbClr val="767676"/>
                </a:solidFill>
                <a:latin typeface="Pretendard"/>
              </a:rPr>
              <a:t>※ 이하 11행은 원장·문서 참조</a:t>
            </a:r>
          </a:p>
        </p:txBody>
      </p:sp>
      <p:sp>
        <p:nvSpPr>
          <p:cNvPr id="42" name="TextBox 41"/>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43" name="TextBox 42"/>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표준스타일가이드 상속</a:t>
            </a:r>
          </a:p>
        </p:txBody>
      </p:sp>
      <p:sp>
        <p:nvSpPr>
          <p:cNvPr id="4" name="Rectangle 3"/>
          <p:cNvSpPr/>
          <p:nvPr/>
        </p:nvSpPr>
        <p:spPr>
          <a:xfrm>
            <a:off x="487667" y="1234440"/>
            <a:ext cx="3169840"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67" y="1289304"/>
            <a:ext cx="3169840" cy="301752"/>
          </a:xfrm>
          <a:prstGeom prst="rect">
            <a:avLst/>
          </a:prstGeom>
          <a:noFill/>
        </p:spPr>
        <p:txBody>
          <a:bodyPr wrap="square" lIns="36000" rIns="36000" tIns="18000" bIns="18000">
            <a:spAutoFit/>
          </a:bodyPr>
          <a:lstStyle/>
          <a:p>
            <a:pPr algn="l"/>
            <a:r>
              <a:rPr sz="900" b="1">
                <a:solidFill>
                  <a:srgbClr val="1A1A1A"/>
                </a:solidFill>
                <a:latin typeface="Pretendard"/>
              </a:rPr>
              <a:t>항목</a:t>
            </a:r>
          </a:p>
        </p:txBody>
      </p:sp>
      <p:sp>
        <p:nvSpPr>
          <p:cNvPr id="6" name="Rectangle 5"/>
          <p:cNvSpPr/>
          <p:nvPr/>
        </p:nvSpPr>
        <p:spPr>
          <a:xfrm>
            <a:off x="3657508"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08"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상태</a:t>
            </a:r>
          </a:p>
        </p:txBody>
      </p:sp>
      <p:sp>
        <p:nvSpPr>
          <p:cNvPr id="8" name="Rectangle 7"/>
          <p:cNvSpPr/>
          <p:nvPr/>
        </p:nvSpPr>
        <p:spPr>
          <a:xfrm>
            <a:off x="7802684"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02684"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처리</a:t>
            </a:r>
          </a:p>
        </p:txBody>
      </p:sp>
      <p:sp>
        <p:nvSpPr>
          <p:cNvPr id="10" name="Rectangle 9"/>
          <p:cNvSpPr/>
          <p:nvPr/>
        </p:nvSpPr>
        <p:spPr>
          <a:xfrm>
            <a:off x="487667" y="1611630"/>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7667" y="1639062"/>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해피니스 산스</a:t>
            </a:r>
          </a:p>
        </p:txBody>
      </p:sp>
      <p:sp>
        <p:nvSpPr>
          <p:cNvPr id="12" name="Rectangle 11"/>
          <p:cNvSpPr/>
          <p:nvPr/>
        </p:nvSpPr>
        <p:spPr>
          <a:xfrm>
            <a:off x="3657508" y="1611630"/>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508" y="1639062"/>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 확정 (P-BRD-01, 대체 제안 불가)</a:t>
            </a:r>
          </a:p>
        </p:txBody>
      </p:sp>
      <p:sp>
        <p:nvSpPr>
          <p:cNvPr id="14" name="Rectangle 13"/>
          <p:cNvSpPr/>
          <p:nvPr/>
        </p:nvSpPr>
        <p:spPr>
          <a:xfrm>
            <a:off x="7802684" y="1611630"/>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2684" y="1639062"/>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전 변형 공통. 타이포 실험 대상 아님</a:t>
            </a:r>
          </a:p>
        </p:txBody>
      </p:sp>
      <p:sp>
        <p:nvSpPr>
          <p:cNvPr id="16" name="Rectangle 15"/>
          <p:cNvSpPr/>
          <p:nvPr/>
        </p:nvSpPr>
        <p:spPr>
          <a:xfrm>
            <a:off x="487667" y="2023110"/>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667" y="2050542"/>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더현대 로고타입</a:t>
            </a:r>
          </a:p>
        </p:txBody>
      </p:sp>
      <p:sp>
        <p:nvSpPr>
          <p:cNvPr id="18" name="Rectangle 17"/>
          <p:cNvSpPr/>
          <p:nvPr/>
        </p:nvSpPr>
        <p:spPr>
          <a:xfrm>
            <a:off x="3657508" y="2023110"/>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508" y="2050542"/>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 확정 (P-BRD-02 국/영문 가이드)</a:t>
            </a:r>
          </a:p>
        </p:txBody>
      </p:sp>
      <p:sp>
        <p:nvSpPr>
          <p:cNvPr id="20" name="Rectangle 19"/>
          <p:cNvSpPr/>
          <p:nvPr/>
        </p:nvSpPr>
        <p:spPr>
          <a:xfrm>
            <a:off x="7802684" y="2023110"/>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2684" y="2050542"/>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전 변형 공통</a:t>
            </a:r>
          </a:p>
        </p:txBody>
      </p:sp>
      <p:sp>
        <p:nvSpPr>
          <p:cNvPr id="22" name="Rectangle 21"/>
          <p:cNvSpPr/>
          <p:nvPr/>
        </p:nvSpPr>
        <p:spPr>
          <a:xfrm>
            <a:off x="487667" y="2434590"/>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7667" y="2462022"/>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그룹 UI/UX 가이드라인</a:t>
            </a:r>
          </a:p>
        </p:txBody>
      </p:sp>
      <p:sp>
        <p:nvSpPr>
          <p:cNvPr id="24" name="Rectangle 23"/>
          <p:cNvSpPr/>
          <p:nvPr/>
        </p:nvSpPr>
        <p:spPr>
          <a:xfrm>
            <a:off x="3657508" y="243459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508" y="246202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 범위 불일치</a:t>
            </a:r>
          </a:p>
        </p:txBody>
      </p:sp>
      <p:sp>
        <p:nvSpPr>
          <p:cNvPr id="26" name="Rectangle 25"/>
          <p:cNvSpPr/>
          <p:nvPr/>
        </p:nvSpPr>
        <p:spPr>
          <a:xfrm>
            <a:off x="7802684" y="243459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2684" y="246202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333(UI가이드정의) §1 판정대로 구간별 채택. 브랜드 영역은 불채택</a:t>
            </a:r>
          </a:p>
        </p:txBody>
      </p:sp>
      <p:sp>
        <p:nvSpPr>
          <p:cNvPr id="28" name="Rectangle 27"/>
          <p:cNvSpPr/>
          <p:nvPr/>
        </p:nvSpPr>
        <p:spPr>
          <a:xfrm>
            <a:off x="487667" y="2969514"/>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7667" y="2996946"/>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프로젝트 표준스타일가이드</a:t>
            </a:r>
          </a:p>
        </p:txBody>
      </p:sp>
      <p:sp>
        <p:nvSpPr>
          <p:cNvPr id="30" name="Rectangle 29"/>
          <p:cNvSpPr/>
          <p:nvPr/>
        </p:nvSpPr>
        <p:spPr>
          <a:xfrm>
            <a:off x="3657508" y="296951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508" y="299694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 없음</a:t>
            </a:r>
          </a:p>
        </p:txBody>
      </p:sp>
      <p:sp>
        <p:nvSpPr>
          <p:cNvPr id="32" name="Rectangle 31"/>
          <p:cNvSpPr/>
          <p:nvPr/>
        </p:nvSpPr>
        <p:spPr>
          <a:xfrm>
            <a:off x="7802684" y="296951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02684" y="299694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351(스타일가이드설계)이 확정 시안에서 역추출할 예정 — 지금은 최소 라이브러리만</a:t>
            </a:r>
          </a:p>
        </p:txBody>
      </p:sp>
      <p:sp>
        <p:nvSpPr>
          <p:cNvPr id="34" name="Rectangle 33"/>
          <p:cNvSpPr/>
          <p:nvPr/>
        </p:nvSpPr>
        <p:spPr>
          <a:xfrm>
            <a:off x="487667" y="3504437"/>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7667" y="3531869"/>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컬러 팔레트</a:t>
            </a:r>
          </a:p>
        </p:txBody>
      </p:sp>
      <p:sp>
        <p:nvSpPr>
          <p:cNvPr id="36" name="Rectangle 35"/>
          <p:cNvSpPr/>
          <p:nvPr/>
        </p:nvSpPr>
        <p:spPr>
          <a:xfrm>
            <a:off x="3657508" y="3504437"/>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508" y="3531869"/>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 없음</a:t>
            </a:r>
          </a:p>
        </p:txBody>
      </p:sp>
      <p:sp>
        <p:nvSpPr>
          <p:cNvPr id="38" name="Rectangle 37"/>
          <p:cNvSpPr/>
          <p:nvPr/>
        </p:nvSpPr>
        <p:spPr>
          <a:xfrm>
            <a:off x="7802684" y="3504437"/>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02684" y="3531869"/>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[확인필요] — 브랜드 컬러 규정 미수급</a:t>
            </a:r>
          </a:p>
        </p:txBody>
      </p:sp>
      <p:sp>
        <p:nvSpPr>
          <p:cNvPr id="40" name="TextBox 39"/>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41" name="TextBox 40"/>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게이트</a:t>
            </a:r>
          </a:p>
        </p:txBody>
      </p:sp>
      <p:sp>
        <p:nvSpPr>
          <p:cNvPr id="4" name="TextBox 3"/>
          <p:cNvSpPr txBox="1"/>
          <p:nvPr/>
        </p:nvSpPr>
        <p:spPr>
          <a:xfrm>
            <a:off x="487667" y="1097280"/>
            <a:ext cx="11216359" cy="377190"/>
          </a:xfrm>
          <a:prstGeom prst="rect">
            <a:avLst/>
          </a:prstGeom>
          <a:noFill/>
        </p:spPr>
        <p:txBody>
          <a:bodyPr wrap="square" lIns="36000" rIns="36000" tIns="18000" bIns="18000">
            <a:spAutoFit/>
          </a:bodyPr>
          <a:lstStyle/>
          <a:p>
            <a:pPr algn="l"/>
            <a:r>
              <a:rPr sz="1200" b="0">
                <a:solidFill>
                  <a:srgbClr val="767676"/>
                </a:solidFill>
                <a:latin typeface="Pretendard"/>
              </a:rPr>
              <a:t>픽셀이 아니라 방향을 승인받는다</a:t>
            </a:r>
          </a:p>
        </p:txBody>
      </p:sp>
      <p:sp>
        <p:nvSpPr>
          <p:cNvPr id="5" name="Rectangle 4"/>
          <p:cNvSpPr/>
          <p:nvPr/>
        </p:nvSpPr>
        <p:spPr>
          <a:xfrm>
            <a:off x="48766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8766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단계</a:t>
            </a:r>
          </a:p>
        </p:txBody>
      </p:sp>
      <p:sp>
        <p:nvSpPr>
          <p:cNvPr id="7" name="Rectangle 6"/>
          <p:cNvSpPr/>
          <p:nvPr/>
        </p:nvSpPr>
        <p:spPr>
          <a:xfrm>
            <a:off x="329175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9175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산출</a:t>
            </a:r>
          </a:p>
        </p:txBody>
      </p:sp>
      <p:sp>
        <p:nvSpPr>
          <p:cNvPr id="9" name="Rectangle 8"/>
          <p:cNvSpPr/>
          <p:nvPr/>
        </p:nvSpPr>
        <p:spPr>
          <a:xfrm>
            <a:off x="609584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584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승인자</a:t>
            </a:r>
          </a:p>
        </p:txBody>
      </p:sp>
      <p:sp>
        <p:nvSpPr>
          <p:cNvPr id="11" name="Rectangle 10"/>
          <p:cNvSpPr/>
          <p:nvPr/>
        </p:nvSpPr>
        <p:spPr>
          <a:xfrm>
            <a:off x="8899937" y="1577340"/>
            <a:ext cx="2804089"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99937" y="1632204"/>
            <a:ext cx="2804089" cy="301752"/>
          </a:xfrm>
          <a:prstGeom prst="rect">
            <a:avLst/>
          </a:prstGeom>
          <a:noFill/>
        </p:spPr>
        <p:txBody>
          <a:bodyPr wrap="square" lIns="36000" rIns="36000" tIns="18000" bIns="18000">
            <a:spAutoFit/>
          </a:bodyPr>
          <a:lstStyle/>
          <a:p>
            <a:pPr algn="l"/>
            <a:r>
              <a:rPr sz="900" b="1">
                <a:solidFill>
                  <a:srgbClr val="1A1A1A"/>
                </a:solidFill>
                <a:latin typeface="Pretendard"/>
              </a:rPr>
              <a:t>통과 조건</a:t>
            </a:r>
          </a:p>
        </p:txBody>
      </p:sp>
      <p:sp>
        <p:nvSpPr>
          <p:cNvPr id="13" name="Rectangle 12"/>
          <p:cNvSpPr/>
          <p:nvPr/>
        </p:nvSpPr>
        <p:spPr>
          <a:xfrm>
            <a:off x="487667" y="195453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7667" y="198196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G1 방향 승인</a:t>
            </a:r>
          </a:p>
        </p:txBody>
      </p:sp>
      <p:sp>
        <p:nvSpPr>
          <p:cNvPr id="15" name="Rectangle 14"/>
          <p:cNvSpPr/>
          <p:nvPr/>
        </p:nvSpPr>
        <p:spPr>
          <a:xfrm>
            <a:off x="3291757" y="195453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757" y="198196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이 문서(§3·§4)</a:t>
            </a:r>
          </a:p>
        </p:txBody>
      </p:sp>
      <p:sp>
        <p:nvSpPr>
          <p:cNvPr id="17" name="Rectangle 16"/>
          <p:cNvSpPr/>
          <p:nvPr/>
        </p:nvSpPr>
        <p:spPr>
          <a:xfrm>
            <a:off x="6095847" y="195453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5847" y="198196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크리에이티브디렉터 · 고객</a:t>
            </a:r>
          </a:p>
        </p:txBody>
      </p:sp>
      <p:sp>
        <p:nvSpPr>
          <p:cNvPr id="19" name="Rectangle 18"/>
          <p:cNvSpPr/>
          <p:nvPr/>
        </p:nvSpPr>
        <p:spPr>
          <a:xfrm>
            <a:off x="8899937" y="195453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99937" y="198196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3안의 베팅이 서로 다른가 · 컨셉과 정합하는가</a:t>
            </a:r>
          </a:p>
        </p:txBody>
      </p:sp>
      <p:sp>
        <p:nvSpPr>
          <p:cNvPr id="21" name="Rectangle 20"/>
          <p:cNvSpPr/>
          <p:nvPr/>
        </p:nvSpPr>
        <p:spPr>
          <a:xfrm>
            <a:off x="487667" y="236601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667" y="239344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G2 시안 제작</a:t>
            </a:r>
          </a:p>
        </p:txBody>
      </p:sp>
      <p:sp>
        <p:nvSpPr>
          <p:cNvPr id="23" name="Rectangle 22"/>
          <p:cNvSpPr/>
          <p:nvPr/>
        </p:nvSpPr>
        <p:spPr>
          <a:xfrm>
            <a:off x="3291757" y="236601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91757" y="239344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디자이너 시각 시안</a:t>
            </a:r>
          </a:p>
        </p:txBody>
      </p:sp>
      <p:sp>
        <p:nvSpPr>
          <p:cNvPr id="25" name="Rectangle 24"/>
          <p:cNvSpPr/>
          <p:nvPr/>
        </p:nvSpPr>
        <p:spPr>
          <a:xfrm>
            <a:off x="6095847" y="236601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95847" y="239344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a:t>
            </a:r>
          </a:p>
        </p:txBody>
      </p:sp>
      <p:sp>
        <p:nvSpPr>
          <p:cNvPr id="27" name="Rectangle 26"/>
          <p:cNvSpPr/>
          <p:nvPr/>
        </p:nvSpPr>
        <p:spPr>
          <a:xfrm>
            <a:off x="8899937" y="236601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99937" y="239344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시안화면선별.md 범위대로</a:t>
            </a:r>
          </a:p>
        </p:txBody>
      </p:sp>
      <p:sp>
        <p:nvSpPr>
          <p:cNvPr id="29" name="Rectangle 28"/>
          <p:cNvSpPr/>
          <p:nvPr/>
        </p:nvSpPr>
        <p:spPr>
          <a:xfrm>
            <a:off x="487667" y="277749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7667" y="280492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G3 검토</a:t>
            </a:r>
          </a:p>
        </p:txBody>
      </p:sp>
      <p:sp>
        <p:nvSpPr>
          <p:cNvPr id="31" name="Rectangle 30"/>
          <p:cNvSpPr/>
          <p:nvPr/>
        </p:nvSpPr>
        <p:spPr>
          <a:xfrm>
            <a:off x="3291757" y="277749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91757" y="280492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시안검토.md 루브릭</a:t>
            </a:r>
          </a:p>
        </p:txBody>
      </p:sp>
      <p:sp>
        <p:nvSpPr>
          <p:cNvPr id="33" name="Rectangle 32"/>
          <p:cNvSpPr/>
          <p:nvPr/>
        </p:nvSpPr>
        <p:spPr>
          <a:xfrm>
            <a:off x="6095847" y="277749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5847" y="280492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제작자와 분리된 검토자</a:t>
            </a:r>
          </a:p>
        </p:txBody>
      </p:sp>
      <p:sp>
        <p:nvSpPr>
          <p:cNvPr id="35" name="Rectangle 34"/>
          <p:cNvSpPr/>
          <p:nvPr/>
        </p:nvSpPr>
        <p:spPr>
          <a:xfrm>
            <a:off x="8899937" y="277749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99937" y="280492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6렌즈</a:t>
            </a:r>
          </a:p>
        </p:txBody>
      </p:sp>
      <p:sp>
        <p:nvSpPr>
          <p:cNvPr id="37" name="Rectangle 36"/>
          <p:cNvSpPr/>
          <p:nvPr/>
        </p:nvSpPr>
        <p:spPr>
          <a:xfrm>
            <a:off x="487667" y="318897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7667" y="321640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G4 수렴</a:t>
            </a:r>
          </a:p>
        </p:txBody>
      </p:sp>
      <p:sp>
        <p:nvSpPr>
          <p:cNvPr id="39" name="Rectangle 38"/>
          <p:cNvSpPr/>
          <p:nvPr/>
        </p:nvSpPr>
        <p:spPr>
          <a:xfrm>
            <a:off x="3291757" y="318897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757" y="321640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확정 방향 1 (+접붙일 요소)</a:t>
            </a:r>
          </a:p>
        </p:txBody>
      </p:sp>
      <p:sp>
        <p:nvSpPr>
          <p:cNvPr id="41" name="Rectangle 40"/>
          <p:cNvSpPr/>
          <p:nvPr/>
        </p:nvSpPr>
        <p:spPr>
          <a:xfrm>
            <a:off x="6095847" y="318897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5847" y="321640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고객 최고의사결정자</a:t>
            </a:r>
          </a:p>
        </p:txBody>
      </p:sp>
      <p:sp>
        <p:nvSpPr>
          <p:cNvPr id="43" name="Rectangle 42"/>
          <p:cNvSpPr/>
          <p:nvPr/>
        </p:nvSpPr>
        <p:spPr>
          <a:xfrm>
            <a:off x="8899937" y="3188970"/>
            <a:ext cx="2804089"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899937" y="3216402"/>
            <a:ext cx="2804089" cy="356616"/>
          </a:xfrm>
          <a:prstGeom prst="rect">
            <a:avLst/>
          </a:prstGeom>
          <a:noFill/>
        </p:spPr>
        <p:txBody>
          <a:bodyPr wrap="square" lIns="36000" rIns="36000" tIns="18000" bIns="18000">
            <a:spAutoFit/>
          </a:bodyPr>
          <a:lstStyle/>
          <a:p>
            <a:pPr algn="l"/>
            <a:r>
              <a:rPr sz="800" b="0">
                <a:solidFill>
                  <a:srgbClr val="1A1A1A"/>
                </a:solidFill>
                <a:latin typeface="Pretendard"/>
              </a:rPr>
              <a:t>351(스타일가이드설계) 역추출 입력이 됨</a:t>
            </a:r>
          </a:p>
        </p:txBody>
      </p:sp>
      <p:sp>
        <p:nvSpPr>
          <p:cNvPr id="45" name="TextBox 44"/>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46" name="TextBox 45"/>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7667" y="137160"/>
            <a:ext cx="7315017" cy="274320"/>
          </a:xfrm>
          <a:prstGeom prst="rect">
            <a:avLst/>
          </a:prstGeom>
          <a:noFill/>
        </p:spPr>
        <p:txBody>
          <a:bodyPr wrap="square" lIns="36000" rIns="36000" tIns="18000" bIns="18000">
            <a:spAutoFit/>
          </a:bodyPr>
          <a:lstStyle/>
          <a:p>
            <a:pPr algn="l"/>
            <a:r>
              <a:rPr sz="900" b="0">
                <a:solidFill>
                  <a:srgbClr val="767676"/>
                </a:solidFill>
                <a:latin typeface="Pretendard"/>
              </a:rPr>
              <a:t>디자인 시안전략</a:t>
            </a:r>
          </a:p>
        </p:txBody>
      </p:sp>
      <p:sp>
        <p:nvSpPr>
          <p:cNvPr id="3" name="TextBox 2"/>
          <p:cNvSpPr txBox="1"/>
          <p:nvPr/>
        </p:nvSpPr>
        <p:spPr>
          <a:xfrm>
            <a:off x="487667" y="548640"/>
            <a:ext cx="11216359" cy="548640"/>
          </a:xfrm>
          <a:prstGeom prst="rect">
            <a:avLst/>
          </a:prstGeom>
          <a:noFill/>
        </p:spPr>
        <p:txBody>
          <a:bodyPr wrap="square" lIns="36000" rIns="36000" tIns="18000" bIns="18000">
            <a:spAutoFit/>
          </a:bodyPr>
          <a:lstStyle/>
          <a:p>
            <a:pPr algn="l"/>
            <a:r>
              <a:rPr sz="2400" b="1">
                <a:solidFill>
                  <a:srgbClr val="1A1A1A"/>
                </a:solidFill>
                <a:latin typeface="Pretendard"/>
              </a:rPr>
              <a:t>⚠️ 한계</a:t>
            </a:r>
          </a:p>
        </p:txBody>
      </p:sp>
      <p:sp>
        <p:nvSpPr>
          <p:cNvPr id="4" name="Rectangle 3"/>
          <p:cNvSpPr/>
          <p:nvPr/>
        </p:nvSpPr>
        <p:spPr>
          <a:xfrm>
            <a:off x="487667" y="1234440"/>
            <a:ext cx="3169840"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87667" y="1289304"/>
            <a:ext cx="3169840" cy="301752"/>
          </a:xfrm>
          <a:prstGeom prst="rect">
            <a:avLst/>
          </a:prstGeom>
          <a:noFill/>
        </p:spPr>
        <p:txBody>
          <a:bodyPr wrap="square" lIns="36000" rIns="36000" tIns="18000" bIns="18000">
            <a:spAutoFit/>
          </a:bodyPr>
          <a:lstStyle/>
          <a:p>
            <a:pPr algn="l"/>
            <a:r>
              <a:rPr sz="900" b="1">
                <a:solidFill>
                  <a:srgbClr val="1A1A1A"/>
                </a:solidFill>
                <a:latin typeface="Pretendard"/>
              </a:rPr>
              <a:t>#</a:t>
            </a:r>
          </a:p>
        </p:txBody>
      </p:sp>
      <p:sp>
        <p:nvSpPr>
          <p:cNvPr id="6" name="Rectangle 5"/>
          <p:cNvSpPr/>
          <p:nvPr/>
        </p:nvSpPr>
        <p:spPr>
          <a:xfrm>
            <a:off x="3657508"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08"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한계</a:t>
            </a:r>
          </a:p>
        </p:txBody>
      </p:sp>
      <p:sp>
        <p:nvSpPr>
          <p:cNvPr id="8" name="Rectangle 7"/>
          <p:cNvSpPr/>
          <p:nvPr/>
        </p:nvSpPr>
        <p:spPr>
          <a:xfrm>
            <a:off x="7802684" y="1234440"/>
            <a:ext cx="4145176" cy="377190"/>
          </a:xfrm>
          <a:prstGeom prst="rect">
            <a:avLst/>
          </a:prstGeom>
          <a:solidFill>
            <a:srgbClr val="F7F7F7"/>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02684" y="1289304"/>
            <a:ext cx="4145176" cy="301752"/>
          </a:xfrm>
          <a:prstGeom prst="rect">
            <a:avLst/>
          </a:prstGeom>
          <a:noFill/>
        </p:spPr>
        <p:txBody>
          <a:bodyPr wrap="square" lIns="36000" rIns="36000" tIns="18000" bIns="18000">
            <a:spAutoFit/>
          </a:bodyPr>
          <a:lstStyle/>
          <a:p>
            <a:pPr algn="l"/>
            <a:r>
              <a:rPr sz="900" b="1">
                <a:solidFill>
                  <a:srgbClr val="1A1A1A"/>
                </a:solidFill>
                <a:latin typeface="Pretendard"/>
              </a:rPr>
              <a:t>결과</a:t>
            </a:r>
          </a:p>
        </p:txBody>
      </p:sp>
      <p:sp>
        <p:nvSpPr>
          <p:cNvPr id="10" name="Rectangle 9"/>
          <p:cNvSpPr/>
          <p:nvPr/>
        </p:nvSpPr>
        <p:spPr>
          <a:xfrm>
            <a:off x="487667" y="1611630"/>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7667" y="1639062"/>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1</a:t>
            </a:r>
          </a:p>
        </p:txBody>
      </p:sp>
      <p:sp>
        <p:nvSpPr>
          <p:cNvPr id="12" name="Rectangle 11"/>
          <p:cNvSpPr/>
          <p:nvPr/>
        </p:nvSpPr>
        <p:spPr>
          <a:xfrm>
            <a:off x="3657508" y="161163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508" y="163906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무드보드 없음 (232(감성이미지조사) 제외)</a:t>
            </a:r>
          </a:p>
        </p:txBody>
      </p:sp>
      <p:sp>
        <p:nvSpPr>
          <p:cNvPr id="14" name="Rectangle 13"/>
          <p:cNvSpPr/>
          <p:nvPr/>
        </p:nvSpPr>
        <p:spPr>
          <a:xfrm>
            <a:off x="7802684" y="1611630"/>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2684" y="1639062"/>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방향이 컨셉에서 연역됐다. "어떤 인상을 원하는가" 에 대한 고객·사용자 근거 0</a:t>
            </a:r>
          </a:p>
        </p:txBody>
      </p:sp>
      <p:sp>
        <p:nvSpPr>
          <p:cNvPr id="16" name="Rectangle 15"/>
          <p:cNvSpPr/>
          <p:nvPr/>
        </p:nvSpPr>
        <p:spPr>
          <a:xfrm>
            <a:off x="487667" y="2146554"/>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7667" y="2173986"/>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2</a:t>
            </a:r>
          </a:p>
        </p:txBody>
      </p:sp>
      <p:sp>
        <p:nvSpPr>
          <p:cNvPr id="18" name="Rectangle 17"/>
          <p:cNvSpPr/>
          <p:nvPr/>
        </p:nvSpPr>
        <p:spPr>
          <a:xfrm>
            <a:off x="3657508" y="214655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508" y="217398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AS-IS 화면 미확보</a:t>
            </a:r>
          </a:p>
        </p:txBody>
      </p:sp>
      <p:sp>
        <p:nvSpPr>
          <p:cNvPr id="20" name="Rectangle 19"/>
          <p:cNvSpPr/>
          <p:nvPr/>
        </p:nvSpPr>
        <p:spPr>
          <a:xfrm>
            <a:off x="7802684" y="2146554"/>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02684" y="2173986"/>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현행 톤을 모른다. "지금과 얼마나 달라지는가" 를 말할 수 없다</a:t>
            </a:r>
          </a:p>
        </p:txBody>
      </p:sp>
      <p:sp>
        <p:nvSpPr>
          <p:cNvPr id="22" name="Rectangle 21"/>
          <p:cNvSpPr/>
          <p:nvPr/>
        </p:nvSpPr>
        <p:spPr>
          <a:xfrm>
            <a:off x="487667" y="2681478"/>
            <a:ext cx="3169840"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7667" y="2708910"/>
            <a:ext cx="3169840" cy="480060"/>
          </a:xfrm>
          <a:prstGeom prst="rect">
            <a:avLst/>
          </a:prstGeom>
          <a:noFill/>
        </p:spPr>
        <p:txBody>
          <a:bodyPr wrap="square" lIns="36000" rIns="36000" tIns="18000" bIns="18000">
            <a:spAutoFit/>
          </a:bodyPr>
          <a:lstStyle/>
          <a:p>
            <a:pPr algn="l"/>
            <a:r>
              <a:rPr sz="800" b="0">
                <a:solidFill>
                  <a:srgbClr val="1A1A1A"/>
                </a:solidFill>
                <a:latin typeface="Pretendard"/>
              </a:rPr>
              <a:t>3</a:t>
            </a:r>
          </a:p>
        </p:txBody>
      </p:sp>
      <p:sp>
        <p:nvSpPr>
          <p:cNvPr id="24" name="Rectangle 23"/>
          <p:cNvSpPr/>
          <p:nvPr/>
        </p:nvSpPr>
        <p:spPr>
          <a:xfrm>
            <a:off x="3657508" y="2681478"/>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508" y="2708910"/>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디자이너 부재</a:t>
            </a:r>
          </a:p>
        </p:txBody>
      </p:sp>
      <p:sp>
        <p:nvSpPr>
          <p:cNvPr id="26" name="Rectangle 25"/>
          <p:cNvSpPr/>
          <p:nvPr/>
        </p:nvSpPr>
        <p:spPr>
          <a:xfrm>
            <a:off x="7802684" y="2681478"/>
            <a:ext cx="4145176" cy="534924"/>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02684" y="2708910"/>
            <a:ext cx="4145176" cy="480060"/>
          </a:xfrm>
          <a:prstGeom prst="rect">
            <a:avLst/>
          </a:prstGeom>
          <a:noFill/>
        </p:spPr>
        <p:txBody>
          <a:bodyPr wrap="square" lIns="36000" rIns="36000" tIns="18000" bIns="18000">
            <a:spAutoFit/>
          </a:bodyPr>
          <a:lstStyle/>
          <a:p>
            <a:pPr algn="l"/>
            <a:r>
              <a:rPr sz="800" b="0">
                <a:solidFill>
                  <a:srgbClr val="1A1A1A"/>
                </a:solidFill>
                <a:latin typeface="Pretendard"/>
              </a:rPr>
              <a:t>실제 시안이 제작되지 않는다. 이 문서는 인계물이지 시안이 아니다</a:t>
            </a:r>
          </a:p>
        </p:txBody>
      </p:sp>
      <p:sp>
        <p:nvSpPr>
          <p:cNvPr id="28" name="Rectangle 27"/>
          <p:cNvSpPr/>
          <p:nvPr/>
        </p:nvSpPr>
        <p:spPr>
          <a:xfrm>
            <a:off x="487667" y="3216402"/>
            <a:ext cx="3169840"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7667" y="3243834"/>
            <a:ext cx="3169840" cy="356616"/>
          </a:xfrm>
          <a:prstGeom prst="rect">
            <a:avLst/>
          </a:prstGeom>
          <a:noFill/>
        </p:spPr>
        <p:txBody>
          <a:bodyPr wrap="square" lIns="36000" rIns="36000" tIns="18000" bIns="18000">
            <a:spAutoFit/>
          </a:bodyPr>
          <a:lstStyle/>
          <a:p>
            <a:pPr algn="l"/>
            <a:r>
              <a:rPr sz="800" b="0">
                <a:solidFill>
                  <a:srgbClr val="1A1A1A"/>
                </a:solidFill>
                <a:latin typeface="Pretendard"/>
              </a:rPr>
              <a:t>4</a:t>
            </a:r>
          </a:p>
        </p:txBody>
      </p:sp>
      <p:sp>
        <p:nvSpPr>
          <p:cNvPr id="30" name="Rectangle 29"/>
          <p:cNvSpPr/>
          <p:nvPr/>
        </p:nvSpPr>
        <p:spPr>
          <a:xfrm>
            <a:off x="3657508" y="3216402"/>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508" y="3243834"/>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브랜드 컬러 미수급</a:t>
            </a:r>
          </a:p>
        </p:txBody>
      </p:sp>
      <p:sp>
        <p:nvSpPr>
          <p:cNvPr id="32" name="Rectangle 31"/>
          <p:cNvSpPr/>
          <p:nvPr/>
        </p:nvSpPr>
        <p:spPr>
          <a:xfrm>
            <a:off x="7802684" y="3216402"/>
            <a:ext cx="4145176" cy="411480"/>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02684" y="3243834"/>
            <a:ext cx="4145176" cy="356616"/>
          </a:xfrm>
          <a:prstGeom prst="rect">
            <a:avLst/>
          </a:prstGeom>
          <a:noFill/>
        </p:spPr>
        <p:txBody>
          <a:bodyPr wrap="square" lIns="36000" rIns="36000" tIns="18000" bIns="18000">
            <a:spAutoFit/>
          </a:bodyPr>
          <a:lstStyle/>
          <a:p>
            <a:pPr algn="l"/>
            <a:r>
              <a:rPr sz="800" b="0">
                <a:solidFill>
                  <a:srgbClr val="1A1A1A"/>
                </a:solidFill>
                <a:latin typeface="Pretendard"/>
              </a:rPr>
              <a:t>서체·로고만 고정. 색은 변형별 탐색</a:t>
            </a:r>
          </a:p>
        </p:txBody>
      </p:sp>
      <p:sp>
        <p:nvSpPr>
          <p:cNvPr id="34" name="Rectangle 33"/>
          <p:cNvSpPr/>
          <p:nvPr/>
        </p:nvSpPr>
        <p:spPr>
          <a:xfrm>
            <a:off x="487667" y="3627882"/>
            <a:ext cx="3169840" cy="699516"/>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7667" y="3655314"/>
            <a:ext cx="3169840" cy="644651"/>
          </a:xfrm>
          <a:prstGeom prst="rect">
            <a:avLst/>
          </a:prstGeom>
          <a:noFill/>
        </p:spPr>
        <p:txBody>
          <a:bodyPr wrap="square" lIns="36000" rIns="36000" tIns="18000" bIns="18000">
            <a:spAutoFit/>
          </a:bodyPr>
          <a:lstStyle/>
          <a:p>
            <a:pPr algn="l"/>
            <a:r>
              <a:rPr sz="800" b="0">
                <a:solidFill>
                  <a:srgbClr val="1A1A1A"/>
                </a:solidFill>
                <a:latin typeface="Pretendard"/>
              </a:rPr>
              <a:t>5</a:t>
            </a:r>
          </a:p>
        </p:txBody>
      </p:sp>
      <p:sp>
        <p:nvSpPr>
          <p:cNvPr id="36" name="Rectangle 35"/>
          <p:cNvSpPr/>
          <p:nvPr/>
        </p:nvSpPr>
        <p:spPr>
          <a:xfrm>
            <a:off x="3657508" y="3627882"/>
            <a:ext cx="4145176" cy="699516"/>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508" y="3655314"/>
            <a:ext cx="4145176" cy="644651"/>
          </a:xfrm>
          <a:prstGeom prst="rect">
            <a:avLst/>
          </a:prstGeom>
          <a:noFill/>
        </p:spPr>
        <p:txBody>
          <a:bodyPr wrap="square" lIns="36000" rIns="36000" tIns="18000" bIns="18000">
            <a:spAutoFit/>
          </a:bodyPr>
          <a:lstStyle/>
          <a:p>
            <a:pPr algn="l"/>
            <a:r>
              <a:rPr sz="800" b="0">
                <a:solidFill>
                  <a:srgbClr val="1A1A1A"/>
                </a:solidFill>
                <a:latin typeface="Pretendard"/>
              </a:rPr>
              <a:t>Co-Creative 4연속 미실시</a:t>
            </a:r>
          </a:p>
        </p:txBody>
      </p:sp>
      <p:sp>
        <p:nvSpPr>
          <p:cNvPr id="38" name="Rectangle 37"/>
          <p:cNvSpPr/>
          <p:nvPr/>
        </p:nvSpPr>
        <p:spPr>
          <a:xfrm>
            <a:off x="7802684" y="3627882"/>
            <a:ext cx="4145176" cy="699516"/>
          </a:xfrm>
          <a:prstGeom prst="rect">
            <a:avLst/>
          </a:prstGeom>
          <a:solidFill>
            <a:srgbClr val="FFFFFF"/>
          </a:solidFill>
          <a:ln w="9525">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02684" y="3655314"/>
            <a:ext cx="4145176" cy="644651"/>
          </a:xfrm>
          <a:prstGeom prst="rect">
            <a:avLst/>
          </a:prstGeom>
          <a:noFill/>
        </p:spPr>
        <p:txBody>
          <a:bodyPr wrap="square" lIns="36000" rIns="36000" tIns="18000" bIns="18000">
            <a:spAutoFit/>
          </a:bodyPr>
          <a:lstStyle/>
          <a:p>
            <a:pPr algn="l"/>
            <a:r>
              <a:rPr sz="800" b="0">
                <a:solidFill>
                  <a:srgbClr val="1A1A1A"/>
                </a:solidFill>
                <a:latin typeface="Pretendard"/>
              </a:rPr>
              <a:t>312(유저플로우설계)·322(정보구조설계)·331(와이어프레임설계)에 이어 시안 발산도 문서상 3안. 실제 워크숍은 더 많은 안을 낸다</a:t>
            </a:r>
          </a:p>
        </p:txBody>
      </p:sp>
      <p:sp>
        <p:nvSpPr>
          <p:cNvPr id="40" name="TextBox 39"/>
          <p:cNvSpPr txBox="1"/>
          <p:nvPr/>
        </p:nvSpPr>
        <p:spPr>
          <a:xfrm>
            <a:off x="365750" y="6480810"/>
            <a:ext cx="8534186" cy="274320"/>
          </a:xfrm>
          <a:prstGeom prst="rect">
            <a:avLst/>
          </a:prstGeom>
          <a:noFill/>
        </p:spPr>
        <p:txBody>
          <a:bodyPr wrap="square" lIns="36000" rIns="36000" tIns="18000" bIns="18000">
            <a:spAutoFit/>
          </a:bodyPr>
          <a:lstStyle/>
          <a:p>
            <a:pPr algn="l"/>
            <a:r>
              <a:rPr sz="750" b="0">
                <a:solidFill>
                  <a:srgbClr val="767676"/>
                </a:solidFill>
                <a:latin typeface="Pretendard"/>
              </a:rPr>
              <a:t>현대백화점 자사채널(PC·MWEB) 개선 · 디자인 시안전략 · V1.0</a:t>
            </a:r>
          </a:p>
        </p:txBody>
      </p:sp>
      <p:sp>
        <p:nvSpPr>
          <p:cNvPr id="41" name="TextBox 40"/>
          <p:cNvSpPr txBox="1"/>
          <p:nvPr/>
        </p:nvSpPr>
        <p:spPr>
          <a:xfrm>
            <a:off x="10728691" y="6480810"/>
            <a:ext cx="1097252" cy="274320"/>
          </a:xfrm>
          <a:prstGeom prst="rect">
            <a:avLst/>
          </a:prstGeom>
          <a:noFill/>
        </p:spPr>
        <p:txBody>
          <a:bodyPr wrap="square" lIns="36000" rIns="36000" tIns="18000" bIns="18000">
            <a:spAutoFit/>
          </a:bodyPr>
          <a:lstStyle/>
          <a:p>
            <a:pPr algn="r"/>
            <a:r>
              <a:rPr sz="750" b="0">
                <a:solidFill>
                  <a:srgbClr val="767676"/>
                </a:solidFill>
                <a:latin typeface="Pretendard"/>
              </a:rPr>
              <a:t>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