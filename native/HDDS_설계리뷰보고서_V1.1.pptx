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6159" y="720090"/>
            <a:ext cx="731501" cy="342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836676"/>
            <a:ext cx="10972525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설계리뷰보고서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159" y="1714500"/>
            <a:ext cx="10972525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159" y="4800600"/>
            <a:ext cx="5486262" cy="12344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구분   보고 — 설계 정합화 결과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버전   V1.1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작성자   기획자 (검토자)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482" y="521208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0">
                <a:solidFill>
                  <a:srgbClr val="D8D8D8"/>
                </a:solidFill>
                <a:latin typeface="Pretendard"/>
              </a:rPr>
              <a:t>2026-08-10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159" y="6309360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문서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7315017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371600"/>
            <a:ext cx="975335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426464"/>
            <a:ext cx="975335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03" y="1371600"/>
            <a:ext cx="1463003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03" y="1426464"/>
            <a:ext cx="1463003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6" y="1371600"/>
            <a:ext cx="7315017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06" y="1426464"/>
            <a:ext cx="7315017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023" y="1371600"/>
            <a:ext cx="1706837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023" y="1426464"/>
            <a:ext cx="1706837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74879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178308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03" y="174879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03" y="178308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6" y="174879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06" y="178308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결정형 4축 · 유형 확정 16 · 공통 모듈 3종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023" y="174879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023" y="178308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216027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219456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v1.1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03" y="216027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03" y="219456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06" y="216027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06" y="219456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보고 덱 재구성 — 판단 단위 · 공통 모듈 화면은 화면설계서 샘플로 이동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023" y="216027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023" y="219456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767676"/>
                </a:solidFill>
                <a:latin typeface="Pretendard"/>
              </a:rPr>
              <a:t>작성과 검토를 분리한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468880"/>
            <a:ext cx="10484857" cy="1783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사람이 못 보는 결함을</a:t>
            </a:r>
          </a:p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결정형 검사가 잡았다.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38912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B3261E"/>
                </a:solidFill>
                <a:latin typeface="Pretendard"/>
              </a:rPr>
              <a:t>참조 부재 3건 · 채널 드리프트 9건 — 둘 다 정성 리뷰로는 안 잡힌다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설계리뷰보고서 ·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설계리뷰보고서 · 검사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결정형 4축을 먼저 돌렸다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정성 판단 전에 셀 수 있는 것부터. 스크립트가 사람보다 먼저 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11216359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14500"/>
            <a:ext cx="73150" cy="8915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60" y="1817370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① 참조 무결성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60" y="2194560"/>
            <a:ext cx="5608179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342 가 참조한 화면ID 34종 ↔ 원장 전수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7349" y="1879092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B3261E"/>
                </a:solidFill>
                <a:latin typeface="Pretendard"/>
              </a:rPr>
              <a:t>⛔ 원장 부재 3건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439" y="1892808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767676"/>
                </a:solidFill>
                <a:latin typeface="Pretendard"/>
              </a:rPr>
              <a:t>→ 6행 등재 →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2674620"/>
            <a:ext cx="11216359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667" y="2674620"/>
            <a:ext cx="73150" cy="8915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60" y="2777490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② 쌍 정렬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60" y="3154680"/>
            <a:ext cx="5608179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같은 화면의 PC↔MWEB 이 같은 유형인가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349" y="2839212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B3261E"/>
                </a:solidFill>
                <a:latin typeface="Pretendard"/>
              </a:rPr>
              <a:t>⚠ 드리프트 8쌍 +재검증 1쌍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439" y="2852928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767676"/>
                </a:solidFill>
                <a:latin typeface="Pretendard"/>
              </a:rPr>
              <a:t>→ 정렬 →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634740"/>
            <a:ext cx="11216359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7667" y="3634740"/>
            <a:ext cx="73150" cy="89154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60" y="3737610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③ 열거값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460" y="4114800"/>
            <a:ext cx="5608179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유형 컬럼이 사전 열거값 안에 있는가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7349" y="3799332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7F37"/>
                </a:solidFill>
                <a:latin typeface="Pretendard"/>
              </a:rPr>
              <a:t>0건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1439" y="3813048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767676"/>
                </a:solidFill>
                <a:latin typeface="Pretendard"/>
              </a:rPr>
              <a:t>→ 0건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4594860"/>
            <a:ext cx="11216359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7667" y="4594860"/>
            <a:ext cx="73150" cy="89154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460" y="4697730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④ 플래그 소진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460" y="5074920"/>
            <a:ext cx="5608179" cy="32918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상류가 남긴 검토 플래그 13건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7349" y="4759452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7F37"/>
                </a:solidFill>
                <a:latin typeface="Pretendard"/>
              </a:rPr>
              <a:t>확정 12 · 유지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1439" y="4773167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767676"/>
                </a:solidFill>
                <a:latin typeface="Pretendard"/>
              </a:rPr>
              <a:t>→ 플래그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설계리뷰보고서 · V1.1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설계리뷰보고서 · 핵심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플래그보다 무서운 것은 자신 있게 틀린 것이다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검토 플래그 13건은 분류기의 자백이다. 아래 5건은 「안다」고 답하고 틀렸다.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5120511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51" y="1879092"/>
            <a:ext cx="475476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자백한 불확실 — 검토 플래그 13건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51" y="2263140"/>
            <a:ext cx="4754761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분류기가 「모르겠다」고 표시했다.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목록이 있으니 사람이 보면 된다.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→ 12건 확정 · 1건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0096" y="2331720"/>
            <a:ext cx="731501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B3261E"/>
                </a:solidFill>
                <a:latin typeface="Pretendard"/>
              </a:rPr>
              <a:t>≠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515" y="1783080"/>
            <a:ext cx="5120511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4199" y="1879092"/>
            <a:ext cx="475476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자신 있는 오판 — 5건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4199" y="2263140"/>
            <a:ext cx="4754761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분류기가 답을 냈고 틀렸다.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플래그가 없어서 목록에도 없었다.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강의계획서·강사정보·사이트맵·검색·카드 랜딩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3429000"/>
            <a:ext cx="11216359" cy="6172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43" y="3538728"/>
            <a:ext cx="10850608" cy="4457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B3261E"/>
                </a:solidFill>
                <a:latin typeface="Pretendard"/>
              </a:rPr>
              <a:t>채널 쌍 불변식(같은 화면 = 같은 유형)이 대조축이었다 — 축이 없으면 영원히 안 잡힌다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4114800"/>
            <a:ext cx="1121635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667" y="4114800"/>
            <a:ext cx="73150" cy="13716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51" y="4197096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그리고 반영이 새 불일치를 만들었다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51" y="4629150"/>
            <a:ext cx="10899375" cy="7886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드리프트 8쌍을 정렬한 뒤 재검증에서 9번째가 나왔다 — MWEB 검색을 고치는 순간 PC 검색이 새 드리프트가 됐다.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→ 수렴 조건은 「고쳤다」가 아니라 「재실행 0건」이다. 반영 스크립트를 멱등으로 만든 이유.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설계리뷰보고서 · V1.1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설계리뷰보고서 · 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이 표가 설계리뷰의 본체다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「화면마다 무엇을 쓰는가」가 아니라 「유형이 정해지면 컴포넌트가 따라온다」로 뒤집었다.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1121635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01" y="1844802"/>
            <a:ext cx="292600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허브·서브메인형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9425" y="1851660"/>
            <a:ext cx="78026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N-01 · N-02 · T-03 · T-06 · C-01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2304288"/>
            <a:ext cx="1121635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01" y="2434590"/>
            <a:ext cx="292600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목록형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425" y="2441448"/>
            <a:ext cx="78026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N-01 · C-02 · C-03 · C-06 · T-01/02 · N-07 · T-04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2894076"/>
            <a:ext cx="1121635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01" y="3024378"/>
            <a:ext cx="292600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정보·안내형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9425" y="3031236"/>
            <a:ext cx="78026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N-01 · N-02 · N-03/N-04 · T-04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3483864"/>
            <a:ext cx="1121635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01" y="3614166"/>
            <a:ext cx="292600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콘텐츠 상세형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425" y="3621024"/>
            <a:ext cx="78026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N-01 · T-01(관련 목록) · C-01(복귀)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4073652"/>
            <a:ext cx="1121635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01" y="4203954"/>
            <a:ext cx="292600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조회·결과형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9425" y="4210812"/>
            <a:ext cx="78026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N-01 · C-02 · C-04 · C-01 · T-02 · T-04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4663440"/>
            <a:ext cx="1121635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01" y="4793742"/>
            <a:ext cx="292600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프로세스형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9425" y="4800600"/>
            <a:ext cx="78026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N-05 · C-04 · C-05 · C-01(3종) · T-07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5253227"/>
            <a:ext cx="1121635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01" y="5383530"/>
            <a:ext cx="292600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예외·안내형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9425" y="5390388"/>
            <a:ext cx="78026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T-05 · C-01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67" y="5897880"/>
            <a:ext cx="11216359" cy="6172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421 UI디자인·423 퍼블리싱은 화면이 아니라 이 표를 구현한다. 고아 컴포넌트 의심 14종은 전수 대조 결과 실제 0종이었다 — 출현했는데 ref 미표기 7 · 골격에 자리 확정 6 · 호출 관계 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설계리뷰보고서 · V1.1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설계리뷰보고서 · 규칙 공백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판정할 수 없어서 검사하지 않은 것 5건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규칙이 없으면 FAIL 이 아니라 「규칙 공백」으로 보고한다 — 보완 대상이다.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11216359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14500"/>
            <a:ext cx="73150" cy="65151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60" y="1879092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03" y="1872234"/>
            <a:ext cx="414517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유형별 수직 구조 일치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0096" y="1885950"/>
            <a:ext cx="585201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struct 가 자유 서술이라 기계 대조 불가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2414016"/>
            <a:ext cx="11216359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67" y="2414016"/>
            <a:ext cx="73150" cy="65151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460" y="2578608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03" y="2571750"/>
            <a:ext cx="414517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속성 순서 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0096" y="2585466"/>
            <a:ext cx="585201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불릿 종류를 판별하는 규칙이 없다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67" y="3113532"/>
            <a:ext cx="11216359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7667" y="3113532"/>
            <a:ext cx="73150" cy="65151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60" y="3278124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03" y="3271266"/>
            <a:ext cx="414517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마커 좌상→우하 순서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0096" y="3284982"/>
            <a:ext cx="585201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HTML 프레임이 흐름 배치라 좌표가 없다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3813048"/>
            <a:ext cx="11216359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7667" y="3813048"/>
            <a:ext cx="73150" cy="65151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60" y="3977640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B3261E"/>
                </a:solidFill>
                <a:latin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03" y="3970782"/>
            <a:ext cx="414517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골격 상속의 정합성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0096" y="3984498"/>
            <a:ext cx="585201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나머지 1,010화면이 골격을 제대로 상속하는지 미검증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4512564"/>
            <a:ext cx="11216359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67" y="4512564"/>
            <a:ext cx="73150" cy="65151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460" y="4677156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03" y="4670298"/>
            <a:ext cx="414517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문구 사전 일치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0096" y="4684014"/>
            <a:ext cx="585201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332 정본 문구와 문자열 대조를 안 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67" y="5349240"/>
            <a:ext cx="11216359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B3261E"/>
                </a:solidFill>
                <a:latin typeface="Pretendard"/>
              </a:rPr>
              <a:t>⚠️ 4번이 가장 크다 — 이 검수는 화면 10건의 내부 정합만 봤다. 「10건이 1,020행을 대표한다」는 주장 자체는 검증되지 않았다.</a:t>
            </a:r>
          </a:p>
          <a:p>
            <a:pPr algn="l"/>
            <a:r>
              <a:rPr sz="1000" b="1">
                <a:solidFill>
                  <a:srgbClr val="B3261E"/>
                </a:solidFill>
                <a:latin typeface="Pretendard"/>
              </a:rPr>
              <a:t>   전개 정합성 검증은 실제 전개가 시작된 뒤에만 가능하다 — 411 M2 게이트로 이관.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설계리뷰보고서 · V1.1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767676"/>
                </a:solidFill>
                <a:latin typeface="Pretendard"/>
              </a:rPr>
              <a:t>이관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468880"/>
            <a:ext cx="10484857" cy="1783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화면 10건은</a:t>
            </a:r>
          </a:p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화면설계서 샘플에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38912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767676"/>
                </a:solidFill>
                <a:latin typeface="Pretendard"/>
              </a:rPr>
              <a:t>이 문서는 검토 결과 — 화면은 「화면설계서 (샘플)」 덱 참조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설계리뷰보고서 ·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