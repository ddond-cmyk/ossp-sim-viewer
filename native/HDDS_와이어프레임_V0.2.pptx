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194560"/>
            <a:ext cx="10241023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</a:rPr>
              <a:t>와이어프레임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086100"/>
            <a:ext cx="10241023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0">
                <a:solidFill>
                  <a:srgbClr val="C8C8C8"/>
                </a:solidFill>
                <a:latin typeface="Pretendard"/>
              </a:rPr>
              <a:t>현대백화점 자사채널(PC·MWEB)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251960"/>
            <a:ext cx="10241023" cy="1371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구분   설계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버전   V0.2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작성일   2026-08-10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작성자   기획자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프로젝트   C2202500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6172200"/>
            <a:ext cx="102410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"/>
              </a:rPr>
              <a:t>VinylC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7315017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Pretendard"/>
              </a:rPr>
              <a:t>개정이력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22960"/>
            <a:ext cx="975335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864108"/>
            <a:ext cx="97533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1086" y="822960"/>
            <a:ext cx="1463003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1086" y="864108"/>
            <a:ext cx="146300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4089" y="822960"/>
            <a:ext cx="731501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089" y="864108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변경 내역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9106" y="822960"/>
            <a:ext cx="170683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9106" y="864108"/>
            <a:ext cx="170683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작성자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" y="116586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" y="120015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1086" y="116586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1086" y="120015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4089" y="116586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4089" y="120015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초안작성 — 주요화면 15 · 원형 6 · 저충실도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19106" y="116586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19106" y="120015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50" y="157734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0" y="161163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41086" y="157734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1086" y="161163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4089" y="157734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4089" y="161163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343 설계리뷰 반영 — 유형 7종 원형·공통 모듈 3종 추가 · 화면 1개 = 슬라이드 1장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19106" y="157734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19106" y="161163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1097252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Pretendard"/>
              </a:rPr>
              <a:t>표기 규약 — 저충실도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91540"/>
            <a:ext cx="1219169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946404"/>
            <a:ext cx="1219169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접미</a:t>
            </a:r>
          </a:p>
        </p:txBody>
      </p:sp>
      <p:sp>
        <p:nvSpPr>
          <p:cNvPr id="5" name="Rectangle 4"/>
          <p:cNvSpPr/>
          <p:nvPr/>
        </p:nvSpPr>
        <p:spPr>
          <a:xfrm>
            <a:off x="1584920" y="8915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84920" y="9464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뜻</a:t>
            </a:r>
          </a:p>
        </p:txBody>
      </p:sp>
      <p:sp>
        <p:nvSpPr>
          <p:cNvPr id="7" name="Rectangle 6"/>
          <p:cNvSpPr/>
          <p:nvPr/>
        </p:nvSpPr>
        <p:spPr>
          <a:xfrm>
            <a:off x="5730096" y="891540"/>
            <a:ext cx="6095847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30096" y="946404"/>
            <a:ext cx="6095847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쓰는 자리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1268730"/>
            <a:ext cx="1219169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1330451"/>
            <a:ext cx="1219169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84920" y="1268730"/>
            <a:ext cx="414517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4920" y="1330451"/>
            <a:ext cx="4145176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강조 — 검정 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30096" y="1268730"/>
            <a:ext cx="6095847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0096" y="1330451"/>
            <a:ext cx="6095847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판단이 걸리는 영역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50" y="1693926"/>
            <a:ext cx="1219169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0" y="1755648"/>
            <a:ext cx="1219169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4920" y="1693926"/>
            <a:ext cx="414517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84920" y="1755648"/>
            <a:ext cx="4145176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빈 상태·예외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30096" y="1693926"/>
            <a:ext cx="6095847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0096" y="1755648"/>
            <a:ext cx="6095847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332 문구 사전과 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50" y="2119122"/>
            <a:ext cx="1219169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50" y="2180843"/>
            <a:ext cx="1219169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84920" y="2119122"/>
            <a:ext cx="414517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84920" y="2180843"/>
            <a:ext cx="4145176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반복 — N개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30096" y="2119122"/>
            <a:ext cx="6095847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0096" y="2180843"/>
            <a:ext cx="6095847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카드·리스트. 개수는 데이터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50" y="2544318"/>
            <a:ext cx="1219169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0" y="2606040"/>
            <a:ext cx="1219169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84920" y="2544318"/>
            <a:ext cx="414517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84920" y="2606040"/>
            <a:ext cx="4145176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신설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30096" y="2544318"/>
            <a:ext cx="6095847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30096" y="2606040"/>
            <a:ext cx="6095847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AS-IS 에 없던 영역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50" y="2969514"/>
            <a:ext cx="1219169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50" y="3031236"/>
            <a:ext cx="1219169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=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84920" y="2969514"/>
            <a:ext cx="414517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4920" y="3031236"/>
            <a:ext cx="4145176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AS-IS 유지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30096" y="2969514"/>
            <a:ext cx="6095847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0096" y="3031236"/>
            <a:ext cx="6095847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구조 승계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50" y="3394710"/>
            <a:ext cx="1219169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50" y="3456432"/>
            <a:ext cx="1219169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^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84920" y="3394710"/>
            <a:ext cx="414517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84920" y="3456432"/>
            <a:ext cx="4145176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이동해 온 영역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30096" y="3394710"/>
            <a:ext cx="6095847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30096" y="3456432"/>
            <a:ext cx="6095847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341 변경등급 「이동」과 대사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50" y="4025646"/>
            <a:ext cx="10972525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색·타이포·아이콘·실제 문구는 이 문서에 없다 — 시안(334)·스타일가이드(351)의 몫이다.</a:t>
            </a:r>
          </a:p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렌더러 문법에 스타일 속성이 아예 없어 저충실도가 문법으로 강제된다.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전역 골격 · 양 채널 공통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960120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1211041" cy="58978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932688"/>
            <a:ext cx="113789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로고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1747476" y="754380"/>
            <a:ext cx="1211041" cy="58978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7476" y="932688"/>
            <a:ext cx="113789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GNB(7)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7284" y="754380"/>
            <a:ext cx="2470850" cy="58978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7284" y="932688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통합검색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26901" y="754380"/>
            <a:ext cx="1211041" cy="589788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6901" y="932688"/>
            <a:ext cx="113789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지점 선택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86710" y="754380"/>
            <a:ext cx="1211041" cy="58978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6710" y="932688"/>
            <a:ext cx="113789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로그인·마이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394" y="150875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컨텍스트 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67" y="1385316"/>
            <a:ext cx="7510084" cy="42519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67" y="1481328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선택 지점 표시 · 변경 (세션 유지)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394" y="325069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본문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1851660"/>
            <a:ext cx="7510084" cy="297637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67" y="322326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화면별 콘텐츠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394" y="503377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푸터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7667" y="4869180"/>
            <a:ext cx="2470850" cy="50749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667" y="500634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약관·정책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07284" y="4869180"/>
            <a:ext cx="2470850" cy="50749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07284" y="500634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고객센터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26901" y="4869180"/>
            <a:ext cx="2470850" cy="50749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26901" y="500634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사이트맵 (MWEB 신설)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지점 선택(IA-001)은 GNB 항목이 아니라 헤더 상시 노출 — 컨셉키워드 K1 "진입의 기준"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컨텍스트 바는 신설. 지금 어느 점포를 보고 있는지가 항상 보인다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통합검색은 영역 하위 → 전역 승격(IA-002 이동). AS-IS는 21개 진입경로가 같은 화면이었다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W-01 지점 선택 · 양 채널 · 전역 오버레이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101370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5620371" cy="6969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986269"/>
            <a:ext cx="554722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선택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6805" y="754380"/>
            <a:ext cx="1840945" cy="6969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6805" y="986269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닫기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394" y="1701474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분류 표시축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1492478"/>
            <a:ext cx="7510084" cy="5963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1674042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전체 / 더현대 / 백화점 / 아울렛  (필터 — 게이트 아님)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394" y="327832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지점 목록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67" y="2129927"/>
            <a:ext cx="1840945" cy="247509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67" y="3250889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878" y="2143643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380" y="2129927"/>
            <a:ext cx="1840945" cy="247509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380" y="3250889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지점카드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093" y="2129927"/>
            <a:ext cx="1840945" cy="247509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7093" y="3250889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지점카드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6805" y="2129927"/>
            <a:ext cx="1840945" cy="247509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6805" y="3250889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394" y="492226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재방문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4646171"/>
            <a:ext cx="7510084" cy="7305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4894835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최근 선택 지점+  [가정]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①분기(B1 지점 선택됨?) ③신설 ④전역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REQ-SI-002 "분류 게이트 화면을 만들지 않는다" — 분류를 별도 단계로 두지 않고 목록 내 필터로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확정 즉시 C1 컨텍스트 → UF-02·03·04로 전달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최근 선택 지점은 FN-A06 [가정] — 개인화 정책·동의 근거 미확보(미정의 D1-2)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W-02 메인 ·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4702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1211041" cy="36360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19595"/>
            <a:ext cx="113789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로고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1747476" y="754380"/>
            <a:ext cx="1211041" cy="36360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7476" y="819595"/>
            <a:ext cx="113789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GNB(7)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7284" y="754380"/>
            <a:ext cx="2470850" cy="36360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7284" y="819595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통합검색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26901" y="754380"/>
            <a:ext cx="1211041" cy="363603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6901" y="819595"/>
            <a:ext cx="113789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지점 선택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86710" y="754380"/>
            <a:ext cx="1211041" cy="36360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6710" y="819595"/>
            <a:ext cx="113789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로그인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394" y="1198985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컨텍스트 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67" y="1159131"/>
            <a:ext cx="7510084" cy="25801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67" y="1171553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선택 지점 표시 ·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394" y="209647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상단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1458295"/>
            <a:ext cx="4990467" cy="145467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67" y="2069045"/>
            <a:ext cx="491731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안내 배너 (최대 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5400" y="1472011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26901" y="1458295"/>
            <a:ext cx="2470850" cy="145467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26901" y="2069045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선택 지점 요약+ (영업시간·오시는길)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394" y="341631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지점 소구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7667" y="2954115"/>
            <a:ext cx="3730658" cy="110271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667" y="3388887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진행 행사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5591" y="2967831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67093" y="2954115"/>
            <a:ext cx="3730658" cy="110271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67093" y="3388887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특성 모듈+ (이벤트·아트&amp;컬처)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394" y="447219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전사 소구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7667" y="4097978"/>
            <a:ext cx="2470850" cy="92673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667" y="444476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문화센터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07284" y="4097978"/>
            <a:ext cx="2470850" cy="92673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07284" y="444476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카드·멤버십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6901" y="4097978"/>
            <a:ext cx="2470850" cy="92673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26901" y="444476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서비스/이벤트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394" y="513211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푸터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7667" y="5065862"/>
            <a:ext cx="7510084" cy="31080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7667" y="5104681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약관 · 고객센터 · 사이트맵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①분기(지점 유무) ④전역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REQ-MA-002 메인에 지점 정보 노출 · REQ-MA-001 배너 최대 5개 · REQ-MA-003 채널 메뉴 삭제 후 메인 소구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⚠️ 242(UX전략및컨셉수립) R-2 "메인 콘텐츠 구성"은 분석 공백으로 남아 있다 — 이 배치는 요구에서만 도출됐고 사용자 근거가 없다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W-02 메인 · MWEB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3606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3730658" cy="341671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08629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로고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093" y="754380"/>
            <a:ext cx="1840945" cy="341671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7093" y="808629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검색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6805" y="754380"/>
            <a:ext cx="1840945" cy="341671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6805" y="808629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지점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394" y="1166678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컨텍스트 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67" y="1137199"/>
            <a:ext cx="7510084" cy="23726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667" y="1139246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선택 지점 표시 · 변경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394" y="195841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상단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1415614"/>
            <a:ext cx="7510084" cy="126391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" y="1930987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안내 배너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017" y="1429330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394" y="300247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지점 요약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2720681"/>
            <a:ext cx="7510084" cy="74189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67" y="2975041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선택 지점 요약+ (영업시간·오시는길·행사)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394" y="3916020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지점 소구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7667" y="3503721"/>
            <a:ext cx="7510084" cy="100290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667" y="3888588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특성 모듈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394" y="487306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전사 소구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7667" y="4547775"/>
            <a:ext cx="2470850" cy="82889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667" y="4845637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문화센터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07284" y="4547775"/>
            <a:ext cx="2470850" cy="82889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07284" y="4845637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26901" y="4547775"/>
            <a:ext cx="2470850" cy="82889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26901" y="4845637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서비스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MWEB 하단 내비게이션 바 삭제(REQ-CM-003) — PC와 톤&amp;매너 통일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세로 스택이라 PC의 병렬 배치가 순차가 된다. 순서 = 지점 → 전사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W-03 검색 결과 · 양 채널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93298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53551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90555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검색어 입력 (전역 헤더에서 진입)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1446964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문맥 표시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331041"/>
            <a:ext cx="7510084" cy="41015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419532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"선택 지점 내 결과" + 전체 지점으로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394" y="192333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782342"/>
            <a:ext cx="1840945" cy="46029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895905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브랜드·매장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380" y="1782342"/>
            <a:ext cx="1840945" cy="46029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380" y="1895905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강좌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093" y="1782342"/>
            <a:ext cx="1840945" cy="46029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7093" y="1895905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콘텐츠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805" y="1782342"/>
            <a:ext cx="1840945" cy="46029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6805" y="1895905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394" y="3176950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결과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283787"/>
            <a:ext cx="7510084" cy="196463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3149518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목록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017" y="2297503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394" y="4743966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빈 상태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7667" y="4289568"/>
            <a:ext cx="7510084" cy="1087103"/>
          </a:xfrm>
          <a:prstGeom prst="rect">
            <a:avLst/>
          </a:prstGeom>
          <a:solidFill>
            <a:srgbClr val="FFFFFF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667" y="4716534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없음 — 범위 확장 제안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①분기(0건 여부) ③신설(범위 확장)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122(현시스템기초분석) H2 "검색결과가 진입 문맥 무반영, 21경로 → 화면 1" 해소 — 선택 지점을 결과에 반영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FN-C02 검색 범위 확장(312(유저플로우설계) 신규발견 ③) · FN-C03 빈 상태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W-04 지점 템플릿 · 양 채널 · 지점 16개가 이 골격 하나를 상속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92691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52337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9948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헤더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141780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컨텍스트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318901"/>
            <a:ext cx="7510084" cy="37610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390369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지점명 · 지점 전환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394" y="187187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지점 LNB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736156"/>
            <a:ext cx="1840945" cy="44974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844441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층별안내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380" y="1736156"/>
            <a:ext cx="1840945" cy="44974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380" y="1844441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행사안내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093" y="1736156"/>
            <a:ext cx="1840945" cy="44974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7093" y="1844441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오시는길·시설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805" y="1736156"/>
            <a:ext cx="1840945" cy="44974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6805" y="1844441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특성 모듈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394" y="3221816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본문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227045"/>
            <a:ext cx="7510084" cy="216784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3194384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선택 탭 콘텐츠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017" y="2240761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394" y="481720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미제공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7667" y="4436043"/>
            <a:ext cx="7510084" cy="940628"/>
          </a:xfrm>
          <a:prstGeom prst="rect">
            <a:avLst/>
          </a:prstGeom>
          <a:solidFill>
            <a:srgbClr val="FFFFFF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667" y="4789771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이 지점에 없는 서비스 안내 — 다른 지점 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②레이아웃 원형 (지점 16개 · IA-010~018)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REQ-SI-004 행사안내를 층별안내 다음 상단 배치 — LNB 순서가 요구로 확정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⛔ 이 템플릿이 성립하지 않으면 컨셉키워드 K2 실패. 지점마다 다른 골격을 만들면 L1-1이 16배로 불어난다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특성 모듈(FN-B06)이 "구조는 통일, 특성은 모듈" 의 실행 장치 — 더현대 서울 같은 플래그십의 표현 여지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W-05 목록형 원형 · 브랜드·강좌·카드·행사 공통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9672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필터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4990467" cy="46300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69297"/>
            <a:ext cx="491731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조건 필터 (영역별 상이)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6901" y="754380"/>
            <a:ext cx="2470850" cy="46300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6901" y="869297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정렬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394" y="136307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결과 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1258535"/>
            <a:ext cx="7510084" cy="38738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1335641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N건 · 선택 지점 문맥 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394" y="2648670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목록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67" y="1687068"/>
            <a:ext cx="7510084" cy="210151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67" y="2621238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항목 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017" y="1700784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394" y="400989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더보기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3829729"/>
            <a:ext cx="7510084" cy="538631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3982459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페이지네이션 / 더보기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394" y="4803936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빈 상태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4409508"/>
            <a:ext cx="7510084" cy="967163"/>
          </a:xfrm>
          <a:prstGeom prst="rect">
            <a:avLst/>
          </a:prstGeom>
          <a:solidFill>
            <a:srgbClr val="FFFFFF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4776504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없음 — 대안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②레이아웃 원형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목록마다 화면을 새로 그리지 않는다 — 필터 항목과 카드 구성만 데이터로 갈린다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W-06 상세형 원형 · 브랜드·강좌·카드 공통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147740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상단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3100754" cy="162436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1449977"/>
            <a:ext cx="3027604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대표 이미지 영역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3637189" y="754380"/>
            <a:ext cx="4360562" cy="1624366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7189" y="1449977"/>
            <a:ext cx="428741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핵심 정보 + 주요 행동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394" y="2532234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2419894"/>
            <a:ext cx="2470850" cy="40298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2504802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상세 정보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7284" y="2419894"/>
            <a:ext cx="2470850" cy="40298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7284" y="2504802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이용 안내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26901" y="2419894"/>
            <a:ext cx="2470850" cy="40298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6901" y="2504802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관련 항목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394" y="3698094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본문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864031"/>
            <a:ext cx="7510084" cy="184643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3670662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선택 탭 콘텐츠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394" y="497498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하단 고정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4751614"/>
            <a:ext cx="7510084" cy="62505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4947557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주요 행동 (신청·문의)!  · MWEB 고정 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②레이아웃 원형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주요 행동을 상단·하단 양쪽에 — 스크롤 길이가 긴 상세에서 행동까지 되돌아가지 않게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W-07 강좌 목록 · 양 채널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932518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필터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1840945" cy="53458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905086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지점(컨텍스트)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380" y="754380"/>
            <a:ext cx="1840945" cy="53458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380" y="905086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기간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093" y="754380"/>
            <a:ext cx="1840945" cy="53458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7093" y="905086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분야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805" y="754380"/>
            <a:ext cx="1840945" cy="53458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805" y="905086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요일·시간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394" y="146507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결과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330113"/>
            <a:ext cx="5620371" cy="44822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437640"/>
            <a:ext cx="554722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N건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6805" y="1330113"/>
            <a:ext cx="1840945" cy="44822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6805" y="1437640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정렬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394" y="3077125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목록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1819486"/>
            <a:ext cx="7510084" cy="269358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67" y="3049693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강좌 카드 — 강좌명 · 강사 · 일정 · 비용 · 잔여 정원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017" y="1833202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394" y="487629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대기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4554220"/>
            <a:ext cx="7510084" cy="82245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484886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정원 초과 강좌 — 대기 신청 / 대기 상태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①분기(B3 정원 여유?) ②원형(W-05 파생)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122(현시스템기초분석) H5 "정원 초과가 사후 처리" → 목록 단계에서 잔여 정원 사전 표시 (FN-D02)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⛔ 실시간 정원 데이터 연동이 전제 — 미정의 D1-4. 연동 불가 시 이 화면의 핵심이 무너진다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대기 상태 조회(FN-D09)는 신설 — AS-IS는 대기 신청 후 막다른 길이었다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W-08 거래 S1 · 정보 확인 · 문화센터·카드 공통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92223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스텝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2470850" cy="514023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94805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① 정보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7284" y="754380"/>
            <a:ext cx="2470850" cy="51402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7284" y="894805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② 결제·입력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6901" y="754380"/>
            <a:ext cx="2470850" cy="51402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6901" y="894805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③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394" y="210197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대상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67" y="1309551"/>
            <a:ext cx="7510084" cy="176315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667" y="2074545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신청 대상 요약 (강좌 / 카드)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394" y="376749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입력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3113858"/>
            <a:ext cx="7510084" cy="148557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" y="3740059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신청자 정보 · 옵션 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394" y="491947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행동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4640580"/>
            <a:ext cx="3730658" cy="73609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4892040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이전 / 취소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093" y="4640580"/>
            <a:ext cx="3730658" cy="736092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7093" y="4892040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①분기(B4 로그인 상태 · B6 자격 충족) ②원형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122(현시스템기초분석) H3·H5 "S1 중간에 나의회원추가L이 끼어듦" → 로그인 분기를 이 화면 앞으로 이동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취소 경로 신설 — AS-IS 카드신청 64화면 중 취소·이전 0건(241(분석종합) I-9)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W-09 거래 S2 · 결제·입력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8628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스텝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2470850" cy="4421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58849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① 정보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7284" y="754380"/>
            <a:ext cx="2470850" cy="44211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7284" y="858849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② 결제·입력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6901" y="754380"/>
            <a:ext cx="2470850" cy="4421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6901" y="858849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③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394" y="173198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분기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67" y="1237638"/>
            <a:ext cx="7510084" cy="116699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667" y="170455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유료 → 결제수단 / 무료 → 확인만  (강좌) · 배송지 (카드)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394" y="306094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입력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2445783"/>
            <a:ext cx="7510084" cy="140862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" y="303351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결제·배송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394" y="420867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예외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3895557"/>
            <a:ext cx="3730658" cy="804553"/>
          </a:xfrm>
          <a:prstGeom prst="rect">
            <a:avLst/>
          </a:prstGeom>
          <a:solidFill>
            <a:srgbClr val="FFFFFF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4181247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결제 실패 — 재시도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093" y="3895557"/>
            <a:ext cx="3730658" cy="804553"/>
          </a:xfrm>
          <a:prstGeom prst="rect">
            <a:avLst/>
          </a:prstGeom>
          <a:solidFill>
            <a:srgbClr val="FFFFFF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7093" y="4181247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배송 불가 지역 — 주소 변경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394" y="496981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행동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4741258"/>
            <a:ext cx="3730658" cy="63541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4942379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이전 / 취소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7093" y="4741258"/>
            <a:ext cx="3730658" cy="635413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7093" y="4942379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결제·제출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①분기(B5 유료?) ②원형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122(현시스템기초분석) H9 오류 화면 0건 → 결제 실패 복구 신설(FN-D07) · 배송 불가 안내 신설(FN-E06)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W-10 거래 S3 ·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103327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스텝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2470850" cy="73609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100584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① 정보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7284" y="754380"/>
            <a:ext cx="2470850" cy="73609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7284" y="100584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② 결제·입력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6901" y="754380"/>
            <a:ext cx="2470850" cy="736092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6901" y="100584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③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394" y="249059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결과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67" y="1531620"/>
            <a:ext cx="7510084" cy="209626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667" y="2463165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완료 안내 · 신청 번호 · 처리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394" y="443369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다음 행동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3669030"/>
            <a:ext cx="3730658" cy="170764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" y="4406265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나의 강좌 / 마이카드로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093" y="3669030"/>
            <a:ext cx="3730658" cy="170764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7093" y="4406265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계속 둘러보기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②원형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막다른 화면을 만들지 않는다 — 완료 후 갈 곳 2개를 항상 둔다(컨셉키워드 K4)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W-11 카드·멤버십 허브 · 양 채널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9643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46241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69001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헤더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1805038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257943"/>
            <a:ext cx="2470850" cy="127249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777606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 종류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5783" y="1271659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7284" y="1257943"/>
            <a:ext cx="2470850" cy="127249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7284" y="1777606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 종류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26901" y="1257943"/>
            <a:ext cx="2470850" cy="1272497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6901" y="1777606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카드 신청 유도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394" y="300921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멤버십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67" y="2571589"/>
            <a:ext cx="3730658" cy="105355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67" y="2981781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VIP프로그램 (등급·혜택)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093" y="2571589"/>
            <a:ext cx="3730658" cy="105355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7093" y="2981781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마일리지 안내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394" y="404918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기타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67" y="3666293"/>
            <a:ext cx="2470850" cy="94408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667" y="402175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상품권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07284" y="3666293"/>
            <a:ext cx="2470850" cy="94408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07284" y="402175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더클럽웨딩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26901" y="3666293"/>
            <a:ext cx="2470850" cy="94408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26901" y="402175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마이카드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394" y="4924945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조회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7667" y="4651527"/>
            <a:ext cx="7510084" cy="72514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667" y="4897513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포인트·마일리지 조회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②원형 ③신설(MWEB 서브메인 REQ-CA-005·006)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더클럽웨딩은 서비스 → 카드·멤버십으로 이동(REQ-CA-002)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카드 목록은 화면이 아니라 혜택 데이터를 소비한다 — 컨셉키워드 K2. 카드가 늘어도 화면이 안 는다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W-12 VIP프로그램 · 양 채널 동일 2Tab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9065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45086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63227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헤더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1617984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나의 등급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246394"/>
            <a:ext cx="7510084" cy="92148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590552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로그인 시 나의 VIP 등급 · 다음 등급까지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394" y="231322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2209031"/>
            <a:ext cx="3730658" cy="38669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2285790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등급 안내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093" y="2209031"/>
            <a:ext cx="3730658" cy="3866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093" y="2285790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혜택 안내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394" y="3489778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탭 콘텐츠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67" y="2636869"/>
            <a:ext cx="7510084" cy="188412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67" y="3462346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등급 6종 · 혜택 12종 — 템플릿 1종 + 데이터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017" y="2650585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394" y="488025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마일리지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4562142"/>
            <a:ext cx="7510084" cy="81452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4852821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마일리지 적립 기준 (고밀도 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①분기(로그인 여부로 초기 노출 등급이 갈림) ②원형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240 결정 D-3 — PC도 2Tab으로 통일. PC 작업 등급 스킨변경 → 개선 상향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P-MBR-06 "선정 기준·서비스 기간은 매년 변경" → 화면에 하드코딩하지 않고 어드민 값 표시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⛔ 마일리지 계산 주체 미정(212(정책요건분석) G4 · 미정의 D1-10) — 표만 그리고 산출 로직은 비워 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W-13 마이페이지 ·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9065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45086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63227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헤더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1617984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246394"/>
            <a:ext cx="2470850" cy="92148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590552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나의 VIP 등급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07284" y="1246394"/>
            <a:ext cx="2470850" cy="92148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7284" y="1590552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H.Point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6901" y="1246394"/>
            <a:ext cx="2470850" cy="92148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6901" y="1590552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 할인 쿠폰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394" y="2794540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관리 메뉴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2209031"/>
            <a:ext cx="1840945" cy="134932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" y="2767108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회원정보 변경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380" y="2209031"/>
            <a:ext cx="1840945" cy="134932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380" y="2767108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비밀번호 변경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7093" y="2209031"/>
            <a:ext cx="1840945" cy="134932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7093" y="2767108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나의 차량 번호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6805" y="2209031"/>
            <a:ext cx="1840945" cy="134932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6805" y="2767108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개인정보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394" y="3971096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PC 전용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7667" y="3599506"/>
            <a:ext cx="3730658" cy="92148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667" y="3943664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로그인 기록 보기 (PC 전용)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7093" y="3599506"/>
            <a:ext cx="3730658" cy="92148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67093" y="3943664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회원탈퇴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394" y="488025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연결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667" y="4562142"/>
            <a:ext cx="3730658" cy="81452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667" y="4852821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나의 강좌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7093" y="4562142"/>
            <a:ext cx="3730658" cy="81452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7093" y="4852821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H.Point 통합회원 전환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①분기(B7 통합회원 전환됨?) ④전역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컨셉키워드 K3 채널 결손 해소 — 비밀번호 변경(AS-IS PC만) · 차량번호(MWEB만) · H.Point 전환(PC만) → 전부 양 채널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로그인 기록만 PC 전용 유지(D-4) — ⚖️ 차이를 남기는 결정이므로 341(화면명세서작성)에 사유 기록 의무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용어 통일 7건 적용 — 나의 VIP 등급 · 나의 차량 번호 · 나의 강좌 · 카드 할인 쿠폰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W-13 마이페이지 · MWEB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93946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54848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912035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헤더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179711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344010"/>
            <a:ext cx="2470850" cy="108450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769679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나의 VIP 등급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07284" y="1344010"/>
            <a:ext cx="2470850" cy="108450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7284" y="1769679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H.Point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6901" y="1344010"/>
            <a:ext cx="2470850" cy="108450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6901" y="1769679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 할인 쿠폰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394" y="336499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관리 메뉴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2469668"/>
            <a:ext cx="7510084" cy="196895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" y="333756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회원정보 / 비밀번호+ / 차량번호+ / 개인정보 / 회원탈퇴  (세로 리스트)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394" y="483906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연결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4479771"/>
            <a:ext cx="3730658" cy="896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4811635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나의 강좌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093" y="4479771"/>
            <a:ext cx="3730658" cy="896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7093" y="4811635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H.Point 전환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MWEB에는 로그인 기록이 없다 — 항목 수가 PC보다 1개 적은 유일한 차이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W-14 예외 화면 원형 · 6종 공통 · 양 채널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99517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65989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96774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헤더 (예외 화면에서도 유지 — 갇히지 않게)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226009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안내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455420"/>
            <a:ext cx="7510084" cy="1787652"/>
          </a:xfrm>
          <a:prstGeom prst="rect">
            <a:avLst/>
          </a:prstGeom>
          <a:solidFill>
            <a:srgbClr val="FFFFFF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223266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무슨 일이 일어났는가 + 왜  (404 / 권한 / 세션 / 결제실패 / 정원초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394" y="378409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복구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3284220"/>
            <a:ext cx="3730658" cy="1178052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3756659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직전 맥락으로 돌아가기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093" y="3284220"/>
            <a:ext cx="3730658" cy="117805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093" y="3756659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대안 행동 (유형별)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394" y="485089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최후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67" y="4503419"/>
            <a:ext cx="7510084" cy="87325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67" y="4823459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통합 고객센터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③신설 ④전역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122 H9 — AS-IS 명세에 오류·404 화면이 0건. 통째로 신설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원형 1개 + 유형별 문구·대안 행동만 갈린다 → 6종을 6화면으로 그리지 않는다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⚠️ 이 화면군의 실제 화면 수는 여기서 확정하지 않는다 — §7-1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W-15 통합 고객센터 · 양 채널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9643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46241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69001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헤더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153136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검색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257943"/>
            <a:ext cx="7510084" cy="72514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50393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무엇을 도와드릴까요 — 도움말 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394" y="2626066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분류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2024236"/>
            <a:ext cx="2470850" cy="138196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2598634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문화센터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7284" y="2024236"/>
            <a:ext cx="2470850" cy="138196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7284" y="2598634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카드·멤버십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26901" y="2024236"/>
            <a:ext cx="2470850" cy="138196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6901" y="2598634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회원·기타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394" y="393971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3447352"/>
            <a:ext cx="7510084" cy="116302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3912279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자주하는 질문~  (영역별 FAQ가 여기로 집약)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394" y="4924945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연결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67" y="4651527"/>
            <a:ext cx="2470850" cy="72514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667" y="4897513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챗봇 상담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07284" y="4651527"/>
            <a:ext cx="2470850" cy="72514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07284" y="4897513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ARS 카드 상담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26901" y="4651527"/>
            <a:ext cx="2470850" cy="72514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26901" y="4897513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1:1 문의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선정축 ③신설 ④전역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122(현시스템기초분석) H10 "도움말 산재 PC 4곳 · MWEB 3곳" → 단일 진입점(FN-H08)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원 위치에도 링크를 남긴다 — 문화센터 이용안내에서 FAQ를 찾던 사용자를 잃지 않게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⚠️ 통합 범위가 미정이었다(322(정보구조설계) D3-3) — 여기서 FAQ·챗봇·ARS·1:1 4종으로 확정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유형원형 A 허브·서브메인형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61556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전역 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1840945" cy="3926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34124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로고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380" y="754380"/>
            <a:ext cx="3100754" cy="3926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380" y="834124"/>
            <a:ext cx="3027604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GNB 6종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6901" y="754380"/>
            <a:ext cx="1211041" cy="3926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6901" y="834124"/>
            <a:ext cx="113789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통합검색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86710" y="754380"/>
            <a:ext cx="1211041" cy="3926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6710" y="834124"/>
            <a:ext cx="113789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로그인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394" y="1241138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지점 컨텍스트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188188"/>
            <a:ext cx="4990467" cy="284208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213706"/>
            <a:ext cx="491731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지금 보는 점포 + 지점명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6901" y="1188188"/>
            <a:ext cx="2470850" cy="28420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26901" y="1213706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394" y="221720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대표 비주얼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1513544"/>
            <a:ext cx="7510084" cy="158563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67" y="2189775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Admin 등록 배너~  (최대 10 · 초과 시 등록 차단)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394" y="351863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안내·현황 모듈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7667" y="3140326"/>
            <a:ext cx="3730658" cy="9349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667" y="3491200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진행 중 행사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5591" y="3154042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7093" y="3140326"/>
            <a:ext cx="3730658" cy="9349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7093" y="3491200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카드·멤버십 현황  (상태축 가변)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394" y="4440475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주요기능 모듈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7667" y="4116394"/>
            <a:ext cx="1840945" cy="82646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667" y="4413043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퀵링크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878" y="4130110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380" y="4116394"/>
            <a:ext cx="1840945" cy="82646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380" y="4413043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퀵링크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7093" y="4116394"/>
            <a:ext cx="1840945" cy="82646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7093" y="4413043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퀵링크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6805" y="4116394"/>
            <a:ext cx="1840945" cy="82646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56805" y="4413043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퀵링크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394" y="509118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푸터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7667" y="4984011"/>
            <a:ext cx="7510084" cy="3926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7667" y="5063755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사이트맵 · 웹접근성 · 개인정보처리방침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상태축 4단(비회원/회원/카드보유Y/VIP) — 안내·현황 모듈만 가변, 골격은 불변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컨셉키워드 K1 — 지점 컨텍스트가 콘텐츠보다 위에 상주한다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컴포넌트: N-01 · N-02 · T-03 · T-06 · C-01 (343 매핑표)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유형원형 B 정보·안내형 · 지점축 modifier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2681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전역 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32318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799385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114560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지점 컨텍스트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118711"/>
            <a:ext cx="4990467" cy="2321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118175"/>
            <a:ext cx="491731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지점명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26901" y="1118711"/>
            <a:ext cx="2470850" cy="2321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6901" y="1118175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변경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394" y="178318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대표 비주얼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67" y="1391959"/>
            <a:ext cx="7510084" cy="96076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67" y="1755755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Admin 등록 지점 이미지  (미등록 시 기본 이미지)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394" y="243898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절 구분 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67" y="2393870"/>
            <a:ext cx="7510084" cy="26853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67" y="2411551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층별안내 / 식당가 / 오시는길 / 이용안내  (지점별 제공 항목만)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394" y="286707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영업 정보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2703552"/>
            <a:ext cx="2470850" cy="50534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67" y="283964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영업시간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07284" y="2703552"/>
            <a:ext cx="2470850" cy="50534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07284" y="283964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휴점일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6901" y="2703552"/>
            <a:ext cx="2470850" cy="50534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26901" y="283964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임시 휴점 안내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394" y="368681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본문 블록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3250049"/>
            <a:ext cx="2470850" cy="105184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3659385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Admin 등록 본문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5783" y="3263765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07284" y="3250049"/>
            <a:ext cx="2470850" cy="105184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07284" y="3659385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Admin 등록 본문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6901" y="3250049"/>
            <a:ext cx="2470850" cy="105184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26901" y="3659385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Admin 등록 본문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394" y="4552104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지점 특성 모듈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7667" y="4343042"/>
            <a:ext cx="7510084" cy="596431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7667" y="4524672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특성 모듈+  (미등록 시 영역 비노출)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394" y="508949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미제공 서비스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7667" y="4980622"/>
            <a:ext cx="7510084" cy="39604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667" y="5062061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미제공 안내?  (332 §6-2 빈 상태 2행)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이 골격 1개가 본화면 399건 중 지점축 198건을 담당한다 — 컨셉키워드 K2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탭은 같은 화면 안 전환(N-04) — LNB(N-03)와 행동이 다르다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컴포넌트: N-01 · N-02 · N-03/N-04 · T-04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유형원형 C 목록형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75515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전역 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42057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48083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1360328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화면 제목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216106"/>
            <a:ext cx="4990467" cy="466751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332896"/>
            <a:ext cx="491731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목록 제목 + 총 N건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26901" y="1216106"/>
            <a:ext cx="2470850" cy="466751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6901" y="1332896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정렬 드롭다운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394" y="1833598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1단 필터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67" y="1724006"/>
            <a:ext cx="7510084" cy="39749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67" y="1806166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조건 칩 N종  (선택 즉시 목록 갱신 · 페이지 재호출 없음)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394" y="224915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검색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67" y="2162646"/>
            <a:ext cx="3730658" cy="35131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67" y="2221720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지역 검색 입력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093" y="2162646"/>
            <a:ext cx="3730658" cy="35131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7093" y="2221720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(여백)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394" y="336883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카드·리스트 반복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67" y="2555114"/>
            <a:ext cx="1840945" cy="180575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667" y="3341407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878" y="2568830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380" y="2555114"/>
            <a:ext cx="1840945" cy="180575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380" y="3341407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7093" y="2555114"/>
            <a:ext cx="1840945" cy="180575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67093" y="3341407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6805" y="2555114"/>
            <a:ext cx="1840945" cy="180575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6805" y="3341407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394" y="456932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빈 상태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7667" y="4402021"/>
            <a:ext cx="7510084" cy="51292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667" y="4541897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없음 — 범위 확장 제안?  (332 §6-2 빈 상태 1행)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394" y="5077228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더보기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7667" y="4956093"/>
            <a:ext cx="7510084" cy="42057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7667" y="5049796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더보기 · 페이지네이션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테이블 없음 — 백화점 도메인은 카드·리스트만 쓴다(유형 사전 §2-5)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컴포넌트: N-01 · C-02 · C-03 · C-06 · T-01/T-02 · N-07 · T-04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유형원형 D 콘텐츠 상세형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0860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목록 복귀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2867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781169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← 목록으로!  (필터·스크롤 위치 보존)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161012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대표 이미지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082278"/>
            <a:ext cx="7510084" cy="1234011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582697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Admin 등록 대표 이미지  (미등록 시 기본 이미지)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394" y="250274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제목·메타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2357437"/>
            <a:ext cx="4990467" cy="46891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2475309"/>
            <a:ext cx="491731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제목 + 카테고리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26901" y="2357437"/>
            <a:ext cx="2470850" cy="46891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6901" y="2475309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부가 메타  (최대 2줄 · 초과 시 말줄임)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394" y="3440894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본문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67" y="2867501"/>
            <a:ext cx="7510084" cy="132509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67" y="3413462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Admin 등록 본문  (화면은 그릇 · 본문은 운영 콘텐츠)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394" y="430618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미등록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4233743"/>
            <a:ext cx="7510084" cy="32318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67" y="4278749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준비 중 안내?  (332 §6-2 빈 상태 3행)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394" y="489821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관련 목록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7667" y="4598074"/>
            <a:ext cx="2470850" cy="77859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667" y="4870787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관련 항목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5783" y="4611790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07284" y="4598074"/>
            <a:ext cx="2470850" cy="77859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7284" y="4870787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관련 항목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6901" y="4598074"/>
            <a:ext cx="2470850" cy="77859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26901" y="4870787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관련 항목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반복 인스턴스 — 브랜드 24 · 친환경 활동 32 · 강좌 17 이 이 골격 하나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화면명이 고유명사라 어휘로 못 잡는다 — 구조(형제 3+ 말단)로 판정했다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컴포넌트: N-01 · T-01(관련 목록) · C-01(복귀)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유형원형 E 조회·결과형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68855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전역 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40725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41423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헤더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133968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화면 제목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202787"/>
            <a:ext cx="7510084" cy="4521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312251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조회 제목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394" y="192261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조건 입력부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696036"/>
            <a:ext cx="2470850" cy="63146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895181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상태 필터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7284" y="1696036"/>
            <a:ext cx="2470850" cy="631463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7284" y="1895181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기간 입력  (최대 12개월 · 초과 시 안내)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26901" y="1696036"/>
            <a:ext cx="2470850" cy="631463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6901" y="1895181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조회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394" y="244949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결과 건수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2368647"/>
            <a:ext cx="7510084" cy="33999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242206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총 N건  (조회 전 미노출 — 빈 상태와 구분)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394" y="3480830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결과 목록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67" y="2749794"/>
            <a:ext cx="7510084" cy="1640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667" y="3453398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017" y="2763510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394" y="459063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결과 0건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7667" y="4431323"/>
            <a:ext cx="7510084" cy="496941"/>
          </a:xfrm>
          <a:prstGeom prst="rect">
            <a:avLst/>
          </a:prstGeom>
          <a:solidFill>
            <a:srgbClr val="FFFFFF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667" y="4563207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목록 비어 있음 + 대안 행동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394" y="5083888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페이징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7667" y="4969412"/>
            <a:ext cx="7510084" cy="40725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667" y="5056456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페이지네이션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⚠ 「조회 전 미노출」과 「결과 0건 빈 상태」는 다른 상태다 — v0.1이 놓친 구분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조회는 목록형의 특수 케이스(입력이 선행) — 그래서 판별 우선순위가 목록형보다 앞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컴포넌트: N-01 · C-02 · C-04 · C-01 · T-02 · T-04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유형원형 F 프로세스형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84566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서브 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4990467" cy="36087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818230"/>
            <a:ext cx="491731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신청 상품명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6901" y="754380"/>
            <a:ext cx="2470850" cy="36087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6901" y="81823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닫기  (중단 경고 → 입력 소실 안내)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394" y="121753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단계바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1156400"/>
            <a:ext cx="7510084" cy="30056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1190099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N단계 중 n!  (완료=표기 · 이후=비활성 · 이전=입력값 보존 이동)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394" y="184066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승계 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67" y="1498118"/>
            <a:ext cx="7510084" cy="86339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67" y="1813231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상류 단계 인증값  (읽기전용 · 수정 시 재인증 안내)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394" y="289596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입력 블록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67" y="2402664"/>
            <a:ext cx="7510084" cy="116491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67" y="2868535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입력 필드~  (필수 표기 · blur 1차 검증)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394" y="385076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선택 블록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3608726"/>
            <a:ext cx="3730658" cy="66238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67" y="3823335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라디오·체크 선택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093" y="3608726"/>
            <a:ext cx="3730658" cy="66238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7093" y="3823335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조건부 활성 영역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394" y="4504050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밸리데이션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7667" y="4312263"/>
            <a:ext cx="7510084" cy="561883"/>
          </a:xfrm>
          <a:prstGeom prst="rect">
            <a:avLst/>
          </a:prstGeom>
          <a:solidFill>
            <a:srgbClr val="FFFFFF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667" y="4476618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Validation Check — 필드 하단 오류 문구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394" y="505682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단일 액션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667" y="4915294"/>
            <a:ext cx="7510084" cy="46137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7667" y="5029397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다음!  (Default 비활성 → 필수·유효성 충족 시 활성)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완료 화면은 Header 비제공 · History back 불가 — 별 화면으로 그린다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결제 실패 시 예외는 레이어다 — 본화면 전환이면 "신청 내용은 그대로 있습니다"가 거짓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공통 모듈 3종을 여기서 호출한다 — §3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컴포넌트: N-05 · C-04 · C-05 · C-01(3종) · T-07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유형원형 G 예외·안내형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1061030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(Header 비제공)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7510084" cy="79160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1033598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헤더 없음 — 화면 자체가 상태다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394" y="1963184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상태 표시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587137"/>
            <a:ext cx="7510084" cy="930402"/>
          </a:xfrm>
          <a:prstGeom prst="rect">
            <a:avLst/>
          </a:prstGeom>
          <a:solidFill>
            <a:srgbClr val="FFFFFF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935752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상태 아이콘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394" y="286533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무엇이 잘못됐나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2558687"/>
            <a:ext cx="7510084" cy="79160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2837905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332(컨텐츠가이드설계) §6 사전 정본 문구!  (주어는 시스템·상황 — 비난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394" y="360093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3391444"/>
            <a:ext cx="7510084" cy="597299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3573507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사유  (전달 불가 시 영역 비노출 · 「알 수 없는 오류」 금지)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394" y="4267145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다음 행동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4029891"/>
            <a:ext cx="7510084" cy="65281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4239713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다음 행동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394" y="4961109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행동 버튼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4723855"/>
            <a:ext cx="3730658" cy="652816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4933677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주 행동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7093" y="4723855"/>
            <a:ext cx="3730658" cy="652816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7093" y="4933677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보조 행동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문구를 이 문서에서 만들지 않는다 — 332(컨텐츠가이드설계) §6 사전값 6종 고정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버튼 1개 이상 필수 — 「막다른 화면 0」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코드·상태값 노출 0 · History back 불가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컴포넌트: T-05 · C-01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공통모듈 1 본인인증(L)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1008983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오버레이 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4990467" cy="68751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981551"/>
            <a:ext cx="491731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본인인증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6901" y="754380"/>
            <a:ext cx="2470850" cy="687514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6901" y="981551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닫기  (중단 경고 · 호출 화면 입력값 보존)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394" y="228414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수단 선택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1483042"/>
            <a:ext cx="3730658" cy="178050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2256710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인증 수단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591" y="1496758"/>
            <a:ext cx="658351" cy="2057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550" b="0">
                <a:solidFill>
                  <a:srgbClr val="767676"/>
                </a:solidFill>
                <a:latin typeface="Pretendard"/>
              </a:rPr>
              <a:t>반복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093" y="1483042"/>
            <a:ext cx="3730658" cy="178050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093" y="2256710"/>
            <a:ext cx="3657508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인증 수단  (종류·우선순위 213(시스템요건분석) 미결)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394" y="3741467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고지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67" y="3304698"/>
            <a:ext cx="7510084" cy="1051845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67" y="3714035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인증 목적·수집 항목  (212 정책요건 문구)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394" y="4798028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실패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4397692"/>
            <a:ext cx="7510084" cy="978979"/>
          </a:xfrm>
          <a:prstGeom prst="rect">
            <a:avLst/>
          </a:prstGeom>
          <a:solidFill>
            <a:srgbClr val="FFFFFF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67" y="4770596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실패 안내 + 다시 시도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호출처: 카드신청 S1 · 마이페이지 개인정보 관리 · 문화센터 접수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모듈 내부 전환이지 화면 이동이 아니다 — 오버레이 중첩 금지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공통모듈 2 주소검색(L)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943590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오버레이 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4990467" cy="55672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916158"/>
            <a:ext cx="491731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주소 검색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6901" y="754380"/>
            <a:ext cx="2470850" cy="55672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6901" y="916158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닫기  (값 반환 없음 · 기존 값 유지)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394" y="1616201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검색 입력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1352256"/>
            <a:ext cx="5620371" cy="706198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1588769"/>
            <a:ext cx="5547221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도로명·지번 입력  (최대 50자 · 초과 시 입력 차단)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805" y="1352256"/>
            <a:ext cx="1840945" cy="706198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805" y="1588769"/>
            <a:ext cx="176779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394" y="224397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결과 건수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2099603"/>
            <a:ext cx="7510084" cy="467047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" y="221654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총 N건  (검색 전 미노출)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394" y="3544355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결과 목록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2607798"/>
            <a:ext cx="7510084" cy="2051421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3516923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주소 행~  (선택 시 우편번호·기본주소 반환 후 닫힘)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394" y="4949365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결과 없음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67" y="4700367"/>
            <a:ext cx="7510084" cy="676304"/>
          </a:xfrm>
          <a:prstGeom prst="rect">
            <a:avLst/>
          </a:prstGeom>
          <a:solidFill>
            <a:srgbClr val="FFFFFF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667" y="4921933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없음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호출처: 카드 배송지 · 상품권 배송 · 마이페이지 주소 관리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조회·결과형 골격을 오버레이 안에서 그대로 쓴다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150876"/>
            <a:ext cx="8046518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공통모듈 3 약관 상세(L)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6" y="178308"/>
            <a:ext cx="3291757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Pretendard"/>
              </a:rPr>
              <a:t>저충실도 · 12칼럼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394" y="99009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오버레이 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754380"/>
            <a:ext cx="4990467" cy="64973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" y="962660"/>
            <a:ext cx="491731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약관명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6901" y="754380"/>
            <a:ext cx="2470850" cy="64973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6901" y="962660"/>
            <a:ext cx="23977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닫기  (동의 상태 변경 없음)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394" y="289001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약관 전문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1445260"/>
            <a:ext cx="7510084" cy="306781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286258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Admin 등록 전문  (스크롤 · 본문 내 링크 없음)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394" y="4876292"/>
            <a:ext cx="3657508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동의 반환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67" y="4554220"/>
            <a:ext cx="7510084" cy="822452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67" y="4848860"/>
            <a:ext cx="743693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동의하고 닫기!  (호출 화면 체크 반영)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67" y="555498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호출처: 카드신청 약관 동의 · 회원 · 문화센터 접수</a:t>
            </a:r>
          </a:p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· 개정 시 Admin 버전 관리 — 재동의 요구 조건은 212(정책요건분석) 미결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와이어프레임 · V0.2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