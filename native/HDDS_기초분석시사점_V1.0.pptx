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75335" y="2194560"/>
            <a:ext cx="10241023" cy="8229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Pretendard"/>
              </a:rPr>
              <a:t>기초분석 시사점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5335" y="3086100"/>
            <a:ext cx="10241023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500" b="0">
                <a:solidFill>
                  <a:srgbClr val="C8C8C8"/>
                </a:solidFill>
                <a:latin typeface="Pretendard"/>
              </a:rPr>
              <a:t>현대백화점 자사채널(PC·MWEB) 개선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5335" y="4251960"/>
            <a:ext cx="10241023" cy="13716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0">
                <a:solidFill>
                  <a:srgbClr val="A8A8A8"/>
                </a:solidFill>
                <a:latin typeface="Pretendard"/>
              </a:rPr>
              <a:t>구분   보고</a:t>
            </a:r>
          </a:p>
          <a:p>
            <a:pPr algn="l"/>
            <a:r>
              <a:rPr sz="1100" b="0">
                <a:solidFill>
                  <a:srgbClr val="A8A8A8"/>
                </a:solidFill>
                <a:latin typeface="Pretendard"/>
              </a:rPr>
              <a:t>버전   V1.0</a:t>
            </a:r>
          </a:p>
          <a:p>
            <a:pPr algn="l"/>
            <a:r>
              <a:rPr sz="1100" b="0">
                <a:solidFill>
                  <a:srgbClr val="A8A8A8"/>
                </a:solidFill>
                <a:latin typeface="Pretendard"/>
              </a:rPr>
              <a:t>작성일   2026-08-10</a:t>
            </a:r>
          </a:p>
          <a:p>
            <a:pPr algn="l"/>
            <a:r>
              <a:rPr sz="1100" b="0">
                <a:solidFill>
                  <a:srgbClr val="A8A8A8"/>
                </a:solidFill>
                <a:latin typeface="Pretendard"/>
              </a:rPr>
              <a:t>작성자   기획PL</a:t>
            </a:r>
          </a:p>
          <a:p>
            <a:pPr algn="l"/>
            <a:r>
              <a:rPr sz="1100" b="0">
                <a:solidFill>
                  <a:srgbClr val="A8A8A8"/>
                </a:solidFill>
                <a:latin typeface="Pretendard"/>
              </a:rPr>
              <a:t>프로젝트   C2202500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5335" y="6172200"/>
            <a:ext cx="10241023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  <a:latin typeface="Pretendard"/>
              </a:rPr>
              <a:t>VinylC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50" y="274320"/>
            <a:ext cx="7315017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Pretendard"/>
              </a:rPr>
              <a:t>개정이력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50" y="822960"/>
            <a:ext cx="975335" cy="34290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50" y="864108"/>
            <a:ext cx="975335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버전</a:t>
            </a:r>
          </a:p>
        </p:txBody>
      </p:sp>
      <p:sp>
        <p:nvSpPr>
          <p:cNvPr id="5" name="Rectangle 4"/>
          <p:cNvSpPr/>
          <p:nvPr/>
        </p:nvSpPr>
        <p:spPr>
          <a:xfrm>
            <a:off x="1341086" y="822960"/>
            <a:ext cx="1463003" cy="34290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41086" y="864108"/>
            <a:ext cx="146300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일자</a:t>
            </a:r>
          </a:p>
        </p:txBody>
      </p:sp>
      <p:sp>
        <p:nvSpPr>
          <p:cNvPr id="7" name="Rectangle 6"/>
          <p:cNvSpPr/>
          <p:nvPr/>
        </p:nvSpPr>
        <p:spPr>
          <a:xfrm>
            <a:off x="2804089" y="822960"/>
            <a:ext cx="7315017" cy="34290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04089" y="864108"/>
            <a:ext cx="7315017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변경 내역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19106" y="822960"/>
            <a:ext cx="1706837" cy="34290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19106" y="864108"/>
            <a:ext cx="1706837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작성자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50" y="1165860"/>
            <a:ext cx="975335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50" y="1200150"/>
            <a:ext cx="975335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v0.1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41086" y="1165860"/>
            <a:ext cx="1463003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41086" y="1200150"/>
            <a:ext cx="1463003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2026-08-10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804089" y="1165860"/>
            <a:ext cx="7315017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04089" y="1200150"/>
            <a:ext cx="7315017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초안작성 — AS-IS 구조 분석 시사점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119106" y="1165860"/>
            <a:ext cx="1706837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19106" y="1200150"/>
            <a:ext cx="1706837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기획PL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67" y="137160"/>
            <a:ext cx="7315017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기초분석 시사점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67" y="548640"/>
            <a:ext cx="11216359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Pretendard"/>
              </a:rPr>
              <a:t>개요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667" y="1234440"/>
            <a:ext cx="3169840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87667" y="1289304"/>
            <a:ext cx="3169840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>항목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508" y="1234440"/>
            <a:ext cx="8290352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508" y="1289304"/>
            <a:ext cx="8290352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>내용</a:t>
            </a:r>
          </a:p>
        </p:txBody>
      </p:sp>
      <p:sp>
        <p:nvSpPr>
          <p:cNvPr id="8" name="Rectangle 7"/>
          <p:cNvSpPr/>
          <p:nvPr/>
        </p:nvSpPr>
        <p:spPr>
          <a:xfrm>
            <a:off x="487667" y="1611630"/>
            <a:ext cx="3169840" cy="864108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7667" y="1639062"/>
            <a:ext cx="3169840" cy="809244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입력 분석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508" y="1611630"/>
            <a:ext cx="8290352" cy="864108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508" y="1639062"/>
            <a:ext cx="8290352" cy="809244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122 AS-IS(휴리스틱 14) · 215 요구(78) · 212(정책요건분석) 정책(35+공백9) · 126(기초분석종합) 범위(상충6) · 221 서비스분석(축소) · 121 환경분석(시사점7)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7667" y="2475738"/>
            <a:ext cx="3169840" cy="69951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7667" y="2503170"/>
            <a:ext cx="3169840" cy="64465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워크숍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508" y="2475738"/>
            <a:ext cx="8290352" cy="69951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508" y="2503170"/>
            <a:ext cx="8290352" cy="64465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1차 2022-09-23 (14:00~17:10, 고객사 2 + 수행사 7) · 2차 2022-09-28 (14:00~16:00, 고객사 1 + 수행사 6)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7667" y="3175254"/>
            <a:ext cx="3169840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7667" y="3202686"/>
            <a:ext cx="3169840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워크숍 성격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508" y="3175254"/>
            <a:ext cx="8290352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508" y="3202686"/>
            <a:ext cx="8290352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범위 산정·요건 협의 중심. Co-Analysis(분석 결과 공유·시사점 도출) 형식은 아님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7667" y="3710177"/>
            <a:ext cx="3169840" cy="69951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7667" y="3737609"/>
            <a:ext cx="3169840" cy="64465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결손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508" y="3710177"/>
            <a:ext cx="8290352" cy="69951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508" y="3737609"/>
            <a:ext cx="8290352" cy="64465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231(현시스템UT) UT · 232 감성 · 233(사용자심층리서치) 필드 · 123(사용자요구기초분석) VOC · 214 로그 — 사용자 조사 전체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기초분석 시사점 · V1.0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67" y="137160"/>
            <a:ext cx="7315017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기초분석 시사점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67" y="548640"/>
            <a:ext cx="11216359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Pretendard"/>
              </a:rPr>
              <a:t>테마별 시사점 (affinity 군집)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667" y="1234440"/>
            <a:ext cx="3169840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87667" y="1289304"/>
            <a:ext cx="3169840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>근거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508" y="1234440"/>
            <a:ext cx="8290352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508" y="1289304"/>
            <a:ext cx="8290352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>내용</a:t>
            </a:r>
          </a:p>
        </p:txBody>
      </p:sp>
      <p:sp>
        <p:nvSpPr>
          <p:cNvPr id="8" name="Rectangle 7"/>
          <p:cNvSpPr/>
          <p:nvPr/>
        </p:nvSpPr>
        <p:spPr>
          <a:xfrm>
            <a:off x="487667" y="1611630"/>
            <a:ext cx="3169840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7667" y="1639062"/>
            <a:ext cx="3169840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122(현시스템기초분석) H4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508" y="1611630"/>
            <a:ext cx="8290352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508" y="1639062"/>
            <a:ext cx="8290352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PC 1st depth 32 (GNB 평면) vs MWEB 6 (전체메뉴 허브) — 진입 모델 상이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7667" y="2146554"/>
            <a:ext cx="3169840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7667" y="2173986"/>
            <a:ext cx="3169840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122(현시스템기초분석) H4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508" y="2146554"/>
            <a:ext cx="8290352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508" y="2173986"/>
            <a:ext cx="8290352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브랜드 표기 불일치 — PEER/피어, BASH/바쉬 (BASH), 위마켓/위마캣(오기 의심)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7667" y="2681478"/>
            <a:ext cx="3169840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7667" y="2708910"/>
            <a:ext cx="3169840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122(현시스템기초분석) H4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508" y="2681478"/>
            <a:ext cx="8290352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508" y="2708910"/>
            <a:ext cx="8290352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화면ID 접미 관례가 채널마다 다름 (P는 PC only, F는 MWEB only)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7667" y="3216402"/>
            <a:ext cx="3169840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7667" y="3243834"/>
            <a:ext cx="3169840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122(현시스템기초분석) A3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508" y="3216402"/>
            <a:ext cx="8290352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508" y="3243834"/>
            <a:ext cx="8290352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채널 동등성 결손 9건 — 모바일에서 비밀번호 변경 불가, PC에서 차량번호 등록 불가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7667" y="3751326"/>
            <a:ext cx="316984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7667" y="3778757"/>
            <a:ext cx="3169840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122(현시스템기초분석) A4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508" y="3751326"/>
            <a:ext cx="8290352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508" y="3778757"/>
            <a:ext cx="8290352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웹접근성 안내가 PC에만 존재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7667" y="4162806"/>
            <a:ext cx="3169840" cy="69951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7667" y="4190237"/>
            <a:ext cx="3169840" cy="64465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워크숍 1차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508" y="4162806"/>
            <a:ext cx="8290352" cy="69951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508" y="4190237"/>
            <a:ext cx="8290352" cy="64465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"MWEB 네비게이션 바 삭제, PC와 통일된 톤앤매너" · "마이페이지 일원화 필요" · "VIP프로그램 구조 통일 필요"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87667" y="4862321"/>
            <a:ext cx="3169840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7667" y="4889754"/>
            <a:ext cx="3169840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워크숍 1차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508" y="4862321"/>
            <a:ext cx="8290352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57508" y="4889754"/>
            <a:ext cx="8290352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단 "'로그인 기록 보기'는 PC에서만 노출" — 통일 방침과 어긋남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87667" y="5397245"/>
            <a:ext cx="316984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7667" y="5424678"/>
            <a:ext cx="3169840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근거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508" y="5397245"/>
            <a:ext cx="8290352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57508" y="5424678"/>
            <a:ext cx="8290352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내용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7667" y="5877305"/>
            <a:ext cx="11216359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767676"/>
                </a:solidFill>
                <a:latin typeface="Pretendard"/>
              </a:rPr>
              <a:t>※ 이하 25행은 원장·문서 참조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기초분석 시사점 · V1.0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67" y="137160"/>
            <a:ext cx="7315017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기초분석 시사점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67" y="548640"/>
            <a:ext cx="11216359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Pretendard"/>
              </a:rPr>
              <a:t>핵심 이슈 목록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667" y="1234440"/>
            <a:ext cx="2194505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87667" y="1289304"/>
            <a:ext cx="2194505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>#</a:t>
            </a:r>
          </a:p>
        </p:txBody>
      </p:sp>
      <p:sp>
        <p:nvSpPr>
          <p:cNvPr id="6" name="Rectangle 5"/>
          <p:cNvSpPr/>
          <p:nvPr/>
        </p:nvSpPr>
        <p:spPr>
          <a:xfrm>
            <a:off x="2682172" y="1234440"/>
            <a:ext cx="2316422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82172" y="1289304"/>
            <a:ext cx="2316422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>이슈</a:t>
            </a:r>
          </a:p>
        </p:txBody>
      </p:sp>
      <p:sp>
        <p:nvSpPr>
          <p:cNvPr id="8" name="Rectangle 7"/>
          <p:cNvSpPr/>
          <p:nvPr/>
        </p:nvSpPr>
        <p:spPr>
          <a:xfrm>
            <a:off x="4998594" y="1234440"/>
            <a:ext cx="2316422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98594" y="1289304"/>
            <a:ext cx="2316422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>테마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017" y="1234440"/>
            <a:ext cx="2316422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017" y="1289304"/>
            <a:ext cx="2316422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>심각도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31439" y="1234440"/>
            <a:ext cx="2316422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31439" y="1289304"/>
            <a:ext cx="2316422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>하류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7667" y="1611630"/>
            <a:ext cx="2194505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7667" y="1639062"/>
            <a:ext cx="2194505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I-1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82172" y="1611630"/>
            <a:ext cx="2316422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82172" y="1639062"/>
            <a:ext cx="2316422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채널 진입 모델 불일치 — 통일 여부가 IA 최대 분기점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98594" y="1611630"/>
            <a:ext cx="2316422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98594" y="1639062"/>
            <a:ext cx="2316422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T-A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017" y="1611630"/>
            <a:ext cx="2316422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017" y="1639062"/>
            <a:ext cx="2316422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상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31439" y="1611630"/>
            <a:ext cx="2316422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31439" y="1639062"/>
            <a:ext cx="2316422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242(UX전략및컨셉수립) · 322(정보구조설계)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7667" y="2023110"/>
            <a:ext cx="2194505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7667" y="2050542"/>
            <a:ext cx="2194505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I-2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682172" y="2023110"/>
            <a:ext cx="2316422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682172" y="2050542"/>
            <a:ext cx="2316422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통일 방침과 개별 결정이 어긋남 (§4 상세)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98594" y="2023110"/>
            <a:ext cx="2316422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98594" y="2050542"/>
            <a:ext cx="2316422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T-A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017" y="2023110"/>
            <a:ext cx="2316422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017" y="2050542"/>
            <a:ext cx="2316422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상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631439" y="2023110"/>
            <a:ext cx="2316422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31439" y="2050542"/>
            <a:ext cx="2316422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242(UX전략및컨셉수립) · 911(변경관리)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7667" y="2434590"/>
            <a:ext cx="2194505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7667" y="2462022"/>
            <a:ext cx="2194505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I-3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682172" y="2434590"/>
            <a:ext cx="2316422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82172" y="2462022"/>
            <a:ext cx="2316422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채널 동등성 결손 9건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98594" y="2434590"/>
            <a:ext cx="2316422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998594" y="2462022"/>
            <a:ext cx="2316422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T-A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5017" y="2434590"/>
            <a:ext cx="2316422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15017" y="2462022"/>
            <a:ext cx="2316422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631439" y="2434590"/>
            <a:ext cx="2316422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31439" y="2462022"/>
            <a:ext cx="2316422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215(요구사항정의) · 322(정보구조설계) · 341(화면명세서작성)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87667" y="2969514"/>
            <a:ext cx="2194505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7667" y="2996946"/>
            <a:ext cx="2194505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I-4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682172" y="2969514"/>
            <a:ext cx="2316422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682172" y="2996946"/>
            <a:ext cx="2316422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브랜드 표기 채널 불일치 (위마켓/위마캣 오기 의심)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998594" y="2969514"/>
            <a:ext cx="2316422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998594" y="2996946"/>
            <a:ext cx="2316422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T-A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017" y="2969514"/>
            <a:ext cx="2316422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315017" y="2996946"/>
            <a:ext cx="2316422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중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631439" y="2969514"/>
            <a:ext cx="2316422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631439" y="2996946"/>
            <a:ext cx="2316422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332 컨텐츠가이드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87667" y="3380994"/>
            <a:ext cx="2194505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87667" y="3408426"/>
            <a:ext cx="2194505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I-5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682172" y="3380994"/>
            <a:ext cx="2316422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682172" y="3408426"/>
            <a:ext cx="2316422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2대 영역(카드 29.8% + 지점 23.0% = 52.8%) 템플릿화 여부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998594" y="3380994"/>
            <a:ext cx="2316422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98594" y="3408426"/>
            <a:ext cx="2316422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T-B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315017" y="3380994"/>
            <a:ext cx="2316422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315017" y="3408426"/>
            <a:ext cx="2316422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상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631439" y="3380994"/>
            <a:ext cx="2316422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631439" y="3408426"/>
            <a:ext cx="2316422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322(정보구조설계) · 411(작업계획수립)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87667" y="3915917"/>
            <a:ext cx="2194505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87667" y="3943349"/>
            <a:ext cx="2194505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I-6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682172" y="3915917"/>
            <a:ext cx="2316422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682172" y="3943349"/>
            <a:ext cx="2316422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검색결과가 진입 문맥 무반영 (최대 21경로 → 화면 1)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998594" y="3915917"/>
            <a:ext cx="2316422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998594" y="3943349"/>
            <a:ext cx="2316422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T-B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315017" y="3915917"/>
            <a:ext cx="2316422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15017" y="3943349"/>
            <a:ext cx="2316422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중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631439" y="3915917"/>
            <a:ext cx="2316422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631439" y="3943349"/>
            <a:ext cx="2316422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322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87667" y="4327397"/>
            <a:ext cx="2194505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87667" y="4354829"/>
            <a:ext cx="2194505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I-7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682172" y="4327397"/>
            <a:ext cx="2316422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682172" y="4354829"/>
            <a:ext cx="2316422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재방문 지원 장치 0건 (최근본·즐겨찾기)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998594" y="4327397"/>
            <a:ext cx="2316422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998594" y="4354829"/>
            <a:ext cx="2316422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T-B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315017" y="4327397"/>
            <a:ext cx="2316422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315017" y="4354829"/>
            <a:ext cx="2316422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중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631439" y="4327397"/>
            <a:ext cx="2316422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9631439" y="4354829"/>
            <a:ext cx="2316422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321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87667" y="4738877"/>
            <a:ext cx="2194505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87667" y="4766310"/>
            <a:ext cx="2194505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I-8</a:t>
            </a:r>
          </a:p>
        </p:txBody>
      </p:sp>
      <p:sp>
        <p:nvSpPr>
          <p:cNvPr id="86" name="Rectangle 85"/>
          <p:cNvSpPr/>
          <p:nvPr/>
        </p:nvSpPr>
        <p:spPr>
          <a:xfrm>
            <a:off x="2682172" y="4738877"/>
            <a:ext cx="2316422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2682172" y="4766310"/>
            <a:ext cx="2316422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예외·오류 화면 명세 0건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998594" y="4738877"/>
            <a:ext cx="2316422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998594" y="4766310"/>
            <a:ext cx="2316422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T-C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315017" y="4738877"/>
            <a:ext cx="2316422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315017" y="4766310"/>
            <a:ext cx="2316422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상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631439" y="4738877"/>
            <a:ext cx="2316422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631439" y="4766310"/>
            <a:ext cx="2316422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321(기능상세정의) · 341(화면명세서작성)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87667" y="5150357"/>
            <a:ext cx="2194505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87667" y="5177790"/>
            <a:ext cx="2194505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I-9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682172" y="5150357"/>
            <a:ext cx="2316422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2682172" y="5177790"/>
            <a:ext cx="2316422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거래 흐름에 취소·복구 경로 없음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998594" y="5150357"/>
            <a:ext cx="2316422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998594" y="5177790"/>
            <a:ext cx="2316422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T-C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315017" y="5150357"/>
            <a:ext cx="2316422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7315017" y="5177790"/>
            <a:ext cx="2316422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상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9631439" y="5150357"/>
            <a:ext cx="2316422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9631439" y="5177790"/>
            <a:ext cx="2316422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312(유저플로우설계) · 342(UI상세설계)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87667" y="5561838"/>
            <a:ext cx="2194505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87667" y="5589270"/>
            <a:ext cx="2194505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I-10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2682172" y="5561838"/>
            <a:ext cx="2316422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2682172" y="5589270"/>
            <a:ext cx="2316422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도움말 산재, 통합 고객센터 부재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4998594" y="5561838"/>
            <a:ext cx="2316422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4998594" y="5589270"/>
            <a:ext cx="2316422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T-C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315017" y="5561838"/>
            <a:ext cx="2316422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315017" y="5589270"/>
            <a:ext cx="2316422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중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9631439" y="5561838"/>
            <a:ext cx="2316422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631439" y="5589270"/>
            <a:ext cx="2316422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322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7667" y="6041898"/>
            <a:ext cx="11216359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767676"/>
                </a:solidFill>
                <a:latin typeface="Pretendard"/>
              </a:rPr>
              <a:t>※ 이하 4행은 원장·문서 참조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기초분석 시사점 · V1.0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67" y="137160"/>
            <a:ext cx="7315017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기초분석 시사점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67" y="548640"/>
            <a:ext cx="11216359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Pretendard"/>
              </a:rPr>
              <a:t>상충 · 미결 (봉합하지 않음)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667" y="1234440"/>
            <a:ext cx="3169840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87667" y="1289304"/>
            <a:ext cx="3169840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3657508" y="1234440"/>
            <a:ext cx="4145176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508" y="1289304"/>
            <a:ext cx="4145176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>통일 방향</a:t>
            </a:r>
          </a:p>
        </p:txBody>
      </p:sp>
      <p:sp>
        <p:nvSpPr>
          <p:cNvPr id="8" name="Rectangle 7"/>
          <p:cNvSpPr/>
          <p:nvPr/>
        </p:nvSpPr>
        <p:spPr>
          <a:xfrm>
            <a:off x="7802684" y="1234440"/>
            <a:ext cx="4145176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02684" y="1289304"/>
            <a:ext cx="4145176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>개별 결정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7667" y="1611630"/>
            <a:ext cx="316984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7667" y="1639062"/>
            <a:ext cx="3169840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마이페이지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508" y="1611630"/>
            <a:ext cx="4145176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508" y="1639062"/>
            <a:ext cx="4145176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"개선 시 일원화된 구성 필요 (PC, MWEB)" (1차)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02684" y="1611630"/>
            <a:ext cx="4145176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02684" y="1639062"/>
            <a:ext cx="4145176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"'로그인 기록 보기'는 PC에서만 노출" (1차)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7667" y="2023110"/>
            <a:ext cx="3169840" cy="69951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7667" y="2050542"/>
            <a:ext cx="3169840" cy="64465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VIP프로그램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508" y="2023110"/>
            <a:ext cx="4145176" cy="69951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508" y="2050542"/>
            <a:ext cx="4145176" cy="64465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"VIP프로그램 구조 통일 필요(PC/MWEB 동일)" (1차)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02684" y="2023110"/>
            <a:ext cx="4145176" cy="69951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02684" y="2050542"/>
            <a:ext cx="4145176" cy="64465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1차: "프리미엄서비스&gt;VIP프로그램 범위 개선→스킨변경(PC/MWEB 동일)" → 2차: "[MWEB] VIP프로그램 범위 스킨변경→개선, 원페이지를 2Tab 구조로 개선"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7667" y="2722626"/>
            <a:ext cx="316984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7667" y="2750058"/>
            <a:ext cx="3169840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#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508" y="2722626"/>
            <a:ext cx="4145176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508" y="2750058"/>
            <a:ext cx="4145176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미결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802684" y="2722626"/>
            <a:ext cx="4145176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02684" y="2750058"/>
            <a:ext cx="4145176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확인 주체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7667" y="3134106"/>
            <a:ext cx="316984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7667" y="3161538"/>
            <a:ext cx="3169840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508" y="3134106"/>
            <a:ext cx="4145176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508" y="3161538"/>
            <a:ext cx="4145176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회원 메뉴 제외의 화면 단위 경계 (68화면)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02684" y="3134106"/>
            <a:ext cx="4145176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02684" y="3161538"/>
            <a:ext cx="4145176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고객사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7667" y="3545586"/>
            <a:ext cx="316984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7667" y="3573018"/>
            <a:ext cx="3169840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508" y="3545586"/>
            <a:ext cx="4145176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508" y="3573018"/>
            <a:ext cx="4145176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층별안내(8화면)·IR예약(1화면) 존치/개선 여부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02684" y="3545586"/>
            <a:ext cx="4145176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802684" y="3573018"/>
            <a:ext cx="4145176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고객사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7667" y="3957066"/>
            <a:ext cx="316984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87667" y="3984498"/>
            <a:ext cx="3169840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3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508" y="3957066"/>
            <a:ext cx="4145176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57508" y="3984498"/>
            <a:ext cx="4145176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더현대 대구 업무 R&amp;R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802684" y="3957066"/>
            <a:ext cx="4145176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802684" y="3984498"/>
            <a:ext cx="4145176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PM ↔ 고객사 (워크숍 2차)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87667" y="4368546"/>
            <a:ext cx="316984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87667" y="4395978"/>
            <a:ext cx="3169840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4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508" y="4368546"/>
            <a:ext cx="4145176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657508" y="4395978"/>
            <a:ext cx="4145176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10월 중순 이후 운영 변경분의 반영 방식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802684" y="4368546"/>
            <a:ext cx="4145176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802684" y="4395978"/>
            <a:ext cx="4145176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PM ↔ 고객사 (워크숍 2차)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87667" y="4780026"/>
            <a:ext cx="316984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87667" y="4807458"/>
            <a:ext cx="3169840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508" y="4780026"/>
            <a:ext cx="4145176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508" y="4807458"/>
            <a:ext cx="4145176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AS-IS 캡처본·화면ID 고객 최종 검수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802684" y="4780026"/>
            <a:ext cx="4145176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802684" y="4807458"/>
            <a:ext cx="4145176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고객사 (워크숍 2차)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87667" y="5191506"/>
            <a:ext cx="316984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87667" y="5218938"/>
            <a:ext cx="3169840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6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657508" y="5191506"/>
            <a:ext cx="4145176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657508" y="5218938"/>
            <a:ext cx="4145176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접근성 "준수 수준" 정의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802684" y="5191506"/>
            <a:ext cx="4145176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802684" y="5218938"/>
            <a:ext cx="4145176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PM ↔ 고객사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87667" y="5602986"/>
            <a:ext cx="316984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87667" y="5630418"/>
            <a:ext cx="3169840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7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508" y="5602986"/>
            <a:ext cx="4145176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657508" y="5630418"/>
            <a:ext cx="4145176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위마켓/위마캣 정식 브랜드명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802684" y="5602986"/>
            <a:ext cx="4145176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802684" y="5630418"/>
            <a:ext cx="4145176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고객사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기초분석 시사점 · V1.0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67" y="137160"/>
            <a:ext cx="7315017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기초분석 시사점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67" y="548640"/>
            <a:ext cx="11216359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Pretendard"/>
              </a:rPr>
              <a:t>다음 단계 (242(UX전략및컨셉수립) 입력)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667" y="1234440"/>
            <a:ext cx="3169840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87667" y="1289304"/>
            <a:ext cx="3169840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>242(UX전략및컨셉수립)가 반드시 다뤄야 할 것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508" y="1234440"/>
            <a:ext cx="8290352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508" y="1289304"/>
            <a:ext cx="8290352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>근거</a:t>
            </a:r>
          </a:p>
        </p:txBody>
      </p:sp>
      <p:sp>
        <p:nvSpPr>
          <p:cNvPr id="8" name="Rectangle 7"/>
          <p:cNvSpPr/>
          <p:nvPr/>
        </p:nvSpPr>
        <p:spPr>
          <a:xfrm>
            <a:off x="487667" y="1611630"/>
            <a:ext cx="3169840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7667" y="1639062"/>
            <a:ext cx="3169840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채널 통일의 수준 — 어디까지 같게 하고 어디를 다르게 둘 것인가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508" y="1611630"/>
            <a:ext cx="8290352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508" y="1639062"/>
            <a:ext cx="8290352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T-A · I-1·I-2·I-3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7667" y="2146554"/>
            <a:ext cx="3169840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7667" y="2173986"/>
            <a:ext cx="3169840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반복 구조의 처리 — 2대 영역 52.8%를 템플릿으로 볼 것인가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508" y="2146554"/>
            <a:ext cx="8290352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508" y="2173986"/>
            <a:ext cx="8290352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T-B · I-5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7667" y="2681478"/>
            <a:ext cx="316984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7667" y="2708910"/>
            <a:ext cx="3169840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실패 경로의 지위 — 예외를 공통 자산으로 볼 것인가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508" y="2681478"/>
            <a:ext cx="8290352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508" y="2708910"/>
            <a:ext cx="8290352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T-C · I-8·I-9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7667" y="3092958"/>
            <a:ext cx="316984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7667" y="3120390"/>
            <a:ext cx="3169840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회원 전환기의 설계 태도 — 전환 전/후 어느 쪽 기준인가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508" y="3092958"/>
            <a:ext cx="8290352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508" y="3120390"/>
            <a:ext cx="8290352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T-D · I-11·I-12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7667" y="3504438"/>
            <a:ext cx="3169840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7667" y="3531870"/>
            <a:ext cx="3169840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변동 흡수 구조 — 증설·운영 변경을 구조가 흡수할 수 있는가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508" y="3504438"/>
            <a:ext cx="8290352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508" y="3531870"/>
            <a:ext cx="8290352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T-B·T-E · I-13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기초분석 시사점 · V1.0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