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35" y="2194560"/>
            <a:ext cx="10241023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</a:rPr>
              <a:t>기초분석 시사점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3086100"/>
            <a:ext cx="10241023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0">
                <a:solidFill>
                  <a:srgbClr val="C8C8C8"/>
                </a:solidFill>
                <a:latin typeface="Pretendard"/>
              </a:rPr>
              <a:t>현대백화점 자사채널(PC·MWEB)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4251960"/>
            <a:ext cx="10241023" cy="1371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구분   보고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버전   V1.0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작성일   2026-08-10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작성자   기획PL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프로젝트   C2202500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6172200"/>
            <a:ext cx="1024102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Pretendard"/>
              </a:rPr>
              <a:t>VinylC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50" y="274320"/>
            <a:ext cx="7315017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Pretendard"/>
              </a:rPr>
              <a:t>개정이력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0" y="822960"/>
            <a:ext cx="975335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864108"/>
            <a:ext cx="97533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버전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1086" y="822960"/>
            <a:ext cx="1463003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41086" y="864108"/>
            <a:ext cx="146300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일자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4089" y="822960"/>
            <a:ext cx="731501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04089" y="864108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변경 내역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19106" y="822960"/>
            <a:ext cx="170683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19106" y="864108"/>
            <a:ext cx="170683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작성자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50" y="116586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0" y="120015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v0.1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1086" y="116586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1086" y="120015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4089" y="116586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4089" y="120015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초안작성 — AS-IS 구조 분석 시사점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19106" y="116586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19106" y="120015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기획PL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50" y="274320"/>
            <a:ext cx="1097252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Pretendard"/>
              </a:rPr>
              <a:t>1.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0" y="891540"/>
            <a:ext cx="3169840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946404"/>
            <a:ext cx="3169840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항목</a:t>
            </a:r>
          </a:p>
        </p:txBody>
      </p:sp>
      <p:sp>
        <p:nvSpPr>
          <p:cNvPr id="5" name="Rectangle 4"/>
          <p:cNvSpPr/>
          <p:nvPr/>
        </p:nvSpPr>
        <p:spPr>
          <a:xfrm>
            <a:off x="3535591" y="891540"/>
            <a:ext cx="8290352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35591" y="946404"/>
            <a:ext cx="8290352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내용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50" y="1268730"/>
            <a:ext cx="3169840" cy="8641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0" y="1296161"/>
            <a:ext cx="3169840" cy="80924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입력 분석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5591" y="1268730"/>
            <a:ext cx="8290352" cy="8641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5591" y="1296161"/>
            <a:ext cx="8290352" cy="80924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122 AS-IS(휴리스틱 14) · 215 요구(78) · 212(정책요건분석) 정책(35+공백9) · 126(기초분석종합) 범위(상충6) · 221 서비스분석(축소) · 121 환경분석(시사점7)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50" y="2132838"/>
            <a:ext cx="3169840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0" y="2160270"/>
            <a:ext cx="3169840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워크숍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35591" y="2132838"/>
            <a:ext cx="8290352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5591" y="2160270"/>
            <a:ext cx="8290352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1차 2022-09-23 (14:00~17:10, 고객사 2 + 수행사 7) · 2차 2022-09-28 (14:00~16:00, 고객사 1 + 수행사 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50" y="2832354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50" y="2859786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워크숍 성격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35591" y="2832354"/>
            <a:ext cx="829035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5591" y="2859786"/>
            <a:ext cx="829035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범위 산정·요건 협의 중심. Co-Analysis(분석 결과 공유·시사점 도출) 형식은 아님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50" y="3367277"/>
            <a:ext cx="3169840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0" y="3394709"/>
            <a:ext cx="3169840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결손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35591" y="3367277"/>
            <a:ext cx="8290352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5591" y="3394709"/>
            <a:ext cx="8290352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231(현시스템UT) UT · 232 감성 · 233(사용자심층리서치) 필드 · 123(사용자요구기초분석) VOC · 214 로그 — 사용자 조사 전체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기초분석 시사점 · V1.0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50" y="274320"/>
            <a:ext cx="1097252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Pretendard"/>
              </a:rPr>
              <a:t>2. 테마별 시사점 (affinity 군집)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0" y="891540"/>
            <a:ext cx="3169840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946404"/>
            <a:ext cx="3169840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근거</a:t>
            </a:r>
          </a:p>
        </p:txBody>
      </p:sp>
      <p:sp>
        <p:nvSpPr>
          <p:cNvPr id="5" name="Rectangle 4"/>
          <p:cNvSpPr/>
          <p:nvPr/>
        </p:nvSpPr>
        <p:spPr>
          <a:xfrm>
            <a:off x="3535591" y="891540"/>
            <a:ext cx="8290352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35591" y="946404"/>
            <a:ext cx="8290352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내용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50" y="1268730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0" y="1296161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122(현시스템기초분석) H4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5591" y="1268730"/>
            <a:ext cx="829035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5591" y="1296161"/>
            <a:ext cx="829035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PC 1st depth 32 (GNB 평면) vs MWEB 6 (전체메뉴 허브) — 진입 모델 상이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50" y="1803654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0" y="1831086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122(현시스템기초분석) H4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35591" y="1803654"/>
            <a:ext cx="829035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5591" y="1831086"/>
            <a:ext cx="829035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브랜드 표기 불일치 — PEER/피어, BASH/바쉬 (BASH), 위마켓/위마캣(오기 의심)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50" y="2338578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50" y="2366010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122(현시스템기초분석) H4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35591" y="2338578"/>
            <a:ext cx="829035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5591" y="2366010"/>
            <a:ext cx="829035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화면ID 접미 관례가 채널마다 다름 (P는 PC only, F는 MWEB only)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50" y="2873502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0" y="2900934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122(현시스템기초분석) A3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35591" y="2873502"/>
            <a:ext cx="829035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5591" y="2900934"/>
            <a:ext cx="829035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채널 동등성 결손 9건 — 모바일에서 비밀번호 변경 불가, PC에서 차량번호 등록 불가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50" y="3408426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50" y="3435857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122(현시스템기초분석) 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35591" y="3408426"/>
            <a:ext cx="82903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5591" y="3435857"/>
            <a:ext cx="829035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웹접근성 안내가 PC에만 존재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50" y="3819906"/>
            <a:ext cx="3169840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50" y="3847337"/>
            <a:ext cx="3169840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워크숍 1차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35591" y="3819906"/>
            <a:ext cx="8290352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35591" y="3847337"/>
            <a:ext cx="8290352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"MWEB 네비게이션 바 삭제, PC와 통일된 톤앤매너" · "마이페이지 일원화 필요" · "VIP프로그램 구조 통일 필요"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50" y="4519421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50" y="4546854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워크숍 1차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35591" y="4519421"/>
            <a:ext cx="829035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35591" y="4546854"/>
            <a:ext cx="829035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단 "'로그인 기록 보기'는 PC에서만 노출" — 통일 방침과 어긋남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50" y="5054345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50" y="5081777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근거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35591" y="5054345"/>
            <a:ext cx="82903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35591" y="5081777"/>
            <a:ext cx="829035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내용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50" y="5465825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50" y="5493258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122(현시스템기초분석) §1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35591" y="5465825"/>
            <a:ext cx="829035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35591" y="5493258"/>
            <a:ext cx="829035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명세 행 1,344(설계프로토타입검증) / 고유 화면 1,003 / 본화면 574 — 최대 2.34배 차이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50" y="6069329"/>
            <a:ext cx="1097252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767676"/>
                </a:solidFill>
                <a:latin typeface="Pretendard"/>
              </a:rPr>
              <a:t>※ 이하 24행은 원장·문서 참조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기초분석 시사점 · V1.0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50" y="274320"/>
            <a:ext cx="1097252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Pretendard"/>
              </a:rPr>
              <a:t>3. 핵심 이슈 목록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0" y="891540"/>
            <a:ext cx="2194505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946404"/>
            <a:ext cx="2194505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#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255" y="891540"/>
            <a:ext cx="2316422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255" y="946404"/>
            <a:ext cx="2316422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이슈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8" y="891540"/>
            <a:ext cx="2316422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678" y="946404"/>
            <a:ext cx="2316422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테마</a:t>
            </a:r>
          </a:p>
        </p:txBody>
      </p:sp>
      <p:sp>
        <p:nvSpPr>
          <p:cNvPr id="9" name="Rectangle 8"/>
          <p:cNvSpPr/>
          <p:nvPr/>
        </p:nvSpPr>
        <p:spPr>
          <a:xfrm>
            <a:off x="7193100" y="891540"/>
            <a:ext cx="2316422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93100" y="946404"/>
            <a:ext cx="2316422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심각도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522" y="891540"/>
            <a:ext cx="2316422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522" y="946404"/>
            <a:ext cx="2316422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하류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50" y="1268730"/>
            <a:ext cx="2194505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0" y="1296161"/>
            <a:ext cx="2194505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I-1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255" y="1268730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255" y="1296161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채널 진입 모델 불일치 — 통일 여부가 IA 최대 분기점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8" y="1268730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6678" y="1296161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T-A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93100" y="1268730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93100" y="1296161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522" y="1268730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522" y="1296161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242(UX전략및컨셉수립) · 322(정보구조설계)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50" y="1680210"/>
            <a:ext cx="2194505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50" y="1707642"/>
            <a:ext cx="2194505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I-2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255" y="1680210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255" y="1707642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통일 방침과 개별 결정이 어긋남 (§4 상세)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76678" y="1680210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76678" y="1707642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T-A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93100" y="1680210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93100" y="1707642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9522" y="1680210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522" y="1707642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242(UX전략및컨셉수립) · 911(변경관리)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50" y="2091690"/>
            <a:ext cx="2194505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50" y="2119122"/>
            <a:ext cx="219450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I-3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255" y="2091690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255" y="2119122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채널 동등성 결손 9건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76678" y="2091690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76678" y="2119122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T-A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93100" y="2091690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93100" y="2119122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9522" y="2091690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522" y="2119122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215(요구사항정의) · 322(정보구조설계) · 341(화면명세서작성)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50" y="2626613"/>
            <a:ext cx="2194505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50" y="2654045"/>
            <a:ext cx="2194505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I-4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255" y="2626613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60255" y="2654045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브랜드 표기 채널 불일치 (위마켓/위마캣 오기 의심)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76678" y="2626613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76678" y="2654045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T-A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93100" y="2626613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93100" y="2654045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09522" y="2626613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9522" y="2654045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332 컨텐츠가이드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50" y="3038094"/>
            <a:ext cx="2194505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50" y="3065526"/>
            <a:ext cx="219450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I-5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60255" y="3038094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60255" y="3065526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2대 영역(카드 29.8% + 지점 23.0% = 52.8%) 템플릿화 여부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76678" y="3038094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76678" y="3065526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T-B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93100" y="3038094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93100" y="3065526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09522" y="3038094"/>
            <a:ext cx="231642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09522" y="3065526"/>
            <a:ext cx="231642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322(정보구조설계) · 411(작업계획수립)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50" y="3573017"/>
            <a:ext cx="2194505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50" y="3600449"/>
            <a:ext cx="2194505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I-6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60255" y="3573017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60255" y="3600449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검색결과가 진입 문맥 무반영 (최대 21경로 → 화면 1)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76678" y="3573017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76678" y="3600449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T-B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93100" y="3573017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93100" y="3600449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중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09522" y="3573017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509522" y="3600449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322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50" y="3984497"/>
            <a:ext cx="2194505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50" y="4011929"/>
            <a:ext cx="2194505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I-7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560255" y="3984497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560255" y="4011929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재방문 지원 장치 0건 (최근본·즐겨찾기)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76678" y="3984497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876678" y="4011929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T-B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93100" y="3984497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93100" y="4011929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중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509522" y="3984497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509522" y="4011929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321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50" y="4395977"/>
            <a:ext cx="2194505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750" y="4423410"/>
            <a:ext cx="2194505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I-8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560255" y="4395977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560255" y="4423410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예외·오류 화면 명세 0건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876678" y="4395977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876678" y="4423410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T-C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193100" y="4395977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93100" y="4423410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상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509522" y="4395977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509522" y="4423410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321(기능상세정의) · 341(화면명세서작성)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50" y="4807457"/>
            <a:ext cx="2194505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5750" y="4834890"/>
            <a:ext cx="2194505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I-9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560255" y="4807457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560255" y="4834890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거래 흐름에 취소·복구 경로 없음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876678" y="4807457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876678" y="4834890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T-C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93100" y="4807457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93100" y="4834890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상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509522" y="4807457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509522" y="4834890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312(유저플로우설계) · 342(UI상세설계)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65750" y="5218937"/>
            <a:ext cx="2194505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65750" y="5246370"/>
            <a:ext cx="2194505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I-10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560255" y="5218937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560255" y="5246370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도움말 산재, 통합 고객센터 부재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876678" y="5218937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876678" y="5246370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T-C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193100" y="5218937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93100" y="5246370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중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509522" y="5218937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509522" y="5246370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322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50" y="5630418"/>
            <a:ext cx="2194505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750" y="5657850"/>
            <a:ext cx="2194505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I-11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560255" y="5630418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560255" y="5657850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H.Point 전환이 PC 전용 + 동의 재획득 공백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876678" y="5630418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876678" y="5657850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T-D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193100" y="5630418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193100" y="5657850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상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509522" y="5630418"/>
            <a:ext cx="231642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509522" y="5657850"/>
            <a:ext cx="231642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212(정책요건분석) · 341(화면명세서작성)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65750" y="6110478"/>
            <a:ext cx="1097252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767676"/>
                </a:solidFill>
                <a:latin typeface="Pretendard"/>
              </a:rPr>
              <a:t>※ 이하 3행은 원장·문서 참조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기초분석 시사점 · V1.0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50" y="274320"/>
            <a:ext cx="1097252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Pretendard"/>
              </a:rPr>
              <a:t>4. 상충 · 미결 (봉합하지 않음)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0" y="891540"/>
            <a:ext cx="3169840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946404"/>
            <a:ext cx="3169840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3535591" y="891540"/>
            <a:ext cx="4145176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35591" y="946404"/>
            <a:ext cx="4145176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통일 방향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767" y="891540"/>
            <a:ext cx="4145176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767" y="946404"/>
            <a:ext cx="4145176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개별 결정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1268730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1296161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마이페이지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5591" y="126873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5591" y="1296161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"개선 시 일원화된 구성 필요 (PC, MWEB)" (1차)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767" y="1268730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767" y="1296161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"'로그인 기록 보기'는 PC에서만 노출" (1차)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50" y="1680210"/>
            <a:ext cx="3169840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50" y="1707642"/>
            <a:ext cx="3169840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VIP프로그램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35591" y="1680210"/>
            <a:ext cx="4145176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5591" y="1707642"/>
            <a:ext cx="4145176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"VIP프로그램 구조 통일 필요(PC/MWEB 동일)" (1차)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767" y="1680210"/>
            <a:ext cx="4145176" cy="6995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767" y="1707642"/>
            <a:ext cx="4145176" cy="64465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1차: "프리미엄서비스&gt;VIP프로그램 범위 개선→스킨변경(PC/MWEB 동일)" → 2차: "[MWEB] VIP프로그램 범위 스킨변경→개선, 원페이지를 2Tab 구조로 개선"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50" y="2379726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50" y="2407158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#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35591" y="2379726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5591" y="2407158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미결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767" y="2379726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767" y="2407158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확인 주체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50" y="2791206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50" y="2818638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35591" y="2791206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35591" y="2818638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회원 메뉴 제외의 화면 단위 경계 (68화면)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767" y="2791206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767" y="2818638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고객사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50" y="3202686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50" y="3230118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35591" y="3202686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35591" y="3230118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층별안내(8화면)·IR예약(1화면) 존치/개선 여부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767" y="3202686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767" y="3230118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고객사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50" y="3614166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50" y="3641598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35591" y="3614166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35591" y="3641598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더현대 대구 업무 R&amp;R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767" y="3614166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767" y="3641598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PM ↔ 고객사 (워크숍 2차)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50" y="4025646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50" y="4053078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35591" y="4025646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35591" y="4053078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10월 중순 이후 운영 변경분의 반영 방식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767" y="4025646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80767" y="4053078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PM ↔ 고객사 (워크숍 2차)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50" y="4437126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50" y="4464558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35591" y="4437126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35591" y="4464558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AS-IS 캡처본·화면ID 고객 최종 검수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767" y="4437126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80767" y="4464558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고객사 (워크숍 2차)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50" y="4848606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50" y="4876038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35591" y="4848606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35591" y="4876038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접근성 "준수 수준" 정의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80767" y="4848606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80767" y="4876038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PM ↔ 고객사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50" y="5260086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50" y="5287518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35591" y="5260086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35591" y="5287518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위마켓/위마캣 정식 브랜드명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80767" y="5260086"/>
            <a:ext cx="414517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80767" y="5287518"/>
            <a:ext cx="4145176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고객사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기초분석 시사점 · V1.0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50" y="274320"/>
            <a:ext cx="1097252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Pretendard"/>
              </a:rPr>
              <a:t>5. 다음 단계 (242(UX전략및컨셉수립) 입력)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0" y="891540"/>
            <a:ext cx="3169840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946404"/>
            <a:ext cx="3169840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242(UX전략및컨셉수립)가 반드시 다뤄야 할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3535591" y="891540"/>
            <a:ext cx="8290352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35591" y="946404"/>
            <a:ext cx="8290352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근거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50" y="1268730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0" y="1296161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채널 통일의 수준 — 어디까지 같게 하고 어디를 다르게 둘 것인가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5591" y="1268730"/>
            <a:ext cx="829035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5591" y="1296161"/>
            <a:ext cx="829035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T-A · I-1·I-2·I-3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50" y="1803654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0" y="1831086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반복 구조의 처리 — 2대 영역 52.8%를 템플릿으로 볼 것인가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35591" y="1803654"/>
            <a:ext cx="829035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5591" y="1831086"/>
            <a:ext cx="829035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T-B · I-5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50" y="2338578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50" y="2366010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실패 경로의 지위 — 예외를 공통 자산으로 볼 것인가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35591" y="2338578"/>
            <a:ext cx="82903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5591" y="2366010"/>
            <a:ext cx="829035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T-C · I-8·I-9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50" y="2750058"/>
            <a:ext cx="3169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0" y="2777490"/>
            <a:ext cx="3169840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회원 전환기의 설계 태도 — 전환 전/후 어느 쪽 기준인가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35591" y="2750058"/>
            <a:ext cx="82903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5591" y="2777490"/>
            <a:ext cx="8290352" cy="35661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T-D · I-11·I-12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50" y="3161538"/>
            <a:ext cx="316984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50" y="3188970"/>
            <a:ext cx="3169840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변동 흡수 구조 — 증설·운영 변경을 구조가 흡수할 수 있는가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35591" y="3161538"/>
            <a:ext cx="8290352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5591" y="3188970"/>
            <a:ext cx="8290352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T-B·T-E · I-13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기초분석 시사점 · V1.0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