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5335" y="2194560"/>
            <a:ext cx="10241023" cy="8229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retendard"/>
              </a:rPr>
              <a:t>UX전략보고서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35" y="3086100"/>
            <a:ext cx="10241023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500" b="0">
                <a:solidFill>
                  <a:srgbClr val="C8C8C8"/>
                </a:solidFill>
                <a:latin typeface="Pretendard"/>
              </a:rPr>
              <a:t>현대백화점 자사채널(PC·MWEB) 개선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35" y="4251960"/>
            <a:ext cx="10241023" cy="1371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>
                <a:solidFill>
                  <a:srgbClr val="A8A8A8"/>
                </a:solidFill>
                <a:latin typeface="Pretendard"/>
              </a:rPr>
              <a:t>구분   보고</a:t>
            </a:r>
          </a:p>
          <a:p>
            <a:pPr algn="l"/>
            <a:r>
              <a:rPr sz="1100" b="0">
                <a:solidFill>
                  <a:srgbClr val="A8A8A8"/>
                </a:solidFill>
                <a:latin typeface="Pretendard"/>
              </a:rPr>
              <a:t>버전   V1.0</a:t>
            </a:r>
          </a:p>
          <a:p>
            <a:pPr algn="l"/>
            <a:r>
              <a:rPr sz="1100" b="0">
                <a:solidFill>
                  <a:srgbClr val="A8A8A8"/>
                </a:solidFill>
                <a:latin typeface="Pretendard"/>
              </a:rPr>
              <a:t>작성일   2026-08-10</a:t>
            </a:r>
          </a:p>
          <a:p>
            <a:pPr algn="l"/>
            <a:r>
              <a:rPr sz="1100" b="0">
                <a:solidFill>
                  <a:srgbClr val="A8A8A8"/>
                </a:solidFill>
                <a:latin typeface="Pretendard"/>
              </a:rPr>
              <a:t>작성자   UX디렉터</a:t>
            </a:r>
          </a:p>
          <a:p>
            <a:pPr algn="l"/>
            <a:r>
              <a:rPr sz="1100" b="0">
                <a:solidFill>
                  <a:srgbClr val="A8A8A8"/>
                </a:solidFill>
                <a:latin typeface="Pretendard"/>
              </a:rPr>
              <a:t>프로젝트   C2202500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5335" y="6172200"/>
            <a:ext cx="10241023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Pretendard"/>
              </a:rPr>
              <a:t>VinylC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50" y="274320"/>
            <a:ext cx="7315017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Pretendard"/>
              </a:rPr>
              <a:t>개정이력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0" y="822960"/>
            <a:ext cx="975335" cy="3429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50" y="864108"/>
            <a:ext cx="975335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1">
                <a:solidFill>
                  <a:srgbClr val="1A1A1A"/>
                </a:solidFill>
                <a:latin typeface="Pretendard"/>
              </a:rPr>
              <a:t>버전</a:t>
            </a:r>
          </a:p>
        </p:txBody>
      </p:sp>
      <p:sp>
        <p:nvSpPr>
          <p:cNvPr id="5" name="Rectangle 4"/>
          <p:cNvSpPr/>
          <p:nvPr/>
        </p:nvSpPr>
        <p:spPr>
          <a:xfrm>
            <a:off x="1341086" y="822960"/>
            <a:ext cx="1463003" cy="3429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41086" y="864108"/>
            <a:ext cx="146300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1">
                <a:solidFill>
                  <a:srgbClr val="1A1A1A"/>
                </a:solidFill>
                <a:latin typeface="Pretendard"/>
              </a:rPr>
              <a:t>일자</a:t>
            </a:r>
          </a:p>
        </p:txBody>
      </p:sp>
      <p:sp>
        <p:nvSpPr>
          <p:cNvPr id="7" name="Rectangle 6"/>
          <p:cNvSpPr/>
          <p:nvPr/>
        </p:nvSpPr>
        <p:spPr>
          <a:xfrm>
            <a:off x="2804089" y="822960"/>
            <a:ext cx="7315017" cy="3429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04089" y="864108"/>
            <a:ext cx="7315017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1">
                <a:solidFill>
                  <a:srgbClr val="1A1A1A"/>
                </a:solidFill>
                <a:latin typeface="Pretendard"/>
              </a:rPr>
              <a:t>변경 내역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19106" y="822960"/>
            <a:ext cx="1706837" cy="3429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19106" y="864108"/>
            <a:ext cx="1706837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1">
                <a:solidFill>
                  <a:srgbClr val="1A1A1A"/>
                </a:solidFill>
                <a:latin typeface="Pretendard"/>
              </a:rPr>
              <a:t>작성자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50" y="1165860"/>
            <a:ext cx="975335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50" y="1200150"/>
            <a:ext cx="975335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v0.1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41086" y="1165860"/>
            <a:ext cx="1463003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41086" y="1200150"/>
            <a:ext cx="1463003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2026-08-10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04089" y="1165860"/>
            <a:ext cx="7315017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04089" y="1200150"/>
            <a:ext cx="7315017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초안작성 — 컨셉 방향 4 확정(사용자 개입) 반영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119106" y="1165860"/>
            <a:ext cx="1706837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19106" y="1200150"/>
            <a:ext cx="1706837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UX디렉터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67" y="137160"/>
            <a:ext cx="7315017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UX전략보고서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548640"/>
            <a:ext cx="11216359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Pretendard"/>
              </a:rPr>
              <a:t>배경·목적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67" y="1234440"/>
            <a:ext cx="11216359" cy="5074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50" b="0">
                <a:solidFill>
                  <a:srgbClr val="1A1A1A"/>
                </a:solidFill>
                <a:latin typeface="Pretendard"/>
              </a:rPr>
              <a:t>· 현대백화점 공식 홈페이지 PC·Mobile Web 전 페이지의 UX/UI를 개선하는 프로젝트다(126(기초분석종합) O-1). 계약 기간 7개월, 23.1Q 오픈 목표.</a:t>
            </a:r>
          </a:p>
          <a:p>
            <a:pPr algn="l"/>
            <a:r>
              <a:rPr sz="1150" b="0">
                <a:solidFill>
                  <a:srgbClr val="1A1A1A"/>
                </a:solidFill>
                <a:latin typeface="Pretendard"/>
              </a:rPr>
              <a:t>· 이 채널은 커머스가 아니다. 브랜딩·콘텐츠 아카이빙 + 그룹사 허브 + 기업정보(IR·ESG) 가 성격이며(I1 제안서·126(기초분석종합)), 사용자 여정의 종착점은 대개 구매가 아니라 오프라인 방문 또는 정보 획득이다(241(분석종합) §1).</a:t>
            </a:r>
          </a:p>
          <a:p>
            <a:pPr algn="l"/>
            <a:r>
              <a:rPr sz="1150" b="0">
                <a:solidFill>
                  <a:srgbClr val="1A1A1A"/>
                </a:solidFill>
                <a:latin typeface="Pretendard"/>
              </a:rPr>
              <a:t>· 이 문서는 프로토타이핑 전에 방향을 선언하는 이정표다. 구체 화면 설계는 300 Define에서 다룬다.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UX전략보고서 ·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67" y="137160"/>
            <a:ext cx="7315017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UX전략보고서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548640"/>
            <a:ext cx="11216359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Pretendard"/>
              </a:rPr>
              <a:t>문제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67" y="1097280"/>
            <a:ext cx="11216359" cy="37719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>
                <a:solidFill>
                  <a:srgbClr val="767676"/>
                </a:solidFill>
                <a:latin typeface="Pretendard"/>
              </a:rPr>
              <a:t>3분 안에 이해할 핵심</a:t>
            </a:r>
          </a:p>
        </p:txBody>
      </p:sp>
      <p:sp>
        <p:nvSpPr>
          <p:cNvPr id="5" name="Rectangle 4"/>
          <p:cNvSpPr/>
          <p:nvPr/>
        </p:nvSpPr>
        <p:spPr>
          <a:xfrm>
            <a:off x="487667" y="1577340"/>
            <a:ext cx="3169840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7667" y="1632204"/>
            <a:ext cx="3169840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Pretendard"/>
              </a:rPr>
              <a:t>#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508" y="1577340"/>
            <a:ext cx="4145176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508" y="1632204"/>
            <a:ext cx="4145176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Pretendard"/>
              </a:rPr>
              <a:t>문제</a:t>
            </a:r>
          </a:p>
        </p:txBody>
      </p:sp>
      <p:sp>
        <p:nvSpPr>
          <p:cNvPr id="9" name="Rectangle 8"/>
          <p:cNvSpPr/>
          <p:nvPr/>
        </p:nvSpPr>
        <p:spPr>
          <a:xfrm>
            <a:off x="7802684" y="1577340"/>
            <a:ext cx="4145176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02684" y="1632204"/>
            <a:ext cx="4145176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Pretendard"/>
              </a:rPr>
              <a:t>실측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7667" y="1954530"/>
            <a:ext cx="3169840" cy="8641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7667" y="1981962"/>
            <a:ext cx="3169840" cy="809244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P1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508" y="1954530"/>
            <a:ext cx="4145176" cy="8641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508" y="1981962"/>
            <a:ext cx="4145176" cy="809244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두 채널이 하나의 서비스로 작동하지 않는다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02684" y="1954530"/>
            <a:ext cx="4145176" cy="8641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02684" y="1981962"/>
            <a:ext cx="4145176" cy="809244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진입 구조 상이(PC 1st depth 32 vs MWEB 6) · 계정 기능 결손 9건 — 모바일에서 비밀번호를 바꿀 수 없고 PC에서 차량번호를 등록할 수 없다 · 같은 브랜드가 채널마다 다른 이름(위마켓/위마캣)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7667" y="2818638"/>
            <a:ext cx="3169840" cy="8641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7667" y="2846070"/>
            <a:ext cx="3169840" cy="809244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P2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508" y="2818638"/>
            <a:ext cx="4145176" cy="8641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508" y="2846070"/>
            <a:ext cx="4145176" cy="809244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화면이 많은 게 아니라 같은 구조가 반복된다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02684" y="2818638"/>
            <a:ext cx="4145176" cy="8641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02684" y="2846070"/>
            <a:ext cx="4145176" cy="809244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명세 행 1,344(설계프로토타입검증) / 고유 1,003 / 본화면 574 · 지점안내 23.0% + 카드·멤버십 29.8% = 52.8% · 카드 영역은 본화면 171인데 요건은 14건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7667" y="3682746"/>
            <a:ext cx="3169840" cy="69951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7667" y="3710178"/>
            <a:ext cx="3169840" cy="64465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P3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508" y="3682746"/>
            <a:ext cx="4145176" cy="69951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508" y="3710178"/>
            <a:ext cx="4145176" cy="64465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막혔을 때 갈 곳이 없다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02684" y="3682746"/>
            <a:ext cx="4145176" cy="69951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02684" y="3710178"/>
            <a:ext cx="4145176" cy="64465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오류·404 화면이 명세에 0건(1,003화면 규모) · 카드신청 64화면 중 취소 경로 0건 · 수강 정원 초과가 사후 처리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7667" y="4382262"/>
            <a:ext cx="3169840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7667" y="4409694"/>
            <a:ext cx="3169840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P4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508" y="4382262"/>
            <a:ext cx="4145176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508" y="4409694"/>
            <a:ext cx="4145176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회원 체계 전환이 설계 위에 걸쳐 있다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02684" y="4382262"/>
            <a:ext cx="4145176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02684" y="4409694"/>
            <a:ext cx="4145176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H.Point 통합 23.1.1 — 오픈과 근접 · 전환 화면이 PC에만 존재 · 회원 메뉴 제외 경계 68화면 미정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UX전략보고서 · V1.0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67" y="137160"/>
            <a:ext cx="7315017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UX전략보고서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548640"/>
            <a:ext cx="11216359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Pretendard"/>
              </a:rPr>
              <a:t>UX 전략 방향 (비전)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67" y="1234440"/>
            <a:ext cx="3169840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7667" y="1289304"/>
            <a:ext cx="3169840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Pretendard"/>
              </a:rPr>
              <a:t>축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508" y="1234440"/>
            <a:ext cx="4145176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08" y="1289304"/>
            <a:ext cx="4145176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Pretendard"/>
              </a:rPr>
              <a:t>내용</a:t>
            </a:r>
          </a:p>
        </p:txBody>
      </p:sp>
      <p:sp>
        <p:nvSpPr>
          <p:cNvPr id="8" name="Rectangle 7"/>
          <p:cNvSpPr/>
          <p:nvPr/>
        </p:nvSpPr>
        <p:spPr>
          <a:xfrm>
            <a:off x="7802684" y="1234440"/>
            <a:ext cx="4145176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02684" y="1289304"/>
            <a:ext cx="4145176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Pretendard"/>
              </a:rPr>
              <a:t>왜 이 축인가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7667" y="1611630"/>
            <a:ext cx="3169840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7667" y="1639062"/>
            <a:ext cx="3169840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주축 — 지점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508" y="1611630"/>
            <a:ext cx="4145176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508" y="1639062"/>
            <a:ext cx="4145176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통일의 기준을 「어느 점포인가」로 둔다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02684" y="1611630"/>
            <a:ext cx="4145176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2684" y="1639062"/>
            <a:ext cx="4145176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채널 성격이 오프라인 방문 유도이고, MWEB은 이미 지점 기점 구조(MSS)를 갖고 있다. 지점안내가 공수의 23.0%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7667" y="2146554"/>
            <a:ext cx="3169840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7667" y="2173986"/>
            <a:ext cx="3169840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부축 — 계정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508" y="2146554"/>
            <a:ext cx="4145176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508" y="2173986"/>
            <a:ext cx="4145176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계정으로 할 수 있는 일을 채널이 가르지 않는다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02684" y="2146554"/>
            <a:ext cx="4145176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02684" y="2173986"/>
            <a:ext cx="4145176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결손 9건이 전부 계정 영역에 몰려 있고, H.Point 전환이 이 시기에 온다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UX전략보고서 · V1.0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67" y="137160"/>
            <a:ext cx="7315017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UX전략보고서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548640"/>
            <a:ext cx="11216359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Pretendard"/>
              </a:rPr>
              <a:t>개선방향·컨셉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67" y="1097280"/>
            <a:ext cx="11216359" cy="37719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>
                <a:solidFill>
                  <a:srgbClr val="767676"/>
                </a:solidFill>
                <a:latin typeface="Pretendard"/>
              </a:rPr>
              <a:t>문제 → 방향 → 기대효과</a:t>
            </a:r>
          </a:p>
        </p:txBody>
      </p:sp>
      <p:sp>
        <p:nvSpPr>
          <p:cNvPr id="5" name="Rectangle 4"/>
          <p:cNvSpPr/>
          <p:nvPr/>
        </p:nvSpPr>
        <p:spPr>
          <a:xfrm>
            <a:off x="487667" y="1577340"/>
            <a:ext cx="3169840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7667" y="1632204"/>
            <a:ext cx="3169840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Pretendard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3657508" y="1577340"/>
            <a:ext cx="8290352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508" y="1632204"/>
            <a:ext cx="8290352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Pretendard"/>
              </a:rPr>
              <a:t>내용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487667" y="1954530"/>
            <a:ext cx="3169840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7667" y="1981962"/>
            <a:ext cx="3169840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문제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508" y="1954530"/>
            <a:ext cx="8290352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508" y="1981962"/>
            <a:ext cx="8290352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P1 두 채널의 진입 모델이 다르다 · 검색결과가 진입 문맥을 반영하지 않는다(최대 21경로 → 화면 1)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7667" y="2489453"/>
            <a:ext cx="3169840" cy="69951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7667" y="2516885"/>
            <a:ext cx="3169840" cy="64465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방향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508" y="2489453"/>
            <a:ext cx="8290352" cy="69951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508" y="2516885"/>
            <a:ext cx="8290352" cy="64465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양 채널 공통 진입에 지점 컨텍스트를 두고, 검색·목록·상세가 선택된 지점을 유지한다. 지점 무관 정보(IR·ESG)는 명시적으로 축 밖에 둔다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7667" y="3188970"/>
            <a:ext cx="3169840" cy="69951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7667" y="3216402"/>
            <a:ext cx="3169840" cy="64465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기대효과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508" y="3188970"/>
            <a:ext cx="8290352" cy="69951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508" y="3216402"/>
            <a:ext cx="8290352" cy="64465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채널을 오갈 때 멘탈모델이 이어진다 · 검색 결과가 문맥을 갖는다 · 오프라인 방문 유도 + 분산 콘텐츠의 허브라는 채널 목적과 구조가 일치한다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7667" y="3888486"/>
            <a:ext cx="316984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7667" y="3915918"/>
            <a:ext cx="3169840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3657508" y="3888486"/>
            <a:ext cx="82903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508" y="3915918"/>
            <a:ext cx="8290352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내용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7667" y="4299966"/>
            <a:ext cx="316984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7667" y="4327398"/>
            <a:ext cx="3169840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문제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508" y="4299966"/>
            <a:ext cx="82903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508" y="4327398"/>
            <a:ext cx="8290352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P2 2대 영역 52.8%가 반복 구조 · 증설 예정 3건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7667" y="4711446"/>
            <a:ext cx="3169840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7667" y="4738878"/>
            <a:ext cx="3169840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방향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508" y="4711446"/>
            <a:ext cx="8290352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508" y="4738878"/>
            <a:ext cx="8290352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지점 하위·카드 혜택을 템플릿 + 데이터로. 신규 지점·신규 브랜드가 템플릿 인스턴스로 처리되는지가 설계 합격 기준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7667" y="5246370"/>
            <a:ext cx="3169840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7667" y="5273802"/>
            <a:ext cx="3169840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기대효과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508" y="5246370"/>
            <a:ext cx="8290352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508" y="5273802"/>
            <a:ext cx="8290352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증설해도 화면 수가 늘지 않는다 · 등급·혜택 개편이 화면 수정 없이 반영 · 운영 변경(워크숍 4건)을 구조가 흡수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7667" y="5849874"/>
            <a:ext cx="11216359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767676"/>
                </a:solidFill>
                <a:latin typeface="Pretendard"/>
              </a:rPr>
              <a:t>※ 이하 9행은 원장·문서 참조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UX전략보고서 · V1.0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67" y="137160"/>
            <a:ext cx="7315017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UX전략보고서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548640"/>
            <a:ext cx="11216359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Pretendard"/>
              </a:rPr>
              <a:t>해결대안 사례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67" y="1097280"/>
            <a:ext cx="11216359" cy="37719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>
                <a:solidFill>
                  <a:srgbClr val="767676"/>
                </a:solidFill>
                <a:latin typeface="Pretendard"/>
              </a:rPr>
              <a:t>제시하지 않음</a:t>
            </a:r>
          </a:p>
        </p:txBody>
      </p:sp>
      <p:sp>
        <p:nvSpPr>
          <p:cNvPr id="5" name="Rectangle 4"/>
          <p:cNvSpPr/>
          <p:nvPr/>
        </p:nvSpPr>
        <p:spPr>
          <a:xfrm>
            <a:off x="487667" y="1577340"/>
            <a:ext cx="3169840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7667" y="1632204"/>
            <a:ext cx="3169840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Pretendard"/>
              </a:rPr>
              <a:t>사례 출처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508" y="1577340"/>
            <a:ext cx="8290352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508" y="1632204"/>
            <a:ext cx="8290352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Pretendard"/>
              </a:rPr>
              <a:t>상태</a:t>
            </a:r>
          </a:p>
        </p:txBody>
      </p:sp>
      <p:sp>
        <p:nvSpPr>
          <p:cNvPr id="9" name="Rectangle 8"/>
          <p:cNvSpPr/>
          <p:nvPr/>
        </p:nvSpPr>
        <p:spPr>
          <a:xfrm>
            <a:off x="487667" y="1954530"/>
            <a:ext cx="316984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7667" y="1981962"/>
            <a:ext cx="3169840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221 서비스비교분석서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508" y="1954530"/>
            <a:ext cx="82903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508" y="1981962"/>
            <a:ext cx="8290352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축소 — 2022년 시점 경쟁사 화면 확보 실패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7667" y="2366010"/>
            <a:ext cx="3169840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7667" y="2393442"/>
            <a:ext cx="3169840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222 심층벤치마킹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508" y="2366010"/>
            <a:ext cx="8290352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508" y="2393442"/>
            <a:ext cx="8290352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미수행 — 2022 시점 경쟁사 화면 부재. ⚠️ 원 프로젝트는 수행했다(방향성분석에 통합, 14개+ 서비스)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UX전략보고서 · V1.0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67" y="137160"/>
            <a:ext cx="7315017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UX전략보고서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548640"/>
            <a:ext cx="11216359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Pretendard"/>
              </a:rPr>
              <a:t>비즈니스 가치·기대효과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67" y="1234440"/>
            <a:ext cx="2804089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7667" y="1289304"/>
            <a:ext cx="2804089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Pretendard"/>
              </a:rPr>
              <a:t>#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757" y="1234440"/>
            <a:ext cx="2804089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757" y="1289304"/>
            <a:ext cx="2804089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Pretendard"/>
              </a:rPr>
              <a:t>가치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5847" y="1234440"/>
            <a:ext cx="2804089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5847" y="1289304"/>
            <a:ext cx="2804089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Pretendard"/>
              </a:rPr>
              <a:t>근거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99937" y="1234440"/>
            <a:ext cx="2804089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99937" y="1289304"/>
            <a:ext cx="2804089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Pretendard"/>
              </a:rPr>
              <a:t>정량화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7667" y="1611630"/>
            <a:ext cx="2804089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7667" y="1639062"/>
            <a:ext cx="2804089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V-1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757" y="1611630"/>
            <a:ext cx="2804089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757" y="1639062"/>
            <a:ext cx="2804089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증설 비용 억제 — 지점·브랜드가 늘어도 화면이 곱해지지 않는다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5847" y="1611630"/>
            <a:ext cx="2804089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5847" y="1639062"/>
            <a:ext cx="2804089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컨셉키워드 K2 · 증설 예정 3건 확인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99937" y="1611630"/>
            <a:ext cx="2804089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99937" y="1639062"/>
            <a:ext cx="2804089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템플릿 수렴률로 사후 측정 가능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7667" y="2146554"/>
            <a:ext cx="2804089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7667" y="2173986"/>
            <a:ext cx="2804089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V-2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757" y="2146554"/>
            <a:ext cx="2804089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757" y="2173986"/>
            <a:ext cx="2804089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운영 변경 흡수 — 등급·혜택 개편이 화면 수정 없이 반영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5847" y="2146554"/>
            <a:ext cx="2804089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95847" y="2173986"/>
            <a:ext cx="2804089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212(정책요건분석) 등급 6종·혜택 12종·마일리지 예외 20여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99937" y="2146554"/>
            <a:ext cx="2804089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99937" y="2173986"/>
            <a:ext cx="2804089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어드민 갱신 비율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7667" y="2681478"/>
            <a:ext cx="2804089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7667" y="2708910"/>
            <a:ext cx="2804089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V-3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91757" y="2681478"/>
            <a:ext cx="2804089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91757" y="2708910"/>
            <a:ext cx="2804089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전환기 리스크 완화 — H.Point 전환(23.1.1)에 모바일 이용자 포함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95847" y="2681478"/>
            <a:ext cx="2804089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95847" y="2708910"/>
            <a:ext cx="2804089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122(현시스템기초분석) A3 · 212(정책요건분석) G2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99937" y="2681478"/>
            <a:ext cx="2804089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99937" y="2708910"/>
            <a:ext cx="2804089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[확인필요]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7667" y="3216402"/>
            <a:ext cx="2804089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7667" y="3243834"/>
            <a:ext cx="2804089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V-4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91757" y="3216402"/>
            <a:ext cx="2804089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91757" y="3243834"/>
            <a:ext cx="2804089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거래 완주 — 예외 경로 부재로 인한 이탈 방지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95847" y="3216402"/>
            <a:ext cx="2804089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95847" y="3243834"/>
            <a:ext cx="2804089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122(현시스템기초분석) H9 오류 화면 0건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899937" y="3216402"/>
            <a:ext cx="2804089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99937" y="3243834"/>
            <a:ext cx="2804089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214 로그 없이는 기준선 없음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7667" y="3627882"/>
            <a:ext cx="2804089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7667" y="3655314"/>
            <a:ext cx="2804089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V-5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91757" y="3627882"/>
            <a:ext cx="2804089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91757" y="3655314"/>
            <a:ext cx="2804089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오프라인 방문 유도와 구조 일치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95847" y="3627882"/>
            <a:ext cx="2804089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95847" y="3655314"/>
            <a:ext cx="2804089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채널 성격(I1·126(기초분석종합)) · 121(제안및거시환경분석) S6 리오프닝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899937" y="3627882"/>
            <a:ext cx="2804089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899937" y="3655314"/>
            <a:ext cx="2804089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[확인필요]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UX전략보고서 · V1.0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67" y="137160"/>
            <a:ext cx="7315017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UX전략보고서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548640"/>
            <a:ext cx="11216359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Pretendard"/>
              </a:rPr>
              <a:t>이해관계자 우려·대응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67" y="1234440"/>
            <a:ext cx="3169840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7667" y="1289304"/>
            <a:ext cx="3169840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Pretendard"/>
              </a:rPr>
              <a:t>#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508" y="1234440"/>
            <a:ext cx="4145176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08" y="1289304"/>
            <a:ext cx="4145176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Pretendard"/>
              </a:rPr>
              <a:t>예상 우려</a:t>
            </a:r>
          </a:p>
        </p:txBody>
      </p:sp>
      <p:sp>
        <p:nvSpPr>
          <p:cNvPr id="8" name="Rectangle 7"/>
          <p:cNvSpPr/>
          <p:nvPr/>
        </p:nvSpPr>
        <p:spPr>
          <a:xfrm>
            <a:off x="7802684" y="1234440"/>
            <a:ext cx="4145176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02684" y="1289304"/>
            <a:ext cx="4145176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Pretendard"/>
              </a:rPr>
              <a:t>이 전략의 대응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7667" y="1611630"/>
            <a:ext cx="3169840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7667" y="1639062"/>
            <a:ext cx="3169840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U-1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508" y="1611630"/>
            <a:ext cx="4145176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508" y="1639062"/>
            <a:ext cx="4145176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"지점 중심으로 가면 카드·멤버십(최대 영역)이 밀리는 것 아닌가"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02684" y="1611630"/>
            <a:ext cx="4145176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2684" y="1639062"/>
            <a:ext cx="4145176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그래서 계정을 부축으로 뒀다. K3가 카드·멤버십의 계정 측면을, K2가 반복 구조를 다룬다. 밀리지 않는다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7667" y="2146554"/>
            <a:ext cx="3169840" cy="69951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7667" y="2173986"/>
            <a:ext cx="3169840" cy="64465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U-2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508" y="2146554"/>
            <a:ext cx="4145176" cy="69951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508" y="2173986"/>
            <a:ext cx="4145176" cy="64465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"모바일에 PC급 기능을 다 넣으면 무거워지지 않나"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02684" y="2146554"/>
            <a:ext cx="4145176" cy="69951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02684" y="2173986"/>
            <a:ext cx="4145176" cy="64465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K3는 기능 집합의 동일이지 화면 구성의 동일이 아니다. 표현은 채널별로 다를 수 있고, 차이를 둘 때 사유를 기록하는 것이 규율이다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7667" y="2846070"/>
            <a:ext cx="3169840" cy="69951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7667" y="2873502"/>
            <a:ext cx="3169840" cy="64465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U-3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508" y="2846070"/>
            <a:ext cx="4145176" cy="69951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508" y="2873502"/>
            <a:ext cx="4145176" cy="64465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"예외 화면을 먼저 만들면 눈에 보이는 성과가 늦다"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02684" y="2846070"/>
            <a:ext cx="4145176" cy="69951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02684" y="2873502"/>
            <a:ext cx="4145176" cy="64465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사실이다(컨셉키워드 K4 trade-off에 명시). 다만 오류 화면 0건 상태로 오픈하면 운영 단계에서 더 큰 비용이 든다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7667" y="3545586"/>
            <a:ext cx="3169840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7667" y="3573018"/>
            <a:ext cx="3169840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U-4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508" y="3545586"/>
            <a:ext cx="4145176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508" y="3573018"/>
            <a:ext cx="4145176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"회원 메뉴는 제외라고 회신했는데 K3가 성립하나"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02684" y="3545586"/>
            <a:ext cx="4145176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02684" y="3573018"/>
            <a:ext cx="4145176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성립하지 않는다. §8-1 참조 — 이 전략의 최우선 선결 조건이다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7667" y="4080510"/>
            <a:ext cx="316984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7667" y="4107942"/>
            <a:ext cx="3169840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U-5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508" y="4080510"/>
            <a:ext cx="4145176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508" y="4107942"/>
            <a:ext cx="4145176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"VIP프로그램은 이미 MWEB만 개선으로 정했다"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02684" y="4080510"/>
            <a:ext cx="4145176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02684" y="4107942"/>
            <a:ext cx="4145176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K3와 정면 충돌한다. §8-2 참조 — 재협의 대상이다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UX전략보고서 · V1.0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67" y="137160"/>
            <a:ext cx="7315017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UX전략보고서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548640"/>
            <a:ext cx="11216359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Pretendard"/>
              </a:rPr>
              <a:t>선결 조건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67" y="1097280"/>
            <a:ext cx="11216359" cy="37719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>
                <a:solidFill>
                  <a:srgbClr val="767676"/>
                </a:solidFill>
                <a:latin typeface="Pretendard"/>
              </a:rPr>
              <a:t>✅ 2건 모두 해소 (2026-08-06)</a:t>
            </a:r>
          </a:p>
        </p:txBody>
      </p:sp>
      <p:sp>
        <p:nvSpPr>
          <p:cNvPr id="5" name="Rectangle 4"/>
          <p:cNvSpPr/>
          <p:nvPr/>
        </p:nvSpPr>
        <p:spPr>
          <a:xfrm>
            <a:off x="487667" y="1577340"/>
            <a:ext cx="3169840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7667" y="1632204"/>
            <a:ext cx="3169840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Pretendard"/>
              </a:rPr>
              <a:t>분류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508" y="1577340"/>
            <a:ext cx="4145176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508" y="1632204"/>
            <a:ext cx="4145176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Pretendard"/>
              </a:rPr>
              <a:t>화면</a:t>
            </a:r>
          </a:p>
        </p:txBody>
      </p:sp>
      <p:sp>
        <p:nvSpPr>
          <p:cNvPr id="9" name="Rectangle 8"/>
          <p:cNvSpPr/>
          <p:nvPr/>
        </p:nvSpPr>
        <p:spPr>
          <a:xfrm>
            <a:off x="7802684" y="1577340"/>
            <a:ext cx="4145176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02684" y="1632204"/>
            <a:ext cx="4145176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Pretendard"/>
              </a:rPr>
              <a:t>처리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7667" y="1954530"/>
            <a:ext cx="316984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7667" y="1981962"/>
            <a:ext cx="3169840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A 법정고지·정책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508" y="1954530"/>
            <a:ext cx="4145176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508" y="1981962"/>
            <a:ext cx="4145176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17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02684" y="1954530"/>
            <a:ext cx="4145176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02684" y="1981962"/>
            <a:ext cx="4145176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손대지 않음 — 회원 체계 전환과 무관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7667" y="2366010"/>
            <a:ext cx="316984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7667" y="2393442"/>
            <a:ext cx="3169840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B 인증진입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508" y="2366010"/>
            <a:ext cx="4145176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508" y="2393442"/>
            <a:ext cx="4145176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21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02684" y="2366010"/>
            <a:ext cx="4145176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02684" y="2393442"/>
            <a:ext cx="4145176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제외 — 23.1.1 H.Point 전환 시 통째로 바뀜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7667" y="2777490"/>
            <a:ext cx="316984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7667" y="2804922"/>
            <a:ext cx="3169840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C 회원정보관리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508" y="2777490"/>
            <a:ext cx="4145176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508" y="2804922"/>
            <a:ext cx="4145176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30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02684" y="2777490"/>
            <a:ext cx="4145176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02684" y="2804922"/>
            <a:ext cx="4145176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✅ 개편 대상 = 컨셉키워드 K3 적용 범위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7667" y="3188970"/>
            <a:ext cx="316984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7667" y="3216402"/>
            <a:ext cx="3169840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508" y="3188970"/>
            <a:ext cx="4145176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508" y="3216402"/>
            <a:ext cx="4145176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결정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02684" y="3188970"/>
            <a:ext cx="4145176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02684" y="3216402"/>
            <a:ext cx="4145176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근거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7667" y="3600450"/>
            <a:ext cx="3169840" cy="69951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7667" y="3627882"/>
            <a:ext cx="3169840" cy="64465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VIP프로그램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508" y="3600450"/>
            <a:ext cx="4145176" cy="69951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508" y="3627882"/>
            <a:ext cx="4145176" cy="64465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PC도 2Tab으로 통일 — PC 작업 등급 스킨변경 → 개선 상향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802684" y="3600450"/>
            <a:ext cx="4145176" cy="69951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02684" y="3627882"/>
            <a:ext cx="4145176" cy="64465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1차 워크숍의 "구조 통일 필요(PC/M.web 동일)"를 실제로 이행. 2차의 MWEB 단독 개선이 만든 구조 이격을 해소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7667" y="4299966"/>
            <a:ext cx="3169840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7667" y="4327398"/>
            <a:ext cx="3169840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마이페이지 '로그인 기록 보기'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508" y="4299966"/>
            <a:ext cx="4145176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508" y="4327398"/>
            <a:ext cx="4145176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PC 전용 유지 + 사유를 화면명세에 기록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802684" y="4299966"/>
            <a:ext cx="4145176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02684" y="4327398"/>
            <a:ext cx="4145176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K3의 "다르게 두려면 사유를 적는다" 규율 적용. 방치가 아니라 결정으로 전환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87667" y="4834890"/>
            <a:ext cx="316984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87667" y="4862322"/>
            <a:ext cx="3169840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#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508" y="4834890"/>
            <a:ext cx="4145176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508" y="4862322"/>
            <a:ext cx="4145176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결정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02684" y="4834890"/>
            <a:ext cx="4145176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802684" y="4862322"/>
            <a:ext cx="4145176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실측 영향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87667" y="5246370"/>
            <a:ext cx="316984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87667" y="5273802"/>
            <a:ext cx="3169840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R1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508" y="5246370"/>
            <a:ext cx="4145176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57508" y="5273802"/>
            <a:ext cx="4145176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회원 경계 확정 (A 17 + B 21 = 38화면 제외)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802684" y="5246370"/>
            <a:ext cx="4145176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802684" y="5273802"/>
            <a:ext cx="4145176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고유 −38 · 본화면 −26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87667" y="5657850"/>
            <a:ext cx="316984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87667" y="5685282"/>
            <a:ext cx="3169840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R2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508" y="5657850"/>
            <a:ext cx="4145176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508" y="5685282"/>
            <a:ext cx="4145176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VIP PC 등급 상향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802684" y="5657850"/>
            <a:ext cx="4145176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802684" y="5685282"/>
            <a:ext cx="4145176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화면 수 불변, 공수 계수 상승(본화면 7)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7667" y="6137910"/>
            <a:ext cx="11216359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767676"/>
                </a:solidFill>
                <a:latin typeface="Pretendard"/>
              </a:rPr>
              <a:t>※ 이하 5행은 원장·문서 참조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UX전략보고서 · V1.0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67" y="137160"/>
            <a:ext cx="7315017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UX전략보고서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548640"/>
            <a:ext cx="11216359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Pretendard"/>
              </a:rPr>
              <a:t>다음 단계 (높은 수준)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67" y="1234440"/>
            <a:ext cx="11216359" cy="5074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50" b="0">
                <a:solidFill>
                  <a:srgbClr val="1A1A1A"/>
                </a:solidFill>
                <a:latin typeface="Pretendard"/>
              </a:rPr>
              <a:t>243(UX전략보고) 승인</a:t>
            </a:r>
          </a:p>
          <a:p>
            <a:pPr algn="l"/>
            <a:r>
              <a:rPr sz="1150" b="0">
                <a:solidFill>
                  <a:srgbClr val="1A1A1A"/>
                </a:solidFill>
                <a:latin typeface="Pretendard"/>
              </a:rPr>
              <a:t>· ↓</a:t>
            </a:r>
          </a:p>
          <a:p>
            <a:pPr algn="l"/>
            <a:r>
              <a:rPr sz="1150" b="0">
                <a:solidFill>
                  <a:srgbClr val="1A1A1A"/>
                </a:solidFill>
                <a:latin typeface="Pretendard"/>
              </a:rPr>
              <a:t>312 유저플로우 ── 컨셉키워드 K1(지점 컨텍스트 유지) · 컨셉키워드 K4(예외 경로 폐포)가 판단 기준</a:t>
            </a:r>
          </a:p>
          <a:p>
            <a:pPr algn="l"/>
            <a:r>
              <a:rPr sz="1150" b="0">
                <a:solidFill>
                  <a:srgbClr val="1A1A1A"/>
                </a:solidFill>
                <a:latin typeface="Pretendard"/>
              </a:rPr>
              <a:t>· ↓</a:t>
            </a:r>
          </a:p>
          <a:p>
            <a:pPr algn="l"/>
            <a:r>
              <a:rPr sz="1150" b="0">
                <a:solidFill>
                  <a:srgbClr val="1A1A1A"/>
                </a:solidFill>
                <a:latin typeface="Pretendard"/>
              </a:rPr>
              <a:t>321 기능정의 ── 컨셉키워드 K3(채널 동일 기능 집합) · I-7 재방문 장치 판단</a:t>
            </a:r>
          </a:p>
          <a:p>
            <a:pPr algn="l"/>
            <a:r>
              <a:rPr sz="1150" b="0">
                <a:solidFill>
                  <a:srgbClr val="1A1A1A"/>
                </a:solidFill>
                <a:latin typeface="Pretendard"/>
              </a:rPr>
              <a:t>· ↓</a:t>
            </a:r>
          </a:p>
          <a:p>
            <a:pPr algn="l"/>
            <a:r>
              <a:rPr sz="1150" b="0">
                <a:solidFill>
                  <a:srgbClr val="1A1A1A"/>
                </a:solidFill>
                <a:latin typeface="Pretendard"/>
              </a:rPr>
              <a:t>322(정보구조설계) IA ── 컨셉키워드 K1(진입 모델) · 컨셉키워드 K2(템플릿 단위) · I-6·I-10 이관분</a:t>
            </a:r>
          </a:p>
          <a:p>
            <a:pPr algn="l"/>
            <a:r>
              <a:rPr sz="1150" b="0">
                <a:solidFill>
                  <a:srgbClr val="1A1A1A"/>
                </a:solidFill>
                <a:latin typeface="Pretendard"/>
              </a:rPr>
              <a:t>· ↓</a:t>
            </a:r>
          </a:p>
          <a:p>
            <a:pPr algn="l"/>
            <a:r>
              <a:rPr sz="1150" b="0">
                <a:solidFill>
                  <a:srgbClr val="1A1A1A"/>
                </a:solidFill>
                <a:latin typeface="Pretendard"/>
              </a:rPr>
              <a:t>331 와이어프레임 → 334 시안 → 351 스타일가이드</a:t>
            </a:r>
          </a:p>
          <a:p>
            <a:pPr algn="l"/>
            <a:r>
              <a:rPr sz="1150" b="0">
                <a:solidFill>
                  <a:srgbClr val="1A1A1A"/>
                </a:solidFill>
                <a:latin typeface="Pretendard"/>
              </a:rPr>
              <a:t>· ↓</a:t>
            </a:r>
          </a:p>
          <a:p>
            <a:pPr algn="l"/>
            <a:r>
              <a:rPr sz="1150" b="0">
                <a:solidFill>
                  <a:srgbClr val="1A1A1A"/>
                </a:solidFill>
                <a:latin typeface="Pretendard"/>
              </a:rPr>
              <a:t>341 화면명세서 ── 컨셉키워드 K2 템플릿 수렴률이 여기서 측정된다</a:t>
            </a:r>
          </a:p>
          <a:p>
            <a:pPr algn="l"/>
            <a:r>
              <a:rPr sz="1150" b="0">
                <a:solidFill>
                  <a:srgbClr val="1A1A1A"/>
                </a:solidFill>
                <a:latin typeface="Pretendard"/>
              </a:rPr>
              <a:t>· 이 전략서는 위 과정을 거치며 갱신된다(living document). 특히 K2의 템플릿 수렴률은 341 화면명세서 시점에 처음 검증 가능하며, 목표를 밑돌면 전략을 재검토한다.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UX전략보고서 ·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67" y="137160"/>
            <a:ext cx="7315017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UX전략보고서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548640"/>
            <a:ext cx="11216359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Pretendard"/>
              </a:rPr>
              <a:t>B. ⚠️ 분석 공백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67" y="1097280"/>
            <a:ext cx="11216359" cy="37719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>
                <a:solidFill>
                  <a:srgbClr val="767676"/>
                </a:solidFill>
                <a:latin typeface="Pretendard"/>
              </a:rPr>
              <a:t>메인 화면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7667" y="1577340"/>
            <a:ext cx="11216359" cy="47320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50" b="0">
                <a:solidFill>
                  <a:srgbClr val="1A1A1A"/>
                </a:solidFill>
                <a:latin typeface="Pretendard"/>
              </a:rPr>
              <a:t>· 메인의 콘텐츠 구성을 분석하지 못했다. 122(현시스템기초분석)가 원자료 등급 C(캡처 0장)라 화면 목록만 있고 화면 안을 볼 수 없었다. 메인은 진입 지점이라 콘텐츠 구성이 곧 전략인데, 4개 키워드 중 메인의 콘텐츠 전략을 직접 지시하는 것이 없다.</a:t>
            </a:r>
          </a:p>
          <a:p>
            <a:pPr algn="l"/>
            <a:r>
              <a:rPr sz="1150" b="0">
                <a:solidFill>
                  <a:srgbClr val="1A1A1A"/>
                </a:solidFill>
                <a:latin typeface="Pretendard"/>
              </a:rPr>
              <a:t>· → 331 와이어프레임·334 시안 단계에서 메인을 별도 검토 대상으로 다룬다. 특히 로그인 전/후 개인화 여부는 이 전략에서 판단되지 않았다.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UX전략보고서 · V1.0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67" y="137160"/>
            <a:ext cx="7315017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UX전략보고서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548640"/>
            <a:ext cx="11216359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Pretendard"/>
              </a:rPr>
              <a:t>⚠️ 이 전략의 근거 한계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67" y="1234440"/>
            <a:ext cx="3169840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7667" y="1289304"/>
            <a:ext cx="3169840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Pretendard"/>
              </a:rPr>
              <a:t>결손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508" y="1234440"/>
            <a:ext cx="4145176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08" y="1289304"/>
            <a:ext cx="4145176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Pretendard"/>
              </a:rPr>
              <a:t>분류</a:t>
            </a:r>
          </a:p>
        </p:txBody>
      </p:sp>
      <p:sp>
        <p:nvSpPr>
          <p:cNvPr id="8" name="Rectangle 7"/>
          <p:cNvSpPr/>
          <p:nvPr/>
        </p:nvSpPr>
        <p:spPr>
          <a:xfrm>
            <a:off x="7802684" y="1234440"/>
            <a:ext cx="4145176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02684" y="1289304"/>
            <a:ext cx="4145176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Pretendard"/>
              </a:rPr>
              <a:t>검증되지 않은 것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7667" y="1611630"/>
            <a:ext cx="316984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7667" y="1639062"/>
            <a:ext cx="3169840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231(현시스템UT) UT·심층인터뷰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508" y="1611630"/>
            <a:ext cx="4145176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508" y="1639062"/>
            <a:ext cx="4145176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인간 활동 필수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02684" y="1611630"/>
            <a:ext cx="4145176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2684" y="1639062"/>
            <a:ext cx="4145176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K1의 전제 — 사용자가 실제로 지점 기준으로 생각하는가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7667" y="2023110"/>
            <a:ext cx="316984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7667" y="2050542"/>
            <a:ext cx="3169840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232 감성/이미지조사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508" y="2023110"/>
            <a:ext cx="4145176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508" y="2050542"/>
            <a:ext cx="4145176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개입대기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02684" y="2023110"/>
            <a:ext cx="4145176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02684" y="2050542"/>
            <a:ext cx="4145176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감성 톤 정합 (351(스타일가이드설계)에서 재점검 필요)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7667" y="2434590"/>
            <a:ext cx="316984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7667" y="2462022"/>
            <a:ext cx="3169840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233(사용자심층리서치) 필드리서치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508" y="2434590"/>
            <a:ext cx="4145176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508" y="2462022"/>
            <a:ext cx="4145176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인간 활동 필수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02684" y="2434590"/>
            <a:ext cx="4145176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02684" y="2462022"/>
            <a:ext cx="4145176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방문 전 온라인 이용 맥락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7667" y="2846070"/>
            <a:ext cx="316984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7667" y="2873502"/>
            <a:ext cx="3169840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123(사용자요구기초분석) VOC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508" y="2846070"/>
            <a:ext cx="4145176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508" y="2873502"/>
            <a:ext cx="4145176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원자료 부재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02684" y="2846070"/>
            <a:ext cx="4145176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02684" y="2873502"/>
            <a:ext cx="4145176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K4의 전제 — 실제 불만이 실패 경로에 있는가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7667" y="3257550"/>
            <a:ext cx="316984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7667" y="3284982"/>
            <a:ext cx="3169840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214 이용로그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508" y="3257550"/>
            <a:ext cx="4145176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508" y="3284982"/>
            <a:ext cx="4145176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미확보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02684" y="3257550"/>
            <a:ext cx="4145176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02684" y="3284982"/>
            <a:ext cx="4145176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컨셉키워드 K1·K2의 우선순위 · V-4 정량 기준선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UX전략보고서 · V1.0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67" y="137160"/>
            <a:ext cx="7315017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UX전략보고서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548640"/>
            <a:ext cx="11216359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Pretendard"/>
              </a:rPr>
              <a:t>승인 요청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67" y="1234440"/>
            <a:ext cx="3169840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7667" y="1289304"/>
            <a:ext cx="3169840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Pretendard"/>
              </a:rPr>
              <a:t>항목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508" y="1234440"/>
            <a:ext cx="8290352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08" y="1289304"/>
            <a:ext cx="8290352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Pretendard"/>
              </a:rPr>
              <a:t>내용</a:t>
            </a:r>
          </a:p>
        </p:txBody>
      </p:sp>
      <p:sp>
        <p:nvSpPr>
          <p:cNvPr id="8" name="Rectangle 7"/>
          <p:cNvSpPr/>
          <p:nvPr/>
        </p:nvSpPr>
        <p:spPr>
          <a:xfrm>
            <a:off x="487667" y="1611630"/>
            <a:ext cx="3169840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7667" y="1639062"/>
            <a:ext cx="3169840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요청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508" y="1611630"/>
            <a:ext cx="8290352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508" y="1639062"/>
            <a:ext cx="8290352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UX 전략 방향 — 주축 컨셉키워드 K1·K2 / 부축 컨셉키워드 K3(축소 적용) + 컨셉키워드 K4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7667" y="2146554"/>
            <a:ext cx="316984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7667" y="2173986"/>
            <a:ext cx="3169840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결정권자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508" y="2146554"/>
            <a:ext cx="82903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508" y="2173986"/>
            <a:ext cx="8290352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클라이언트 최고의사결정자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7667" y="2558033"/>
            <a:ext cx="316984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7667" y="2585465"/>
            <a:ext cx="3169840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선결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508" y="2558033"/>
            <a:ext cx="82903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508" y="2585465"/>
            <a:ext cx="8290352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✅ 2건 모두 해소 (§8) — 조건부 아님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7667" y="2969514"/>
            <a:ext cx="3169840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7667" y="2996946"/>
            <a:ext cx="3169840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승인 전 확인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508" y="2969514"/>
            <a:ext cx="8290352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508" y="2996946"/>
            <a:ext cx="8290352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§8-3 규모 재산정 완료 — In-Scope 본화면 548 기준 승인 여부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7667" y="3504437"/>
            <a:ext cx="316984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7667" y="3531869"/>
            <a:ext cx="3169840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승인 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508" y="3504437"/>
            <a:ext cx="82903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508" y="3531869"/>
            <a:ext cx="8290352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300 Define 착수 (312 유저플로우부터)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7667" y="3915917"/>
            <a:ext cx="316984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7667" y="3943349"/>
            <a:ext cx="3169840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버전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508" y="3915917"/>
            <a:ext cx="82903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508" y="3943349"/>
            <a:ext cx="8290352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일자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7667" y="4327397"/>
            <a:ext cx="316984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7667" y="4354829"/>
            <a:ext cx="3169840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V0.1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508" y="4327397"/>
            <a:ext cx="82903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508" y="4354829"/>
            <a:ext cx="8290352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2026-08-06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7667" y="4738877"/>
            <a:ext cx="3169840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7667" y="4766310"/>
            <a:ext cx="3169840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V0.2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508" y="4738877"/>
            <a:ext cx="8290352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508" y="4766310"/>
            <a:ext cx="8290352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2026-08-06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7667" y="5273801"/>
            <a:ext cx="3169840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7667" y="5301234"/>
            <a:ext cx="3169840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V0.3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508" y="5273801"/>
            <a:ext cx="8290352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508" y="5301234"/>
            <a:ext cx="8290352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2026-08-06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7667" y="5877305"/>
            <a:ext cx="11216359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767676"/>
                </a:solidFill>
                <a:latin typeface="Pretendard"/>
              </a:rPr>
              <a:t>※ 이하 1행은 원장·문서 참조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UX전략보고서 · V1.0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