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5335" y="2194560"/>
            <a:ext cx="10241023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Pretendard"/>
              </a:rPr>
              <a:t>환경분석보고서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35" y="3086100"/>
            <a:ext cx="10241023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0">
                <a:solidFill>
                  <a:srgbClr val="C8C8C8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251960"/>
            <a:ext cx="10241023" cy="13716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구분   보고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버전   V1.0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작성일   2026-08-10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작성자   기획PL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6172200"/>
            <a:ext cx="102410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22960"/>
            <a:ext cx="975335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864108"/>
            <a:ext cx="97533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41086" y="822960"/>
            <a:ext cx="1463003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41086" y="864108"/>
            <a:ext cx="146300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804089" y="822960"/>
            <a:ext cx="731501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4089" y="864108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9106" y="822960"/>
            <a:ext cx="170683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9106" y="864108"/>
            <a:ext cx="170683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16586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20015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41086" y="116586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086" y="120015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04089" y="116586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4089" y="120015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시장·경쟁·기술 환경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19106" y="116586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19106" y="120015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1. 거시환경 (PESTEL)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2194505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2194505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255" y="891540"/>
            <a:ext cx="231642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255" y="946404"/>
            <a:ext cx="231642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요인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8" y="891540"/>
            <a:ext cx="231642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8" y="946404"/>
            <a:ext cx="231642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근거</a:t>
            </a:r>
          </a:p>
        </p:txBody>
      </p:sp>
      <p:sp>
        <p:nvSpPr>
          <p:cNvPr id="9" name="Rectangle 8"/>
          <p:cNvSpPr/>
          <p:nvPr/>
        </p:nvSpPr>
        <p:spPr>
          <a:xfrm>
            <a:off x="7193100" y="891540"/>
            <a:ext cx="231642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93100" y="946404"/>
            <a:ext cx="231642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영향도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9522" y="891540"/>
            <a:ext cx="231642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522" y="946404"/>
            <a:ext cx="231642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시급성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50" y="1268730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50" y="1296161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T 기술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255" y="126873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255" y="1296161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IE11 지원 종료(2022-06-15). 계약 기준은 IE10+ 포함 — 지원이 끝난 브라우저를 범위에 넣음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8" y="126873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6678" y="1296161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뉴스클리핑 T1 + I4 회의록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93100" y="126873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3100" y="1296161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522" y="126873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522" y="1296161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50" y="1803654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50" y="1831086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T 기술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255" y="18036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0255" y="18310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GA UA→GA4 전환기. 태깅 정의서가 UA·GA4 병행 상태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76678" y="18036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6678" y="18310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I2 태깅가이드 검수서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93100" y="18036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93100" y="18310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9522" y="18036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522" y="18310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50" y="2338578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50" y="2366010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S 사회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255" y="2338578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255" y="2366010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리오프닝으로 오프라인 방문 수요 회복 — 방문 유도 채널의 가치 상승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76678" y="2338578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76678" y="2366010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뉴스클리핑 M1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93100" y="2338578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93100" y="2366010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522" y="2338578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09522" y="2366010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50" y="2873502"/>
            <a:ext cx="2194505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50" y="2900934"/>
            <a:ext cx="2194505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S 사회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60255" y="2873502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60255" y="2900934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백화점을 체험·라이프스타일 공간으로 재정의하는 흐름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76678" y="2873502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76678" y="2900934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뉴스클리핑 M2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93100" y="2873502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93100" y="2900934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509522" y="2873502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9522" y="2900934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50" y="3284982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50" y="3312414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S 사회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560255" y="3284982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60255" y="3312414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핵심 사용자 = 30~40대 여성(30대 36.5%·40대 33%·여 69.2%)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76678" y="3284982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76678" y="3312414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I3 #22 고객 실측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93100" y="3284982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93100" y="3312414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509522" y="3284982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509522" y="3312414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50" y="3819906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50" y="3847337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L 법·제도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560255" y="3819906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560255" y="3847337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웹 접근성 품질인증 제도(과기정통부 지정기관). 본 프로젝트는 인증 아닌 준수 수준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876678" y="3819906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876678" y="3847337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뉴스클리핑 T2 + I3 #15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93100" y="3819906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93100" y="3847337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509522" y="3819906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509522" y="3847337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하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50" y="4354829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50" y="4382261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L 법·제도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560255" y="4354829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560255" y="4382261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개인정보 — 회원 체계 H.Point 통합(2023-01-01)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76678" y="4354829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876678" y="4382261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I3 #14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93100" y="4354829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93100" y="4382261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509522" y="4354829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509522" y="4382261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상(오픈 근접)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50" y="4889754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5750" y="4917186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E 경제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560255" y="48897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560255" y="49171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[미확인] 2022 하반기 소비심리·물가가 백화점 채널 투자에 미친 영향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876678" y="48897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876678" y="49171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93100" y="48897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93100" y="49171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?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509522" y="48897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509522" y="49171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?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50" y="5424678"/>
            <a:ext cx="2194505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50" y="5452110"/>
            <a:ext cx="2194505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P 정치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560255" y="5424678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560255" y="545211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[미확인] 유통 규제·의무휴업 등 정책 요인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876678" y="5424678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76678" y="545211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—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93100" y="5424678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93100" y="545211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?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509522" y="5424678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509522" y="545211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?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65750" y="5904738"/>
            <a:ext cx="1097252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767676"/>
                </a:solidFill>
                <a:latin typeface="Pretendard"/>
              </a:rPr>
              <a:t>※ 이하 1행은 원장·문서 참조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2. 시장·트렌드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항목</a:t>
            </a:r>
          </a:p>
        </p:txBody>
      </p:sp>
      <p:sp>
        <p:nvSpPr>
          <p:cNvPr id="5" name="Rectangle 4"/>
          <p:cNvSpPr/>
          <p:nvPr/>
        </p:nvSpPr>
        <p:spPr>
          <a:xfrm>
            <a:off x="3535591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5591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내용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767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767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출처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126873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1296161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실적 반등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5591" y="12687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5591" y="1296161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신세계 패션 +27%·명품 +21% / 롯데·현대 패션·아웃도어·레저 20%대 성장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767" y="12687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767" y="1296161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뉴스클리핑 M1 (2022-04~05)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50" y="1803654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50" y="1831086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전략 트렌드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5591" y="1803654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5591" y="1831086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경험형 콘텐츠 중심 점포 리뉴얼 경쟁, 식음·라이프스타일 결합, MZ 전문관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767" y="1803654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767" y="1831086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뉴스클리핑 M2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50" y="2338578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50" y="2366010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타깃 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5591" y="2338578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5591" y="2366010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업계는 2030(MZ) 공략 최우선 — 단 본 프로젝트 실측과 층이 다름(§6 유보)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767" y="2338578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767" y="2366010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뉴스클리핑 M3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50" y="2873502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0" y="2900934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[미확인]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35591" y="2873502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5591" y="2900934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국내 백화점 온라인 채널의 트래픽·전환 벤치마크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767" y="2873502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767" y="2900934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50" y="3284982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50" y="3312414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[미확인]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35591" y="3284982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35591" y="3312414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2022 국내 브라우저 점유율 정확 수치 (IE 잔존율 판단 근거)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767" y="3284982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767" y="3312414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3. 브랜드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구분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3535591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5591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신호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767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767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채널 설계 함의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126873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1296161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강점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5591" y="12687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5591" y="1296161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오프라인 회복 국면 · 콘텐츠 자산 보유 · 멤버십 체계 정교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767" y="12687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767" y="1296161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방문 유도·콘텐츠 노출·등급 개인화가 각각 전략 후보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50" y="1803654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50" y="1831086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약점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5591" y="1803654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5591" y="1831086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레거시 브라우저 부채 · 채널 분산 · 채널 간 구조 불일치 · 회원 전환기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767" y="1803654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767" y="1831086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범위 경계 명시와 채널 정합이 선결 과제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50" y="2338578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50" y="2366010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브랜드 자산(계약 제약)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5591" y="2338578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5591" y="2366010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해피니스 산스 필수, BI·로고 가이드, 그룹 웹 UI/UX 가이드라인(2022.01) 준수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767" y="2338578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767" y="2366010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351 스타일가이드는 신규 창작이 아니라 그룹 가이드 상속 + 채널 특화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50" y="2873502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0" y="2900934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브랜드 캐릭터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35591" y="2873502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5591" y="2900934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'흰디' — 로딩 화면 활용 검토 요청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767" y="2873502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767" y="2900934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352(인터랙션가이드설계) 인터랙션 후보(REQ-CM-006)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4. 경쟁 구도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구분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3535591" y="891540"/>
            <a:ext cx="829035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5591" y="946404"/>
            <a:ext cx="829035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상태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50" y="126873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0" y="1296161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직접 경쟁(롯데·신세계 공식 채널)</a:t>
            </a:r>
          </a:p>
        </p:txBody>
      </p:sp>
      <p:sp>
        <p:nvSpPr>
          <p:cNvPr id="9" name="Rectangle 8"/>
          <p:cNvSpPr/>
          <p:nvPr/>
        </p:nvSpPr>
        <p:spPr>
          <a:xfrm>
            <a:off x="3535591" y="1268730"/>
            <a:ext cx="829035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5591" y="1296161"/>
            <a:ext cx="829035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[미확인] — 2022 시점 화면·개편 동향 확보 실패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680210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707642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확인된 사실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35591" y="1680210"/>
            <a:ext cx="8290352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5591" y="1707642"/>
            <a:ext cx="8290352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롯데 공식 채널도 지점정보·우수고객·문화센터·웨딩·갤러리 구성 → 영역 구성은 업계 공통 패턴 (평가 근거로는 불채택, 시점 불명)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50" y="2379726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50" y="2407158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그룹 내 참조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5591" y="2379726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5591" y="2407158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더현대닷컴·현대백화점그룹 — 개편 범위 밖이나 톤&amp;매너 정합 대상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5. RFP / 제안서 분석 + 컴플라이언스 매트릭스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항목</a:t>
            </a:r>
          </a:p>
        </p:txBody>
      </p:sp>
      <p:sp>
        <p:nvSpPr>
          <p:cNvPr id="5" name="Rectangle 4"/>
          <p:cNvSpPr/>
          <p:nvPr/>
        </p:nvSpPr>
        <p:spPr>
          <a:xfrm>
            <a:off x="3535591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5591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내용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767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767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출처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126873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1296161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방법론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5591" y="12687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5591" y="1296161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자사 표준프로세스 OSSP 4.0 기반 5단계, 산출물 범위는 협의 후 확정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767" y="12687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767" y="1296161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I1 슬라이드 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50" y="1803654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50" y="1831086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수행 구조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5591" y="1803654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5591" y="1831086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요건분석 → 전략+와이어프레임 → 디자인전략(시안) → App/MW 공통 UX·UI → PC UX·UI → 퍼블리싱 (채널 시차 병행)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767" y="1803654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767" y="1831086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I1 슬라이드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50" y="250317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50" y="253060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목표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5591" y="250317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5591" y="253060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23.1Q 오픈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767" y="250317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767" y="253060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I1 슬라이드 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50" y="2914650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0" y="2942082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제안 레퍼런스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35591" y="2914650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5591" y="2942082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Membership(H-Point·CJ ONE) / Commerce(신한올댓·CJ쿡킷 등) / Branding(현대차·삼성 등)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767" y="2914650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767" y="2942082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I1 슬라이드 9~12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50" y="3614166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50" y="3641598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#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35591" y="361416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35591" y="364159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요구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767" y="361416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767" y="364159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출처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50" y="4025646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50" y="4053078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R01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35591" y="4025646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35591" y="4053078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PC·Mobile Web 전체 페이지 UX/UI 개선 (국문)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80767" y="4025646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767" y="4053078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I3 #6·#9·#10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50" y="456057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50" y="4588002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R02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35591" y="456057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35591" y="4588002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투자정보·ESG 경영 포함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767" y="456057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80767" y="4588002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I3 #9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50" y="5095494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50" y="5122926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R03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35591" y="5095494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35591" y="5122926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App 특화 4건 (메인/메뉴·h.point 바코드·TCP라운지·개인 메뉴)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80767" y="5095494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767" y="5122926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I3 #11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50" y="5630418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50" y="5657850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R04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35591" y="5630418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35591" y="5657850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Admin 신규/변경 시 기획·퍼블리싱만 (디자인 제외)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767" y="5630418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80767" y="5657850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I3 #13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50" y="6233922"/>
            <a:ext cx="1097252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767676"/>
                </a:solidFill>
                <a:latin typeface="Pretendard"/>
              </a:rPr>
              <a:t>※ 이하 14행은 원장·문서 참조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6. 시사점 (후속 요구분석·전략으로 전달)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2804089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2804089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3169840" y="891540"/>
            <a:ext cx="2804089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69840" y="946404"/>
            <a:ext cx="2804089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시사점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5973930" y="891540"/>
            <a:ext cx="2804089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73930" y="946404"/>
            <a:ext cx="2804089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근거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020" y="891540"/>
            <a:ext cx="2804089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020" y="946404"/>
            <a:ext cx="2804089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전달 대상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268730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296161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S1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69840" y="1268730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69840" y="1296161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IE10 유지 여부를 재확인해야 한다. 착수 시점에 이미 지원 종료된 브라우저가 계약 기준에 들어 있어 모던 CSS·JS 사용을 제한한다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73930" y="1268730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73930" y="1296161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§1 T · §5 R08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020" y="1268730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020" y="1296161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353 UI개발가이드 · 423 퍼블리싱 · 911 변경관리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50" y="1968246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50" y="1995678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S2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69840" y="1968246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69840" y="1995678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업계 담론(MZ 2030)을 그대로 따르면 안 된다. 실측은 30~40대 70%·여성 69.2%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73930" y="1968246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73930" y="1995678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§2 · 뉴스클리핑 §5 유보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020" y="1968246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020" y="1995678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242 UX컨셉 · 334 시안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50" y="2503170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0" y="2530602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S3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69840" y="2503170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69840" y="2530602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범위 경계 관리가 1순위 리스크. 채널 6개+ 분산, 제외 8건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73930" y="2503170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73930" y="2530602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§3 약점 · 126(기초분석종합)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020" y="2503170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020" y="2530602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322(정보구조설계) IA(제외 경계 명시) · 911(변경관리)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50" y="3038094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50" y="3065526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S4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9840" y="3038094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69840" y="3065526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회원 체계 전환기 — H.Point 통합이 오픈과 근접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73930" y="3038094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73930" y="3065526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§1 L · §5 R12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778020" y="3038094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78020" y="3065526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215(요구사항정의) · 341(화면명세서작성) 로그인·마이페이지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50" y="357301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50" y="3600449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S5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9840" y="357301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69840" y="3600449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스타일가이드는 상속 구조여야 한다. 그룹 가이드라인 준수 의무가 계약 제약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73930" y="357301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73930" y="3600449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§3 · §5 R07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778020" y="357301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78020" y="3600449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351 스타일가이드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50" y="4107941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50" y="4135373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S6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9840" y="4107941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69840" y="4135373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경험형 콘텐츠 흐름이 전략 후보로 유효하다. 업계 공통 전략이고 고객사도 콘텐츠를 본 채널로 모으는 중(Sounds Forest·ALT.1 내재화)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973930" y="4107941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73930" y="4135373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§1 S · §2 · 215(요구사항정의) REQ-SI-005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78020" y="4107941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78020" y="4135373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242 UX컨셉 · 243 UX전략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50" y="480745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50" y="4834890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S7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69840" y="480745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69840" y="4834890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정밀 경쟁 비교는 미해결로 넘긴다. 2022 시점 경쟁사 화면 확보 실패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973930" y="480745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73930" y="4834890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§4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78020" y="480745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778020" y="4834890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221 서비스분석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7. [미확인] · [확인필요]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50" y="891540"/>
            <a:ext cx="10972525" cy="53492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· [미확인] — 외부 자료 확보 실패 (사람 작업 또는 후속 단계 필요)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1. 대상 서비스(공식 홈페이지) 자체의 외부 보도 — 존재하지 않는 것으로 보임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2. 2022 시점 롯데·신세계 공식 채널 개편 동향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3. PESTEL P(정치)·E(경제) 요인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· 4. 백화점 온라인 채널 트래픽·전환 벤치마크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· 5. 2022 국내 브라우저 점유율 정확 수치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· [확인필요]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1. 인력·M/M (영업·원가 산정 소관)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2. IE10 지원 유지 여부 재확인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