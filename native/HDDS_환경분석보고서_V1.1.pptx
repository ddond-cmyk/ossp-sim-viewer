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194560"/>
            <a:ext cx="10241023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환경분석보고서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086100"/>
            <a:ext cx="1024102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251960"/>
            <a:ext cx="10241023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구분   보고 — 착수기 거시 스캔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버전   V1.1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작성일   2026-08-10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작성자   기획PL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6172200"/>
            <a:ext cx="102410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22960"/>
            <a:ext cx="975335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864108"/>
            <a:ext cx="97533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086" y="822960"/>
            <a:ext cx="1463003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1086" y="864108"/>
            <a:ext cx="146300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089" y="822960"/>
            <a:ext cx="731501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864108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9106" y="822960"/>
            <a:ext cx="170683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9106" y="864108"/>
            <a:ext cx="170683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16586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20015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1086" y="116586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86" y="120015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89" y="116586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89" y="120015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PESTEL · 시장 · 브랜드 · 경쟁 · 제안서 컴플라이언스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19106" y="116586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9106" y="120015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" y="157734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" y="161163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v1.1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41086" y="157734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1086" y="161163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4089" y="157734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4089" y="161163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보고 덱 재구성 — 판단 단위 슬라이드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19106" y="157734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9106" y="161163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767676"/>
                </a:solidFill>
                <a:latin typeface="Pretendard"/>
              </a:rPr>
              <a:t>착수 전에 알아야 할 것을 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468880"/>
            <a:ext cx="10484857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환경이 정한 것은</a:t>
            </a:r>
          </a:p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제약 두 개와 방향 하나다.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38912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767676"/>
                </a:solidFill>
                <a:latin typeface="Pretendard"/>
              </a:rPr>
              <a:t>IE10 · 그룹 브랜드 자산 — 그리고 경험형 콘텐츠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 · 우선순위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PESTEL 11요인 중 착수를 직접 제약하는 것은 둘이다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영향도·시급성 모두 「상」인 요인만 올렸다. 일반론은 걷어냈다.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14500"/>
            <a:ext cx="73150" cy="20574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51" y="179679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제약 ①  IE10 지원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0927" y="1810512"/>
            <a:ext cx="121916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1">
                <a:solidFill>
                  <a:srgbClr val="B3261E"/>
                </a:solidFill>
                <a:latin typeface="Pretendard"/>
              </a:rPr>
              <a:t>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51" y="222885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IE11 지원이 2022-06-15 종료됐는데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계약 기준은 IE10+ 를 포함한다.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→ 모던 CSS·JS 사용이 제한된다.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   353 UI개발가이드·423 퍼블리싱이 직접 영향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681" y="171450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9681" y="1714500"/>
            <a:ext cx="73150" cy="2057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365" y="179679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제약 ②  브랜드 자산 상속 의무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940" y="1810512"/>
            <a:ext cx="121916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1">
                <a:solidFill>
                  <a:srgbClr val="1A1A1A"/>
                </a:solidFill>
                <a:latin typeface="Pretendard"/>
              </a:rPr>
              <a:t>브랜드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365" y="222885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해피니스 산스 필수 · BI/로고 가이드 ·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그룹 웹 UI/UX 가이드라인(2022.01) 준수.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→ 351 스타일가이드는 신규 창작이 아니라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   그룹 가이드 상속 + 채널 특화다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4046220"/>
            <a:ext cx="11216359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7667" y="4046220"/>
            <a:ext cx="73150" cy="164592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51" y="412851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방향  경험형 콘텐츠 흐름이 전략 후보로 유효하다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940" y="4142232"/>
            <a:ext cx="121916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1">
                <a:solidFill>
                  <a:srgbClr val="1A7F37"/>
                </a:solidFill>
                <a:latin typeface="Pretendard"/>
              </a:rPr>
              <a:t>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51" y="4560570"/>
            <a:ext cx="10899375" cy="10629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리오프닝으로 오프라인 방문 수요가 회복되고, 업계가 체험·라이프스타일 공간으로 점포를 재정의하는 중이다.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고객사도 콘텐츠를 본 채널로 모으고 있다 — Sounds Forest · ALT.1 내재화(REQ-SI-005).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→ 242 UX컨셉 · 243 UX전략의 후보 방향으로 전달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 · 타깃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업계 담론을 그대로 따르면 안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이 프로젝트의 타깃은 업계가 말하는 층과 다르다 — 실측이 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5120511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51" y="1879092"/>
            <a:ext cx="475476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업계 담론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51" y="2263140"/>
            <a:ext cx="4754761" cy="12344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2030(MZ) 공략이 최우선.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경쟁사 전략 보도의 공통 논조.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(뉴스클리핑 M3)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096" y="2468880"/>
            <a:ext cx="731501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B3261E"/>
                </a:solidFill>
                <a:latin typeface="Pretendard"/>
              </a:rPr>
              <a:t>≠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515" y="1783080"/>
            <a:ext cx="5120511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4199" y="1879092"/>
            <a:ext cx="475476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이 채널 실측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4199" y="2263140"/>
            <a:ext cx="4754761" cy="12344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30대 36.5% · 40대 33.0% = 약 70%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여성 69.2%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(I3 기초질의서 #22 고객 실측)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3703320"/>
            <a:ext cx="11216359" cy="6172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43" y="3813048"/>
            <a:ext cx="10850608" cy="4457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B3261E"/>
                </a:solidFill>
                <a:latin typeface="Pretendard"/>
              </a:rPr>
              <a:t>담론을 따르면 실사용자 70%를 겨냥하지 않게 된다 — 242 UX컨셉·334 시안의 타깃 판단 근거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 · 경쟁 구도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정식 경쟁 비교는 하지 못했다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확보 실패를 「분석했다」로 포장하지 않는다. 무엇을 못 했는지 적고 이관한다.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5364345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14500"/>
            <a:ext cx="73150" cy="17830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51" y="179679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확보 실패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" y="2228850"/>
            <a:ext cx="5047361" cy="120015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2022 시점 롯데·신세계 공식 채널의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화면·개편 동향 확보 실패.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뉴스클리핑에서 경쟁사 동향 채택이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실질 0건이었다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681" y="1714500"/>
            <a:ext cx="5364345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9681" y="1714500"/>
            <a:ext cx="73150" cy="178308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365" y="179679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확인된 사실만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365" y="2228850"/>
            <a:ext cx="5047361" cy="120015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롯데 공식 채널도 지점정보·우수고객·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문화센터·웨딩·갤러리 구성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→ 영역 구성은 업계 공통 패턴.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   단 시점 불명이라 평가 근거로는 불채택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3771900"/>
            <a:ext cx="1121635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67" y="3771900"/>
            <a:ext cx="73150" cy="13716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51" y="385419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이관 — 정밀 비교는 221 서비스분석의 몫이다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51" y="4286250"/>
            <a:ext cx="10899375" cy="7886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121은 착수기 거시 스캔이고 220은 정밀 분석이다. 여기서 시장을 삼각측정하지 않는다.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그룹 내 참조(더현대닷컴·그룹 사이트)는 개편 범위 밖이나 톤&amp;매너 정합 대상으로 남긴다.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 ·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환경 분석이 하류에 넘기는 것 7건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각 시사점에 받는 작업을 지정했다 — 받는 쪽 입력 목록에 등재돼야 이관이 성립한다.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121635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14500"/>
            <a:ext cx="73150" cy="58293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01" y="1837944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B3261E"/>
                </a:solidFill>
                <a:latin typeface="Pretendard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37" y="1837944"/>
            <a:ext cx="755885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retendard"/>
              </a:rPr>
              <a:t>IE10 유지 여부 재확인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522" y="1858518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353 · 423 · 911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67" y="2359152"/>
            <a:ext cx="1121635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67" y="2359152"/>
            <a:ext cx="73150" cy="58293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01" y="2482595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B3261E"/>
                </a:solidFill>
                <a:latin typeface="Pretendard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837" y="2482595"/>
            <a:ext cx="755885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retendard"/>
              </a:rPr>
              <a:t>업계 담론(MZ) 그대로 따르지 않기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522" y="250317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242 · 334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" y="3003804"/>
            <a:ext cx="1121635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7667" y="3003804"/>
            <a:ext cx="73150" cy="58293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01" y="3127247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B3261E"/>
                </a:solidFill>
                <a:latin typeface="Pretendard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6837" y="3127247"/>
            <a:ext cx="755885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retendard"/>
              </a:rPr>
              <a:t>범위 경계 관리가 1순위 리스크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522" y="3147822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322 · 911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3648456"/>
            <a:ext cx="1121635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7667" y="3648456"/>
            <a:ext cx="73150" cy="5829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01" y="3771899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6837" y="3771899"/>
            <a:ext cx="755885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retendard"/>
              </a:rPr>
              <a:t>회원 체계 전환기 — H.Point 통합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522" y="3792474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215 · 341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4293107"/>
            <a:ext cx="1121635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67" y="4293107"/>
            <a:ext cx="73150" cy="5829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01" y="4416551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S5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6837" y="4416551"/>
            <a:ext cx="755885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retendard"/>
              </a:rPr>
              <a:t>스타일가이드는 상속 구조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522" y="4437125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351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7667" y="4937760"/>
            <a:ext cx="1121635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7667" y="4937760"/>
            <a:ext cx="73150" cy="58293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01" y="5061204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7F37"/>
                </a:solidFill>
                <a:latin typeface="Pretendard"/>
              </a:rPr>
              <a:t>S6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6837" y="5061204"/>
            <a:ext cx="755885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retendard"/>
              </a:rPr>
              <a:t>경험형 콘텐츠 흐름 유효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522" y="5081777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242 · 243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7667" y="5582412"/>
            <a:ext cx="1121635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7667" y="5582412"/>
            <a:ext cx="73150" cy="58293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01" y="5705856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5FB4"/>
                </a:solidFill>
                <a:latin typeface="Pretendard"/>
              </a:rPr>
              <a:t>S7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6837" y="5705856"/>
            <a:ext cx="755885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retendard"/>
              </a:rPr>
              <a:t>정밀 경쟁 비교는 미해결로 이관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522" y="572643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221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환경분석보고서 · 근거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확보하지 못한 것 5건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외부 자료 확보 실패 — 사람 작업 또는 후속 단계가 필요하다.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1216359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14500"/>
            <a:ext cx="73150" cy="6172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60" y="1865376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B3261E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03" y="1865376"/>
            <a:ext cx="999718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대상 서비스(공식 홈페이지) 자체의 외부 보도 — 존재하지 않는 것으로 보임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67" y="2386583"/>
            <a:ext cx="11216359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67" y="2386583"/>
            <a:ext cx="73150" cy="6172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60" y="2537460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B3261E"/>
                </a:solidFill>
                <a:latin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03" y="2537460"/>
            <a:ext cx="999718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2022 시점 롯데·신세계 공식 채널 개편 동향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3058667"/>
            <a:ext cx="11216359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67" y="3058667"/>
            <a:ext cx="73150" cy="6172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60" y="3209544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B3261E"/>
                </a:solidFill>
                <a:latin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03" y="3209544"/>
            <a:ext cx="999718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PESTEL P(정치)·E(경제) 요인 — 유통 규제·소비심리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730751"/>
            <a:ext cx="11216359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67" y="3730751"/>
            <a:ext cx="73150" cy="6172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60" y="3881627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B3261E"/>
                </a:solidFill>
                <a:latin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03" y="3881627"/>
            <a:ext cx="999718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백화점 온라인 채널 트래픽·전환 벤치마크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4402835"/>
            <a:ext cx="11216359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7667" y="4402835"/>
            <a:ext cx="73150" cy="6172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60" y="4553711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B3261E"/>
                </a:solidFill>
                <a:latin typeface="Pretendar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03" y="4553711"/>
            <a:ext cx="999718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2022 국내 브라우저 점유율 정확 수치 — IE 잔존율 판단 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67" y="5074920"/>
            <a:ext cx="11216359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B3261E"/>
                </a:solidFill>
                <a:latin typeface="Pretendard"/>
              </a:rPr>
              <a:t>⚠️ 5번이 1번 제약(IE10)의 판단 근거다 — 잔존율을 모르는 채로 지원 범위를 결정해야 한다.</a:t>
            </a:r>
          </a:p>
          <a:p>
            <a:pPr algn="l"/>
            <a:r>
              <a:rPr sz="1000" b="1">
                <a:solidFill>
                  <a:srgbClr val="B3261E"/>
                </a:solidFill>
                <a:latin typeface="Pretendard"/>
              </a:rPr>
              <a:t>   고객사에 실사용 브라우저 통계를 요청하는 것이 가장 싼 해소 경로다.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환경분석보고서 · V1.1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