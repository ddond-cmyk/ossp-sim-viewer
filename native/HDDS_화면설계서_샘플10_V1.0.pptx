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6159" y="720090"/>
            <a:ext cx="731501" cy="3429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584" y="836676"/>
            <a:ext cx="10972525" cy="9601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retendard"/>
              </a:rPr>
              <a:t>화면설계서 (샘플)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6159" y="1714500"/>
            <a:ext cx="10972525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Pretendard"/>
              </a:rPr>
              <a:t>현대백화점 자사채널(PC·MWEB) 개선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6159" y="4800600"/>
            <a:ext cx="5486262" cy="12344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0">
                <a:solidFill>
                  <a:srgbClr val="A0A0A0"/>
                </a:solidFill>
                <a:latin typeface="Pretendard"/>
              </a:rPr>
              <a:t>구분   설계 — 유형 대표 10화면 샘플</a:t>
            </a:r>
          </a:p>
          <a:p>
            <a:pPr algn="l"/>
            <a:r>
              <a:rPr sz="1050" b="0">
                <a:solidFill>
                  <a:srgbClr val="A0A0A0"/>
                </a:solidFill>
                <a:latin typeface="Pretendard"/>
              </a:rPr>
              <a:t>버전   V1.0</a:t>
            </a:r>
          </a:p>
          <a:p>
            <a:pPr algn="l"/>
            <a:r>
              <a:rPr sz="1050" b="0">
                <a:solidFill>
                  <a:srgbClr val="A0A0A0"/>
                </a:solidFill>
                <a:latin typeface="Pretendard"/>
              </a:rPr>
              <a:t>작성자   기획PL</a:t>
            </a:r>
          </a:p>
          <a:p>
            <a:pPr algn="l"/>
            <a:r>
              <a:rPr sz="1050" b="0">
                <a:solidFill>
                  <a:srgbClr val="A0A0A0"/>
                </a:solidFill>
                <a:latin typeface="Pretendard"/>
              </a:rPr>
              <a:t>프로젝트   C2202500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01482" y="5212080"/>
            <a:ext cx="7315017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1300" b="0">
                <a:solidFill>
                  <a:srgbClr val="D8D8D8"/>
                </a:solidFill>
                <a:latin typeface="Pretendard"/>
              </a:rPr>
              <a:t>2026-08-10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6159" y="6309360"/>
            <a:ext cx="3657508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  <a:latin typeface="Pretendard"/>
              </a:rPr>
              <a:t>VinylC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67" y="137160"/>
            <a:ext cx="7315017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문서 정보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67" y="548640"/>
            <a:ext cx="7315017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Pretendard"/>
              </a:rPr>
              <a:t>개정이력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667" y="1371600"/>
            <a:ext cx="975335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7667" y="1426464"/>
            <a:ext cx="975335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버전</a:t>
            </a:r>
          </a:p>
        </p:txBody>
      </p:sp>
      <p:sp>
        <p:nvSpPr>
          <p:cNvPr id="6" name="Rectangle 5"/>
          <p:cNvSpPr/>
          <p:nvPr/>
        </p:nvSpPr>
        <p:spPr>
          <a:xfrm>
            <a:off x="1463003" y="1371600"/>
            <a:ext cx="1463003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03" y="1426464"/>
            <a:ext cx="1463003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일자</a:t>
            </a:r>
          </a:p>
        </p:txBody>
      </p:sp>
      <p:sp>
        <p:nvSpPr>
          <p:cNvPr id="8" name="Rectangle 7"/>
          <p:cNvSpPr/>
          <p:nvPr/>
        </p:nvSpPr>
        <p:spPr>
          <a:xfrm>
            <a:off x="2926006" y="1371600"/>
            <a:ext cx="7315017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26006" y="1426464"/>
            <a:ext cx="7315017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변경 내역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241023" y="1371600"/>
            <a:ext cx="1706837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023" y="1426464"/>
            <a:ext cx="1706837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작성자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7667" y="1748790"/>
            <a:ext cx="975335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7667" y="1783080"/>
            <a:ext cx="975335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v0.1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63003" y="1748790"/>
            <a:ext cx="1463003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63003" y="1783080"/>
            <a:ext cx="1463003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2026-08-10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26006" y="1748790"/>
            <a:ext cx="7315017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06" y="1783080"/>
            <a:ext cx="7315017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초안작성 — 유형 7종 대표 화면 7건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241023" y="1748790"/>
            <a:ext cx="1706837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41023" y="1783080"/>
            <a:ext cx="1706837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기획PL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7667" y="2160270"/>
            <a:ext cx="975335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7667" y="2194560"/>
            <a:ext cx="975335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v0.2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463003" y="2160270"/>
            <a:ext cx="1463003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63003" y="2194560"/>
            <a:ext cx="1463003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2026-08-10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926006" y="2160270"/>
            <a:ext cx="7315017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26006" y="2194560"/>
            <a:ext cx="7315017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343 설계리뷰 반영 — 공통 모듈 3종 추가 (계 10화면)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241023" y="2160270"/>
            <a:ext cx="1706837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41023" y="2194560"/>
            <a:ext cx="1706837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기획PL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7667" y="2571750"/>
            <a:ext cx="975335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7667" y="2606040"/>
            <a:ext cx="975335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v1.0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463003" y="2571750"/>
            <a:ext cx="1463003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63003" y="2606040"/>
            <a:ext cx="1463003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2026-08-10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26006" y="2571750"/>
            <a:ext cx="7315017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26006" y="2606040"/>
            <a:ext cx="7315017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샘플 규격 명시 · 표지·간지 제안서 계보 적용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241023" y="2571750"/>
            <a:ext cx="1706837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241023" y="2606040"/>
            <a:ext cx="1706837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기획PL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67" y="13716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화면설계서 (샘플) · 표본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67" y="548640"/>
            <a:ext cx="11216359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Pretendard"/>
              </a:rPr>
              <a:t>1,020화면 중 10화면 — 왜 10장인가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7667" y="1097280"/>
            <a:ext cx="11216359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50" b="0">
                <a:solidFill>
                  <a:srgbClr val="767676"/>
                </a:solidFill>
                <a:latin typeface="Pretendard"/>
              </a:rPr>
              <a:t>전량을 그리면 검증되는 것은 「반복을 견디는가」뿐이다. 알고 싶은 것은 「유형마다 옳은 골격을 내는가」이고, 그건 유형 대표로 답이 나온다.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487667" y="1783080"/>
            <a:ext cx="3596550" cy="12344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87667" y="1783080"/>
            <a:ext cx="3596550" cy="7543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584" y="1954530"/>
            <a:ext cx="3352716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Pretendard"/>
              </a:rPr>
              <a:t>1,020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584" y="2503170"/>
            <a:ext cx="3352716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모집단 — In-Scope 전체 화면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8051" y="1783080"/>
            <a:ext cx="3596550" cy="12344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28051" y="1783080"/>
            <a:ext cx="3596550" cy="7543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49968" y="1954530"/>
            <a:ext cx="3352716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Pretendard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9968" y="2503170"/>
            <a:ext cx="3352716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표본 — 유형 7종 각 1 + 공통 모듈 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68435" y="1783080"/>
            <a:ext cx="3596550" cy="12344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68435" y="1783080"/>
            <a:ext cx="3596550" cy="7543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0352" y="1954530"/>
            <a:ext cx="3352716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Pretendard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0352" y="2503170"/>
            <a:ext cx="3352716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미커버 유형 — 7/7 · modifier 2/2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7667" y="3291840"/>
            <a:ext cx="11216359" cy="10287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7667" y="3291840"/>
            <a:ext cx="73150" cy="10287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01" y="3394710"/>
            <a:ext cx="10728691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50" b="1">
                <a:solidFill>
                  <a:srgbClr val="1A1A1A"/>
                </a:solidFill>
                <a:latin typeface="Pretendard"/>
              </a:rPr>
              <a:t>잔여 1,010화면은 어떻게 되나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01" y="3737610"/>
            <a:ext cx="10728691" cy="51435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골격을 상속한다 — 343 매핑표가 유형↔컴포넌트를 고정하고, 353 이 「유형 템플릿 7종을 만들고 화면은 데이터로 채운다」를 구현 원칙으로 확정했다.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667" y="4526280"/>
            <a:ext cx="11216359" cy="102870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01" y="4629150"/>
            <a:ext cx="10728691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50" b="1">
                <a:solidFill>
                  <a:srgbClr val="B3261E"/>
                </a:solidFill>
                <a:latin typeface="Pretendard"/>
              </a:rPr>
              <a:t>⚠️ 이 표본이 못 잡는 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01" y="4972050"/>
            <a:ext cx="10728691" cy="51435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① 전개 정합성 — 나머지 1,010화면이 골격을 제대로 상속하는지는 미검증(343 규칙 공백 4번)  ② 반복 피로 — 10장으로는 같은 골격 100번의 피로를 알 수 없다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화면설계서 (샘플) · V1.0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67" y="13716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화면설계서 (샘플) · 표기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67" y="548640"/>
            <a:ext cx="11216359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Pretendard"/>
              </a:rPr>
              <a:t>입력 어휘 — 채널별 허용·금지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7667" y="1097280"/>
            <a:ext cx="11216359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50" b="0">
                <a:solidFill>
                  <a:srgbClr val="767676"/>
                </a:solidFill>
                <a:latin typeface="Pretendard"/>
              </a:rPr>
              <a:t>증류 원천 3개 프로젝트는 네이티브 앱이라 제스처 8종을 쓴다. 이 프로젝트는 PC·모바일 웹이므로 채널별 어휘로 대체했다.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487667" y="1714500"/>
            <a:ext cx="1463003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7667" y="1769364"/>
            <a:ext cx="1463003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채널</a:t>
            </a:r>
          </a:p>
        </p:txBody>
      </p:sp>
      <p:sp>
        <p:nvSpPr>
          <p:cNvPr id="7" name="Rectangle 6"/>
          <p:cNvSpPr/>
          <p:nvPr/>
        </p:nvSpPr>
        <p:spPr>
          <a:xfrm>
            <a:off x="1950671" y="1714500"/>
            <a:ext cx="5120511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950671" y="1769364"/>
            <a:ext cx="5120511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허용</a:t>
            </a:r>
          </a:p>
        </p:txBody>
      </p:sp>
      <p:sp>
        <p:nvSpPr>
          <p:cNvPr id="9" name="Rectangle 8"/>
          <p:cNvSpPr/>
          <p:nvPr/>
        </p:nvSpPr>
        <p:spPr>
          <a:xfrm>
            <a:off x="7071183" y="1714500"/>
            <a:ext cx="4632844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71183" y="1769364"/>
            <a:ext cx="4632844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금지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7667" y="2091690"/>
            <a:ext cx="1463003" cy="6172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7667" y="2228850"/>
            <a:ext cx="1463003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0">
                <a:solidFill>
                  <a:srgbClr val="1A1A1A"/>
                </a:solidFill>
                <a:latin typeface="Pretendard"/>
              </a:rPr>
              <a:t>PC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50671" y="2091690"/>
            <a:ext cx="5120511" cy="6172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50671" y="2228850"/>
            <a:ext cx="5120511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0">
                <a:solidFill>
                  <a:srgbClr val="1A1A1A"/>
                </a:solidFill>
                <a:latin typeface="Pretendard"/>
              </a:rPr>
              <a:t>선택 · Hover · 입력 · 스크롤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71183" y="2091690"/>
            <a:ext cx="4632844" cy="6172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71183" y="2228850"/>
            <a:ext cx="4632844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0">
                <a:solidFill>
                  <a:srgbClr val="1A1A1A"/>
                </a:solidFill>
                <a:latin typeface="Pretendard"/>
              </a:rPr>
              <a:t>우클릭 의존 금지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7667" y="2708910"/>
            <a:ext cx="1463003" cy="6172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7667" y="2846070"/>
            <a:ext cx="1463003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0">
                <a:solidFill>
                  <a:srgbClr val="1A1A1A"/>
                </a:solidFill>
                <a:latin typeface="Pretendard"/>
              </a:rPr>
              <a:t>MWEB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950671" y="2708910"/>
            <a:ext cx="5120511" cy="6172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950671" y="2846070"/>
            <a:ext cx="5120511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0">
                <a:solidFill>
                  <a:srgbClr val="1A1A1A"/>
                </a:solidFill>
                <a:latin typeface="Pretendard"/>
              </a:rPr>
              <a:t>Tap · 스와이프(배너·탭 한정) · 스크롤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71183" y="2708910"/>
            <a:ext cx="4632844" cy="6172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71183" y="2846070"/>
            <a:ext cx="4632844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0">
                <a:solidFill>
                  <a:srgbClr val="1A1A1A"/>
                </a:solidFill>
                <a:latin typeface="Pretendard"/>
              </a:rPr>
              <a:t>Long Tap·Pinch 금지 · 가로 전체 스와이프 금지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667" y="3326130"/>
            <a:ext cx="1463003" cy="6172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7667" y="3463290"/>
            <a:ext cx="1463003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0">
                <a:solidFill>
                  <a:srgbClr val="1A1A1A"/>
                </a:solidFill>
                <a:latin typeface="Pretendard"/>
              </a:rPr>
              <a:t>공통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950671" y="3326130"/>
            <a:ext cx="5120511" cy="6172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950671" y="3463290"/>
            <a:ext cx="5120511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0">
                <a:solidFill>
                  <a:srgbClr val="1A1A1A"/>
                </a:solidFill>
                <a:latin typeface="Pretendard"/>
              </a:rPr>
              <a:t>{조건} 충족 시 · {값} 초과 시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71183" y="3326130"/>
            <a:ext cx="4632844" cy="6172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71183" y="3463290"/>
            <a:ext cx="4632844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0">
                <a:solidFill>
                  <a:srgbClr val="1A1A1A"/>
                </a:solidFill>
                <a:latin typeface="Pretendard"/>
              </a:rPr>
              <a:t>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7667" y="4217670"/>
            <a:ext cx="11216359" cy="6858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Hover 는 가산적이다 — Hover 가 없으면 접근 불가한 정보·기능을 만들지 않는다(352 §1).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이 어휘 밖의 동사는 디스크립션에 쓰지 않는다 — 개발·QA 가 같은 단어를 써야 한다.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화면설계서 (샘플) · V1.0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87667" y="171450"/>
            <a:ext cx="3657508" cy="30861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1">
                <a:solidFill>
                  <a:srgbClr val="767676"/>
                </a:solidFill>
                <a:latin typeface="Pretendard"/>
              </a:rPr>
              <a:t>7화면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8051" y="2777490"/>
            <a:ext cx="609584" cy="2743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67093" y="2948940"/>
            <a:ext cx="3901342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300" b="0">
                <a:solidFill>
                  <a:srgbClr val="767676"/>
                </a:solidFill>
                <a:latin typeface="Pretendard"/>
              </a:rPr>
              <a:t>설계 판정이 유형마다 다르게 나오는지를 보여주는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67093" y="3257550"/>
            <a:ext cx="3901342" cy="9601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Pretendard"/>
              </a:rPr>
              <a:t>유형 대표 화면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화면설계서 (샘플) ·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28066"/>
            <a:ext cx="12191695" cy="2057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" y="109728"/>
            <a:ext cx="1402044" cy="30175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04792" y="157733"/>
            <a:ext cx="1402044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retendard"/>
              </a:rPr>
              <a:t>HDP-COM0106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754" y="130302"/>
            <a:ext cx="5486262" cy="315467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Pretendard"/>
              </a:rPr>
              <a:t>현대백화점 메인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36933" y="164592"/>
            <a:ext cx="438901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850" b="0">
                <a:solidFill>
                  <a:srgbClr val="767676"/>
                </a:solidFill>
                <a:latin typeface="Pretendard"/>
              </a:rPr>
              <a:t>PC · 허브·서브메인형 · 상태축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754" y="370332"/>
            <a:ext cx="5486262" cy="17830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현대백화점 메인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50" y="651510"/>
            <a:ext cx="8168435" cy="28803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50" y="692658"/>
            <a:ext cx="8168435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허브·서브메인형 수직 구조 · Header → 지점 컨텍스트 바 → 안내·현황 모듈 → 주요기능 모듈(상태별 가변) → 퀵링크 → Footer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7667" y="1028700"/>
            <a:ext cx="3657508" cy="274320"/>
          </a:xfrm>
          <a:prstGeom prst="rect">
            <a:avLst/>
          </a:prstGeom>
          <a:solidFill>
            <a:srgbClr val="E6E6E6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7667" y="1069848"/>
            <a:ext cx="3657508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1">
                <a:solidFill>
                  <a:srgbClr val="1A1A1A"/>
                </a:solidFill>
                <a:latin typeface="Pretendard"/>
              </a:rPr>
              <a:t>[Default — 회원 · 지점 확정]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667" y="1371600"/>
            <a:ext cx="3657508" cy="27432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7667" y="1385316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로고 · GNB 6종 · 통합검색 · 로그인</a:t>
            </a:r>
          </a:p>
        </p:txBody>
      </p:sp>
      <p:sp>
        <p:nvSpPr>
          <p:cNvPr id="15" name="Oval 14"/>
          <p:cNvSpPr/>
          <p:nvPr/>
        </p:nvSpPr>
        <p:spPr>
          <a:xfrm>
            <a:off x="3950109" y="1289304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7667" y="1700784"/>
            <a:ext cx="3657508" cy="30861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7667" y="1731645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지금 보는 점포 %지점명% · 변경</a:t>
            </a:r>
          </a:p>
        </p:txBody>
      </p:sp>
      <p:sp>
        <p:nvSpPr>
          <p:cNvPr id="18" name="Oval 17"/>
          <p:cNvSpPr/>
          <p:nvPr/>
        </p:nvSpPr>
        <p:spPr>
          <a:xfrm>
            <a:off x="3950109" y="1618488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7667" y="2064258"/>
            <a:ext cx="3657508" cy="82296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7667" y="2352294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메인 비주얼 배너 N개</a:t>
            </a:r>
          </a:p>
        </p:txBody>
      </p:sp>
      <p:sp>
        <p:nvSpPr>
          <p:cNvPr id="21" name="Oval 20"/>
          <p:cNvSpPr/>
          <p:nvPr/>
        </p:nvSpPr>
        <p:spPr>
          <a:xfrm>
            <a:off x="3950109" y="1981962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7667" y="2942082"/>
            <a:ext cx="3657508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7667" y="3007233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진행 중 행사 · 잔여 정원</a:t>
            </a:r>
          </a:p>
        </p:txBody>
      </p:sp>
      <p:sp>
        <p:nvSpPr>
          <p:cNvPr id="24" name="Oval 23"/>
          <p:cNvSpPr/>
          <p:nvPr/>
        </p:nvSpPr>
        <p:spPr>
          <a:xfrm>
            <a:off x="3950109" y="2859786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7667" y="3374136"/>
            <a:ext cx="3657508" cy="61722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7667" y="3559302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카드·멤버십 현황 모듈</a:t>
            </a:r>
          </a:p>
        </p:txBody>
      </p:sp>
      <p:sp>
        <p:nvSpPr>
          <p:cNvPr id="27" name="Oval 26"/>
          <p:cNvSpPr/>
          <p:nvPr/>
        </p:nvSpPr>
        <p:spPr>
          <a:xfrm>
            <a:off x="3950109" y="3291840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7667" y="4046220"/>
            <a:ext cx="3657508" cy="61722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7667" y="4231386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퀵링크 8종</a:t>
            </a:r>
          </a:p>
        </p:txBody>
      </p:sp>
      <p:sp>
        <p:nvSpPr>
          <p:cNvPr id="30" name="Oval 29"/>
          <p:cNvSpPr/>
          <p:nvPr/>
        </p:nvSpPr>
        <p:spPr>
          <a:xfrm>
            <a:off x="3950109" y="3963924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7667" y="4718304"/>
            <a:ext cx="3657508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7667" y="4783455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Footer · 사이트맵 · 웹접근성</a:t>
            </a:r>
          </a:p>
        </p:txBody>
      </p:sp>
      <p:sp>
        <p:nvSpPr>
          <p:cNvPr id="33" name="Oval 32"/>
          <p:cNvSpPr/>
          <p:nvPr/>
        </p:nvSpPr>
        <p:spPr>
          <a:xfrm>
            <a:off x="3950109" y="4636007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10927" y="1028700"/>
            <a:ext cx="3657508" cy="274320"/>
          </a:xfrm>
          <a:prstGeom prst="rect">
            <a:avLst/>
          </a:prstGeom>
          <a:solidFill>
            <a:srgbClr val="E6E6E6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10927" y="1069848"/>
            <a:ext cx="3657508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1">
                <a:solidFill>
                  <a:srgbClr val="1A1A1A"/>
                </a:solidFill>
                <a:latin typeface="Pretendard"/>
              </a:rPr>
              <a:t>[비회원 · 지점 미확정 CASE]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10927" y="1371600"/>
            <a:ext cx="3657508" cy="30861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10927" y="1402461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지점을 선택해 주세요</a:t>
            </a:r>
          </a:p>
        </p:txBody>
      </p:sp>
      <p:sp>
        <p:nvSpPr>
          <p:cNvPr id="38" name="Oval 37"/>
          <p:cNvSpPr/>
          <p:nvPr/>
        </p:nvSpPr>
        <p:spPr>
          <a:xfrm>
            <a:off x="7973368" y="1289304"/>
            <a:ext cx="243833" cy="244144"/>
          </a:xfrm>
          <a:prstGeom prst="ellipse">
            <a:avLst/>
          </a:prstGeom>
          <a:solidFill>
            <a:srgbClr val="76767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</a:rPr>
              <a:t>2a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10927" y="1735074"/>
            <a:ext cx="3657508" cy="61722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10927" y="1920240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카드·멤버십 → 로그인 유도</a:t>
            </a:r>
          </a:p>
        </p:txBody>
      </p:sp>
      <p:sp>
        <p:nvSpPr>
          <p:cNvPr id="41" name="Oval 40"/>
          <p:cNvSpPr/>
          <p:nvPr/>
        </p:nvSpPr>
        <p:spPr>
          <a:xfrm>
            <a:off x="7973368" y="1652778"/>
            <a:ext cx="243833" cy="244144"/>
          </a:xfrm>
          <a:prstGeom prst="ellipse">
            <a:avLst/>
          </a:prstGeom>
          <a:solidFill>
            <a:srgbClr val="76767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</a:rPr>
              <a:t>5a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021854" y="651510"/>
            <a:ext cx="487667" cy="27432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21854" y="692658"/>
            <a:ext cx="487667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번호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509522" y="651510"/>
            <a:ext cx="2438339" cy="27432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509522" y="692658"/>
            <a:ext cx="2438339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Pretendard"/>
              </a:rPr>
              <a:t>설명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021854" y="925830"/>
            <a:ext cx="487667" cy="44577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021854" y="1028700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Pretendard"/>
              </a:rPr>
              <a:t>–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509522" y="925830"/>
            <a:ext cx="2438339" cy="44577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09522" y="966978"/>
            <a:ext cx="2438339" cy="363474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Pretendard"/>
              </a:rPr>
              <a:t>앱·사이트 진입 시 &gt; 메인 디폴트 노출 / 지점 미확정 시 지점 선택(HDP-COM0114) 선행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021854" y="1371600"/>
            <a:ext cx="487667" cy="107670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021854" y="1426464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509522" y="1371600"/>
            <a:ext cx="2438339" cy="107670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509522" y="1399032"/>
            <a:ext cx="2438339" cy="102184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[GNB]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6종 노출 — 지점안내 · 브랜드 · 문화센터 · 카드·멤버십 · 서비스 · ESG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선택 시 &gt; 영역 랜딩으로 이동 / 화면 ID : HDP-STR0101 · HDP-BRD0120 · HDP-CUL0101 · HDP-CRD0101 · HDP-SVC0101 · HDP-CRP0101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Hover 시 &gt; 2Depth 드롭다운 노출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IA-009 · FN-A01 · REQ-LO-001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021854" y="2448306"/>
            <a:ext cx="487667" cy="12481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021854" y="2503170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2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509522" y="2448306"/>
            <a:ext cx="2438339" cy="12481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509522" y="2475738"/>
            <a:ext cx="2438339" cy="119329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[지점 컨텍스트 바]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직전 선택 지점 노출 — 쿠키 보존 기간 30일 [가정]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P-TERM-01 정본 문구 「지금 보는 점포」 + %지점명% + 「변경」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선택 시 &gt; 지점 선택(HDP-COM0114) 호출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최대 12자 노출, 12자 초과 시 &gt; 말줄임(…) 처리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컨셉키워드 K1 · 332(컨텐츠가이드설계) §7 플레이스홀더 대응 · P-TERM-01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021854" y="3696462"/>
            <a:ext cx="487667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021854" y="3751326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2a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509522" y="3696462"/>
            <a:ext cx="2438339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509522" y="3723894"/>
            <a:ext cx="2438339" cy="85039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[지점 컨텍스트 바 — 미확정]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안내 문구 「지점을 선택해 주세요」 노출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선택 시 &gt; 지점 선택(HDP-COM0114) 호출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332(컨텐츠가이드설계) §6-2 빈 상태 · FN-A05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021854" y="4601718"/>
            <a:ext cx="487667" cy="12481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021854" y="4656582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3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509522" y="4601718"/>
            <a:ext cx="2438339" cy="12481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509522" y="4629150"/>
            <a:ext cx="2438339" cy="119329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[메인 비주얼 배너]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Admin에서 등록한 배너 노출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최소 1개 등록 필요 / 최대 10개 등록 가능, 10개 초과 시 &gt; Admin 등록 차단 처리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5초마다 자동 롤링 · 좌우 스와이프 제공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선택 시 &gt; Admin 등록 랜딩으로 이동 — 대상이 Admin 등록값이라 화면ID 생략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FN-A03 · REQ-LO-004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021854" y="5918454"/>
            <a:ext cx="292600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※ 다음 페이지 계속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021854" y="5849874"/>
            <a:ext cx="487667" cy="34290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021854" y="5918454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750" b="0">
                <a:solidFill>
                  <a:srgbClr val="1A1A1A"/>
                </a:solidFill>
                <a:latin typeface="Pretendard"/>
              </a:rPr>
              <a:t>비고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509522" y="5849874"/>
            <a:ext cx="2438339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509522" y="5884164"/>
            <a:ext cx="2438339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767676"/>
                </a:solidFill>
                <a:latin typeface="Pretendard"/>
              </a:rPr>
              <a:t>331(와이어프레임설계) W-02 원형 상속. 상태축 4단(비회원/회원/카드보유Y/VIP)이나 CASE 프레임은 양극단 2개만 그렸다 — 중간 2단은 모듈 노출 여부만 다름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UI상세설계서 · V1.0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28066"/>
            <a:ext cx="12191695" cy="2057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" y="109728"/>
            <a:ext cx="1402044" cy="30175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04792" y="157733"/>
            <a:ext cx="1402044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retendard"/>
              </a:rPr>
              <a:t>HDP-COM0114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754" y="130302"/>
            <a:ext cx="5486262" cy="315467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Pretendard"/>
              </a:rPr>
              <a:t>지점 선택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36933" y="164592"/>
            <a:ext cx="438901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850" b="0">
                <a:solidFill>
                  <a:srgbClr val="767676"/>
                </a:solidFill>
                <a:latin typeface="Pretendard"/>
              </a:rPr>
              <a:t>PC · 목록형 · 지점축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754" y="370332"/>
            <a:ext cx="5486262" cy="17830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전역 — 모든 화면에서 호출 가능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50" y="651510"/>
            <a:ext cx="8168435" cy="28803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50" y="692658"/>
            <a:ext cx="8168435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목록형 수직 구조 · Header → 필터(1단) → 지점 카드 반복 → (빈 상태) → 닫기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7667" y="1028700"/>
            <a:ext cx="3657508" cy="274320"/>
          </a:xfrm>
          <a:prstGeom prst="rect">
            <a:avLst/>
          </a:prstGeom>
          <a:solidFill>
            <a:srgbClr val="E6E6E6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7667" y="1069848"/>
            <a:ext cx="3657508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1">
                <a:solidFill>
                  <a:srgbClr val="1A1A1A"/>
                </a:solidFill>
                <a:latin typeface="Pretendard"/>
              </a:rPr>
              <a:t>[Default — 필터 전체]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667" y="1371600"/>
            <a:ext cx="3657508" cy="30861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7667" y="1402461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지점 선택 · 닫기</a:t>
            </a:r>
          </a:p>
        </p:txBody>
      </p:sp>
      <p:sp>
        <p:nvSpPr>
          <p:cNvPr id="15" name="Oval 14"/>
          <p:cNvSpPr/>
          <p:nvPr/>
        </p:nvSpPr>
        <p:spPr>
          <a:xfrm>
            <a:off x="3950109" y="1289304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7667" y="1735074"/>
            <a:ext cx="3657508" cy="30861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7667" y="1765935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전체 / 더현대 / 백화점 / 아울렛</a:t>
            </a:r>
          </a:p>
        </p:txBody>
      </p:sp>
      <p:sp>
        <p:nvSpPr>
          <p:cNvPr id="18" name="Oval 17"/>
          <p:cNvSpPr/>
          <p:nvPr/>
        </p:nvSpPr>
        <p:spPr>
          <a:xfrm>
            <a:off x="3950109" y="1652778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7667" y="2098548"/>
            <a:ext cx="3657508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7667" y="2163699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지점명 검색</a:t>
            </a:r>
          </a:p>
        </p:txBody>
      </p:sp>
      <p:sp>
        <p:nvSpPr>
          <p:cNvPr id="21" name="Oval 20"/>
          <p:cNvSpPr/>
          <p:nvPr/>
        </p:nvSpPr>
        <p:spPr>
          <a:xfrm>
            <a:off x="3950109" y="2016252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7667" y="2530602"/>
            <a:ext cx="3657508" cy="61722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7667" y="2715768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지점 카드 N개 — 지점명 · 영업시간 · 오시는길</a:t>
            </a:r>
          </a:p>
        </p:txBody>
      </p:sp>
      <p:sp>
        <p:nvSpPr>
          <p:cNvPr id="24" name="Oval 23"/>
          <p:cNvSpPr/>
          <p:nvPr/>
        </p:nvSpPr>
        <p:spPr>
          <a:xfrm>
            <a:off x="3950109" y="2448305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7667" y="3202686"/>
            <a:ext cx="3657508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7667" y="3267837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Validation · 미선택 시 처리</a:t>
            </a:r>
          </a:p>
        </p:txBody>
      </p:sp>
      <p:sp>
        <p:nvSpPr>
          <p:cNvPr id="27" name="Oval 26"/>
          <p:cNvSpPr/>
          <p:nvPr/>
        </p:nvSpPr>
        <p:spPr>
          <a:xfrm>
            <a:off x="3950109" y="3120390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10927" y="1028700"/>
            <a:ext cx="3657508" cy="274320"/>
          </a:xfrm>
          <a:prstGeom prst="rect">
            <a:avLst/>
          </a:prstGeom>
          <a:solidFill>
            <a:srgbClr val="E6E6E6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10927" y="1069848"/>
            <a:ext cx="3657508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1">
                <a:solidFill>
                  <a:srgbClr val="1A1A1A"/>
                </a:solidFill>
                <a:latin typeface="Pretendard"/>
              </a:rPr>
              <a:t>[검색 결과 없음 CASE]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10927" y="1371600"/>
            <a:ext cx="3657508" cy="75438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10927" y="1625346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결과 없음 — 범위 확장 제안</a:t>
            </a:r>
          </a:p>
        </p:txBody>
      </p:sp>
      <p:sp>
        <p:nvSpPr>
          <p:cNvPr id="32" name="Oval 31"/>
          <p:cNvSpPr/>
          <p:nvPr/>
        </p:nvSpPr>
        <p:spPr>
          <a:xfrm>
            <a:off x="7973368" y="1289304"/>
            <a:ext cx="243833" cy="244144"/>
          </a:xfrm>
          <a:prstGeom prst="ellipse">
            <a:avLst/>
          </a:prstGeom>
          <a:solidFill>
            <a:srgbClr val="76767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</a:rPr>
              <a:t>4a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21854" y="651510"/>
            <a:ext cx="487667" cy="27432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21854" y="692658"/>
            <a:ext cx="487667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번호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509522" y="651510"/>
            <a:ext cx="2438339" cy="27432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09522" y="692658"/>
            <a:ext cx="2438339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Pretendard"/>
              </a:rPr>
              <a:t>설명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021854" y="925830"/>
            <a:ext cx="487667" cy="44577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21854" y="1028700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Pretendard"/>
              </a:rPr>
              <a:t>–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509522" y="925830"/>
            <a:ext cx="2438339" cy="44577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509522" y="966978"/>
            <a:ext cx="2438339" cy="363474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Pretendard"/>
              </a:rPr>
              <a:t>지점 컨텍스트 바 선택 시 또는 지점 미확정 상태 진입 시 &gt; 전역 오버레이로 호출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021854" y="1371600"/>
            <a:ext cx="487667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021854" y="1426464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509522" y="1371600"/>
            <a:ext cx="2438339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509522" y="1399032"/>
            <a:ext cx="2438339" cy="85039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[레이어 헤더]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타이틀 「지점 선택」 노출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닫기 선택 시 &gt; 오버레이 닫힘 처리 후 직전 화면 유지 — 지점 컨텍스트 변경 없음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FN-A02 · 331(와이어프레임설계) W-01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021854" y="2276856"/>
            <a:ext cx="487667" cy="107670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21854" y="2331720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509522" y="2276856"/>
            <a:ext cx="2438339" cy="107670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509522" y="2304288"/>
            <a:ext cx="2438339" cy="102184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[필터] (필수)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「전체」 선택 상태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제공 항목 : 전체 / 더현대 / 백화점 / 아울렛 — 4종 단일 선택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선택 시 &gt; 지점 카드 목록 즉시 갱신 — 페이지 재호출 없음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333(UI가이드정의) C-02 필터 · 332(컨텐츠가이드설계) §5-2 · FN-A02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021854" y="3353562"/>
            <a:ext cx="487667" cy="12481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021854" y="3408426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509522" y="3353562"/>
            <a:ext cx="2438339" cy="12481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509522" y="3380994"/>
            <a:ext cx="2438339" cy="119329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[지점명 검색 입력] (선택)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플레이스 홀더 노출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입력 시 &gt; 2자 이상부터 목록 즉시 필터링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최대 20자 입력 가능, 20자 초과 시 &gt; 입력 차단 처리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필수 아님 — 미입력 시 필터 결과 전량 노출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333(UI가이드정의) C-03 검색 입력(지역) · FN-A02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021854" y="4601718"/>
            <a:ext cx="487667" cy="141960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021854" y="4656582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509522" y="4601718"/>
            <a:ext cx="2438339" cy="141960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509522" y="4629150"/>
            <a:ext cx="2438339" cy="136474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[지점 카드] ~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필터 조건에 해당하는 지점 전량 노출 — 16개 기준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제공 항목 : 지점명 · 영업시간 `HH:MM ~ HH:MM` · 「오시는길」 링크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선택 시 &gt; 지점 확정 처리 후 오버레이 닫힘 &gt; 직전 화면을 %지점명% 기준으로 재호출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오시는길 선택 시 &gt; 지점 오시는길로 이동 / 화면 ID : HDP-STR0104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휴점일 : 영업시간 자리에 「금일 휴점」 노출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332(컨텐츠가이드설계) §7 지점카드 · 컨셉키워드 K2 · FN-A02 · REQ-SI-001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021854" y="6089904"/>
            <a:ext cx="292600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※ 다음 페이지 계속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021854" y="6021324"/>
            <a:ext cx="487667" cy="34290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021854" y="6089904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750" b="0">
                <a:solidFill>
                  <a:srgbClr val="1A1A1A"/>
                </a:solidFill>
                <a:latin typeface="Pretendard"/>
              </a:rPr>
              <a:t>비고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509522" y="6021324"/>
            <a:ext cx="2438339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509522" y="6055614"/>
            <a:ext cx="2438339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767676"/>
                </a:solidFill>
                <a:latin typeface="Pretendard"/>
              </a:rPr>
              <a:t>331(와이어프레임설계) W-01 원형 상속. 전역 오버레이라 breadcrumb 대신 호출 조건을 기재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UI상세설계서 · V1.0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28066"/>
            <a:ext cx="12191695" cy="2057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" y="109728"/>
            <a:ext cx="1402044" cy="30175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04792" y="157733"/>
            <a:ext cx="1402044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retendard"/>
              </a:rPr>
              <a:t>HDP-STR0102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754" y="130302"/>
            <a:ext cx="5486262" cy="315467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Pretendard"/>
              </a:rPr>
              <a:t>지점 홈 (%지점명%)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36933" y="164592"/>
            <a:ext cx="438901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850" b="0">
                <a:solidFill>
                  <a:srgbClr val="767676"/>
                </a:solidFill>
                <a:latin typeface="Pretendard"/>
              </a:rPr>
              <a:t>PC · 정보·안내형 · 지점축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754" y="370332"/>
            <a:ext cx="5486262" cy="17830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지점안내 &gt; 현대백화점 본관 &gt; %지점명%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50" y="651510"/>
            <a:ext cx="8168435" cy="28803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50" y="692658"/>
            <a:ext cx="8168435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정보·안내형 수직 구조 · Header → 지점 컨텍스트 바 → 대표 비주얼 → 탭(절 구분) → 본문 블록 N → 관련 링크 → Footer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7667" y="1028700"/>
            <a:ext cx="3657508" cy="274320"/>
          </a:xfrm>
          <a:prstGeom prst="rect">
            <a:avLst/>
          </a:prstGeom>
          <a:solidFill>
            <a:srgbClr val="E6E6E6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7667" y="1069848"/>
            <a:ext cx="3657508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1">
                <a:solidFill>
                  <a:srgbClr val="1A1A1A"/>
                </a:solidFill>
                <a:latin typeface="Pretendard"/>
              </a:rPr>
              <a:t>[Default — 지점 확정 · 전체 서비스 제공]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667" y="1371600"/>
            <a:ext cx="3657508" cy="27432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7667" y="1385316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GNB · 통합검색</a:t>
            </a:r>
          </a:p>
        </p:txBody>
      </p:sp>
      <p:sp>
        <p:nvSpPr>
          <p:cNvPr id="15" name="Oval 14"/>
          <p:cNvSpPr/>
          <p:nvPr/>
        </p:nvSpPr>
        <p:spPr>
          <a:xfrm>
            <a:off x="3950109" y="1289304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7667" y="1700784"/>
            <a:ext cx="3657508" cy="30861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7667" y="1731645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지금 보는 점포 %지점명% · 변경</a:t>
            </a:r>
          </a:p>
        </p:txBody>
      </p:sp>
      <p:sp>
        <p:nvSpPr>
          <p:cNvPr id="18" name="Oval 17"/>
          <p:cNvSpPr/>
          <p:nvPr/>
        </p:nvSpPr>
        <p:spPr>
          <a:xfrm>
            <a:off x="3950109" y="1618488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7667" y="2064258"/>
            <a:ext cx="3657508" cy="82296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7667" y="2352294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지점 대표 비주얼</a:t>
            </a:r>
          </a:p>
        </p:txBody>
      </p:sp>
      <p:sp>
        <p:nvSpPr>
          <p:cNvPr id="21" name="Oval 20"/>
          <p:cNvSpPr/>
          <p:nvPr/>
        </p:nvSpPr>
        <p:spPr>
          <a:xfrm>
            <a:off x="3950109" y="1981962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7667" y="2942082"/>
            <a:ext cx="3657508" cy="30861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7667" y="2972943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층별안내 / 식당가 / 오시는길 / 이용안내</a:t>
            </a:r>
          </a:p>
        </p:txBody>
      </p:sp>
      <p:sp>
        <p:nvSpPr>
          <p:cNvPr id="24" name="Oval 23"/>
          <p:cNvSpPr/>
          <p:nvPr/>
        </p:nvSpPr>
        <p:spPr>
          <a:xfrm>
            <a:off x="3950109" y="2859786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7667" y="3305556"/>
            <a:ext cx="3657508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7667" y="3370707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영업시간 · 휴점일</a:t>
            </a:r>
          </a:p>
        </p:txBody>
      </p:sp>
      <p:sp>
        <p:nvSpPr>
          <p:cNvPr id="27" name="Oval 26"/>
          <p:cNvSpPr/>
          <p:nvPr/>
        </p:nvSpPr>
        <p:spPr>
          <a:xfrm>
            <a:off x="3950109" y="3223260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7667" y="3737610"/>
            <a:ext cx="3657508" cy="61722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7667" y="3922776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지점 특성 모듈</a:t>
            </a:r>
          </a:p>
        </p:txBody>
      </p:sp>
      <p:sp>
        <p:nvSpPr>
          <p:cNvPr id="30" name="Oval 29"/>
          <p:cNvSpPr/>
          <p:nvPr/>
        </p:nvSpPr>
        <p:spPr>
          <a:xfrm>
            <a:off x="3950109" y="3655314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7667" y="4409694"/>
            <a:ext cx="3657508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7667" y="4474845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진행 중 행사 링크</a:t>
            </a:r>
          </a:p>
        </p:txBody>
      </p:sp>
      <p:sp>
        <p:nvSpPr>
          <p:cNvPr id="33" name="Oval 32"/>
          <p:cNvSpPr/>
          <p:nvPr/>
        </p:nvSpPr>
        <p:spPr>
          <a:xfrm>
            <a:off x="3950109" y="4327397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10927" y="1028700"/>
            <a:ext cx="3657508" cy="274320"/>
          </a:xfrm>
          <a:prstGeom prst="rect">
            <a:avLst/>
          </a:prstGeom>
          <a:solidFill>
            <a:srgbClr val="E6E6E6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10927" y="1069848"/>
            <a:ext cx="3657508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1">
                <a:solidFill>
                  <a:srgbClr val="1A1A1A"/>
                </a:solidFill>
                <a:latin typeface="Pretendard"/>
              </a:rPr>
              <a:t>[미제공 서비스 CASE]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10927" y="1371600"/>
            <a:ext cx="3657508" cy="75438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10927" y="1625346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%지점명% 미제공 안내</a:t>
            </a:r>
          </a:p>
        </p:txBody>
      </p:sp>
      <p:sp>
        <p:nvSpPr>
          <p:cNvPr id="38" name="Oval 37"/>
          <p:cNvSpPr/>
          <p:nvPr/>
        </p:nvSpPr>
        <p:spPr>
          <a:xfrm>
            <a:off x="7973368" y="1289304"/>
            <a:ext cx="243833" cy="244144"/>
          </a:xfrm>
          <a:prstGeom prst="ellipse">
            <a:avLst/>
          </a:prstGeom>
          <a:solidFill>
            <a:srgbClr val="76767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</a:rPr>
              <a:t>4a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021854" y="651510"/>
            <a:ext cx="487667" cy="27432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21854" y="692658"/>
            <a:ext cx="487667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번호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509522" y="651510"/>
            <a:ext cx="2438339" cy="27432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509522" y="692658"/>
            <a:ext cx="2438339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Pretendard"/>
              </a:rPr>
              <a:t>설명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021854" y="925830"/>
            <a:ext cx="487667" cy="44577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21854" y="1028700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Pretendard"/>
              </a:rPr>
              <a:t>–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509522" y="925830"/>
            <a:ext cx="2438339" cy="44577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509522" y="966978"/>
            <a:ext cx="2438339" cy="363474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Pretendard"/>
              </a:rPr>
              <a:t>GNB 지점안내 또는 지점 선택(HDP-COM0114) 확정 시 &gt; %지점명% 지점 홈 노출. **화면 1개 × 지점 16 — 지점별 슬라이드를 따로 만들지 않는다**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021854" y="1371600"/>
            <a:ext cx="487667" cy="73380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021854" y="1426464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509522" y="1371600"/>
            <a:ext cx="2438339" cy="73380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509522" y="1399032"/>
            <a:ext cx="2438339" cy="67894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[GNB]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지점안내 활성 상태 노출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IA-010 · FN-B01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021854" y="2105406"/>
            <a:ext cx="487667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021854" y="2160270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509522" y="2105406"/>
            <a:ext cx="2438339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509522" y="2132838"/>
            <a:ext cx="2438339" cy="85039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[지점 컨텍스트 바]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%지점명% 노출 — 화면 진입 경로와 무관하게 항상 동일 위치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선택 시 &gt; 지점 선택(HDP-COM0114) 호출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컨셉키워드 K1 · P-TERM-01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021854" y="3010662"/>
            <a:ext cx="487667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021854" y="3065526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509522" y="3010662"/>
            <a:ext cx="2438339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509522" y="3038094"/>
            <a:ext cx="2438339" cy="85039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[지점 대표 비주얼]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Admin에서 등록한 지점 대표 이미지 노출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최대 1개 등록 가능, 초과 등록 시 &gt; 최신 1건만 노출 처리 — 미등록 시 기본 이미지 노출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FN-B02 · REQ-SI-002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021854" y="3915917"/>
            <a:ext cx="487667" cy="107670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021854" y="3970781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509522" y="3915917"/>
            <a:ext cx="2438339" cy="107670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509522" y="3943349"/>
            <a:ext cx="2438339" cy="102184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[탭] (필수)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「층별안내」 선택 상태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제공 항목 : 층별안내 / 식당가 / 오시는길 / 이용안내 — 지점별 제공 항목만 노출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선택 시 &gt; 같은 화면 안에서 본문 블록 전환 — 화면 이동 없음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333(UI가이드정의) N-04 탭 · IA-011~014 · FN-B03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021854" y="4992624"/>
            <a:ext cx="487667" cy="107670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021854" y="5047487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4a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509522" y="4992624"/>
            <a:ext cx="2438339" cy="107670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509522" y="5020056"/>
            <a:ext cx="2438339" cy="102184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[탭 — 미제공 서비스]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332(컨텐츠가이드설계) §6-2 빈 상태 2행 문구 노출 — "{지점명}에서는 제공하지 않는 서비스입니다."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버튼 「다른 지점 보기」 제공 — 선택 시 &gt; 지점 선택(HDP-COM0114) 호출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미제공 탭은 비활성 노출 — 목록에서 숨기지 않음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332(컨텐츠가이드설계) §6-2 · FN-B08 · 331(와이어프레임설계) W-04 미제공 안내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021854" y="6137910"/>
            <a:ext cx="292600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※ 다음 페이지 계속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021854" y="6069330"/>
            <a:ext cx="487667" cy="342900"/>
          </a:xfrm>
          <a:prstGeom prst="rect">
            <a:avLst/>
          </a:prstGeom>
          <a:solidFill>
            <a:srgbClr val="FFF6F5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021854" y="6137910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700" b="0">
                <a:solidFill>
                  <a:srgbClr val="B3261E"/>
                </a:solidFill>
                <a:latin typeface="Pretendard"/>
              </a:rPr>
              <a:t>확인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09522" y="6069330"/>
            <a:ext cx="2438339" cy="342900"/>
          </a:xfrm>
          <a:prstGeom prst="rect">
            <a:avLst/>
          </a:prstGeom>
          <a:solidFill>
            <a:srgbClr val="FFF6F5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509522" y="6103620"/>
            <a:ext cx="2438339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B3261E"/>
                </a:solidFill>
                <a:latin typeface="Pretendard"/>
              </a:rPr>
              <a:t>지점 특성 모듈 종류 미확정 — 333(UI가이드정의) 미결 4번과 동일 항목, 343(설계리뷰및리팩토링)에서 확정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UI상세설계서 · V1.0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28066"/>
            <a:ext cx="12191695" cy="2057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" y="109728"/>
            <a:ext cx="1402044" cy="30175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04792" y="157733"/>
            <a:ext cx="1402044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retendard"/>
              </a:rPr>
              <a:t>HDP-BRD0103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754" y="130302"/>
            <a:ext cx="5486262" cy="315467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Pretendard"/>
              </a:rPr>
              <a:t>브랜드 상세 (%브랜드명%)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36933" y="164592"/>
            <a:ext cx="438901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850" b="0">
                <a:solidFill>
                  <a:srgbClr val="767676"/>
                </a:solidFill>
                <a:latin typeface="Pretendard"/>
              </a:rPr>
              <a:t>PC · 콘텐츠 상세형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754" y="370332"/>
            <a:ext cx="5486262" cy="17830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브랜드 &gt; 패션&amp;뷰티 &gt; %브랜드명%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50" y="651510"/>
            <a:ext cx="8168435" cy="28803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50" y="692658"/>
            <a:ext cx="8168435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콘텐츠 상세형 수직 구조 · Header → 대표 이미지 → 제목·메타 → 본문(Admin) → 관련 목록 → 목록으로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7667" y="1028700"/>
            <a:ext cx="3657508" cy="274320"/>
          </a:xfrm>
          <a:prstGeom prst="rect">
            <a:avLst/>
          </a:prstGeom>
          <a:solidFill>
            <a:srgbClr val="E6E6E6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7667" y="1069848"/>
            <a:ext cx="3657508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1">
                <a:solidFill>
                  <a:srgbClr val="1A1A1A"/>
                </a:solidFill>
                <a:latin typeface="Pretendard"/>
              </a:rPr>
              <a:t>[Default — 브랜드 콘텐츠 등록 상태]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667" y="1371600"/>
            <a:ext cx="3657508" cy="30861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7667" y="1402461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브랜드 목록으로</a:t>
            </a:r>
          </a:p>
        </p:txBody>
      </p:sp>
      <p:sp>
        <p:nvSpPr>
          <p:cNvPr id="15" name="Oval 14"/>
          <p:cNvSpPr/>
          <p:nvPr/>
        </p:nvSpPr>
        <p:spPr>
          <a:xfrm>
            <a:off x="3950109" y="1289304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7667" y="1735074"/>
            <a:ext cx="3657508" cy="82296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7667" y="2023110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브랜드 대표 이미지</a:t>
            </a:r>
          </a:p>
        </p:txBody>
      </p:sp>
      <p:sp>
        <p:nvSpPr>
          <p:cNvPr id="18" name="Oval 17"/>
          <p:cNvSpPr/>
          <p:nvPr/>
        </p:nvSpPr>
        <p:spPr>
          <a:xfrm>
            <a:off x="3950109" y="1652778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7667" y="2612898"/>
            <a:ext cx="3657508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7667" y="2678049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%브랜드명% · 카테고리 · 입점 지점</a:t>
            </a:r>
          </a:p>
        </p:txBody>
      </p:sp>
      <p:sp>
        <p:nvSpPr>
          <p:cNvPr id="21" name="Oval 20"/>
          <p:cNvSpPr/>
          <p:nvPr/>
        </p:nvSpPr>
        <p:spPr>
          <a:xfrm>
            <a:off x="3950109" y="2530602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7667" y="3044952"/>
            <a:ext cx="3657508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7667" y="3110103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브랜드 소개 본문</a:t>
            </a:r>
          </a:p>
        </p:txBody>
      </p:sp>
      <p:sp>
        <p:nvSpPr>
          <p:cNvPr id="24" name="Oval 23"/>
          <p:cNvSpPr/>
          <p:nvPr/>
        </p:nvSpPr>
        <p:spPr>
          <a:xfrm>
            <a:off x="3950109" y="2962656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7667" y="3477006"/>
            <a:ext cx="3657508" cy="61722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7667" y="3662172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입점 지점 목록</a:t>
            </a:r>
          </a:p>
        </p:txBody>
      </p:sp>
      <p:sp>
        <p:nvSpPr>
          <p:cNvPr id="27" name="Oval 26"/>
          <p:cNvSpPr/>
          <p:nvPr/>
        </p:nvSpPr>
        <p:spPr>
          <a:xfrm>
            <a:off x="3950109" y="3394709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7667" y="4149090"/>
            <a:ext cx="3657508" cy="61722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7667" y="4334256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관련 브랜드</a:t>
            </a:r>
          </a:p>
        </p:txBody>
      </p:sp>
      <p:sp>
        <p:nvSpPr>
          <p:cNvPr id="30" name="Oval 29"/>
          <p:cNvSpPr/>
          <p:nvPr/>
        </p:nvSpPr>
        <p:spPr>
          <a:xfrm>
            <a:off x="3950109" y="4066794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10927" y="1028700"/>
            <a:ext cx="3657508" cy="274320"/>
          </a:xfrm>
          <a:prstGeom prst="rect">
            <a:avLst/>
          </a:prstGeom>
          <a:solidFill>
            <a:srgbClr val="E6E6E6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10927" y="1069848"/>
            <a:ext cx="3657508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1">
                <a:solidFill>
                  <a:srgbClr val="1A1A1A"/>
                </a:solidFill>
                <a:latin typeface="Pretendard"/>
              </a:rPr>
              <a:t>[콘텐츠 미등록 CASE]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10927" y="1371600"/>
            <a:ext cx="3657508" cy="75438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10927" y="1625346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준비 중 안내</a:t>
            </a:r>
          </a:p>
        </p:txBody>
      </p:sp>
      <p:sp>
        <p:nvSpPr>
          <p:cNvPr id="35" name="Oval 34"/>
          <p:cNvSpPr/>
          <p:nvPr/>
        </p:nvSpPr>
        <p:spPr>
          <a:xfrm>
            <a:off x="7973368" y="1289304"/>
            <a:ext cx="243833" cy="244144"/>
          </a:xfrm>
          <a:prstGeom prst="ellipse">
            <a:avLst/>
          </a:prstGeom>
          <a:solidFill>
            <a:srgbClr val="76767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</a:rPr>
              <a:t>4a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021854" y="651510"/>
            <a:ext cx="487667" cy="27432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21854" y="692658"/>
            <a:ext cx="487667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번호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509522" y="651510"/>
            <a:ext cx="2438339" cy="27432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509522" y="692658"/>
            <a:ext cx="2438339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Pretendard"/>
              </a:rPr>
              <a:t>설명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021854" y="925830"/>
            <a:ext cx="487667" cy="44577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21854" y="1028700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Pretendard"/>
              </a:rPr>
              <a:t>–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509522" y="925830"/>
            <a:ext cx="2438339" cy="44577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509522" y="966978"/>
            <a:ext cx="2438339" cy="363474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Pretendard"/>
              </a:rPr>
              <a:t>브랜드 목록(HDP-BRD0120)에서 브랜드 카드 선택 시 진입. **화면 1개 × 브랜드 24 — 반복 인스턴스**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021854" y="1371600"/>
            <a:ext cx="487667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021854" y="1426464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509522" y="1371600"/>
            <a:ext cx="2438339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509522" y="1399032"/>
            <a:ext cx="2438339" cy="85039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[목록 복귀 링크]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「브랜드 목록」 노출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선택 시 &gt; 직전 목록으로 이동 — 필터·스크롤 위치 보존 / 화면 ID : HDP-BRD0120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331(와이어프레임설계) 「막다른 화면 0」 · FN-C05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021854" y="2276856"/>
            <a:ext cx="487667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021854" y="2331720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509522" y="2276856"/>
            <a:ext cx="2438339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509522" y="2304288"/>
            <a:ext cx="2438339" cy="85039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[브랜드 대표 이미지]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Admin에서 등록한 대표 이미지 노출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미등록 시 &gt; 기본 이미지 노출 — 영역 비우지 않음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FN-C04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021854" y="3182112"/>
            <a:ext cx="487667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021854" y="3236976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509522" y="3182112"/>
            <a:ext cx="2438339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509522" y="3209544"/>
            <a:ext cx="2438339" cy="85039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[제목·메타]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%브랜드명% · %카테고리% · 입점 지점 수 노출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최대 2줄 노출, 2줄 초과 시 &gt; 말줄임(…) 처리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332(컨텐츠가이드설계) §5-4 · FN-C04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021854" y="4087368"/>
            <a:ext cx="487667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021854" y="4142232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509522" y="4087368"/>
            <a:ext cx="2438339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509522" y="4114800"/>
            <a:ext cx="2438339" cy="85039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[브랜드 소개 본문]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Admin에서 입력한 본문 노출 — 화면은 그릇이고 본문은 운영 콘텐츠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Admin 관리 X 영역 없음 — 전 영역 등록값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FN-C04 · REQ-BR-002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021854" y="4992624"/>
            <a:ext cx="487667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021854" y="5047488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4a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509522" y="4992624"/>
            <a:ext cx="2438339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509522" y="5020056"/>
            <a:ext cx="2438339" cy="85039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[브랜드 소개 본문 — 미등록]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332(컨텐츠가이드설계) §6-2 빈 상태 3행 문구 노출 — "아직 브랜드 소개가 없습니다."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하위 블록은 비노출 처리 — 본문만 대체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332(컨텐츠가이드설계) §6-2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021854" y="5966460"/>
            <a:ext cx="292600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※ 다음 페이지 계속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021854" y="5897880"/>
            <a:ext cx="487667" cy="34290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021854" y="5966460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750" b="0">
                <a:solidFill>
                  <a:srgbClr val="1A1A1A"/>
                </a:solidFill>
                <a:latin typeface="Pretendard"/>
              </a:rPr>
              <a:t>비고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509522" y="5897880"/>
            <a:ext cx="2438339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509522" y="5932170"/>
            <a:ext cx="2438339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767676"/>
                </a:solidFill>
                <a:latin typeface="Pretendard"/>
              </a:rPr>
              <a:t>331(와이어프레임설계) W-06 상세형 원형 상속. 반복 인스턴스 24건이 이 골격 1개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UI상세설계서 · V1.0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28066"/>
            <a:ext cx="12191695" cy="2057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" y="109728"/>
            <a:ext cx="1402044" cy="30175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04792" y="157733"/>
            <a:ext cx="1402044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retendard"/>
              </a:rPr>
              <a:t>HDP-CRD0150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754" y="130302"/>
            <a:ext cx="5486262" cy="315467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Pretendard"/>
              </a:rPr>
              <a:t>신청정보입력(S2)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36933" y="164592"/>
            <a:ext cx="438901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850" b="0">
                <a:solidFill>
                  <a:srgbClr val="767676"/>
                </a:solidFill>
                <a:latin typeface="Pretendard"/>
              </a:rPr>
              <a:t>PC · 프로세스형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754" y="370332"/>
            <a:ext cx="5486262" cy="17830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카드·상품권·멤버십 &gt; 현대백화점카드 &gt; 카드신청 &gt; 가족카드 추가신청 &gt; 신청정보입력(S2)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50" y="651510"/>
            <a:ext cx="8168435" cy="28803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50" y="692658"/>
            <a:ext cx="8168435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프로세스형 수직 구조 · Sub Header → 단계바 → 입력·확인 블록 → 밸리데이션 → 단일 액션 버튼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7667" y="1028700"/>
            <a:ext cx="3657508" cy="274320"/>
          </a:xfrm>
          <a:prstGeom prst="rect">
            <a:avLst/>
          </a:prstGeom>
          <a:solidFill>
            <a:srgbClr val="E6E6E6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7667" y="1069848"/>
            <a:ext cx="3657508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1">
                <a:solidFill>
                  <a:srgbClr val="1A1A1A"/>
                </a:solidFill>
                <a:latin typeface="Pretendard"/>
              </a:rPr>
              <a:t>[Default — 필수 미입력]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667" y="1371600"/>
            <a:ext cx="3657508" cy="30861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7667" y="1402461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가족카드 추가신청</a:t>
            </a:r>
          </a:p>
        </p:txBody>
      </p:sp>
      <p:sp>
        <p:nvSpPr>
          <p:cNvPr id="15" name="Oval 14"/>
          <p:cNvSpPr/>
          <p:nvPr/>
        </p:nvSpPr>
        <p:spPr>
          <a:xfrm>
            <a:off x="3950109" y="1289304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7667" y="1735074"/>
            <a:ext cx="3657508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7667" y="1800225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4단계 중 2단계</a:t>
            </a:r>
          </a:p>
        </p:txBody>
      </p:sp>
      <p:sp>
        <p:nvSpPr>
          <p:cNvPr id="18" name="Oval 17"/>
          <p:cNvSpPr/>
          <p:nvPr/>
        </p:nvSpPr>
        <p:spPr>
          <a:xfrm>
            <a:off x="3950109" y="1652778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7667" y="2167128"/>
            <a:ext cx="3657508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7667" y="2232279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신청인 정보 — 인증값 읽기전용</a:t>
            </a:r>
          </a:p>
        </p:txBody>
      </p:sp>
      <p:sp>
        <p:nvSpPr>
          <p:cNvPr id="21" name="Oval 20"/>
          <p:cNvSpPr/>
          <p:nvPr/>
        </p:nvSpPr>
        <p:spPr>
          <a:xfrm>
            <a:off x="3950109" y="2084832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7667" y="2599182"/>
            <a:ext cx="3657508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7667" y="2664333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카드 수령 방법</a:t>
            </a:r>
          </a:p>
        </p:txBody>
      </p:sp>
      <p:sp>
        <p:nvSpPr>
          <p:cNvPr id="24" name="Oval 23"/>
          <p:cNvSpPr/>
          <p:nvPr/>
        </p:nvSpPr>
        <p:spPr>
          <a:xfrm>
            <a:off x="3950109" y="2516885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7667" y="3031236"/>
            <a:ext cx="3657508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7667" y="3096387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배송지</a:t>
            </a:r>
          </a:p>
        </p:txBody>
      </p:sp>
      <p:sp>
        <p:nvSpPr>
          <p:cNvPr id="27" name="Oval 26"/>
          <p:cNvSpPr/>
          <p:nvPr/>
        </p:nvSpPr>
        <p:spPr>
          <a:xfrm>
            <a:off x="3950109" y="2948939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7667" y="3463289"/>
            <a:ext cx="3657508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7667" y="3528441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약관 동의</a:t>
            </a:r>
          </a:p>
        </p:txBody>
      </p:sp>
      <p:sp>
        <p:nvSpPr>
          <p:cNvPr id="30" name="Oval 29"/>
          <p:cNvSpPr/>
          <p:nvPr/>
        </p:nvSpPr>
        <p:spPr>
          <a:xfrm>
            <a:off x="3950109" y="3380993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7667" y="3895343"/>
            <a:ext cx="3657508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7667" y="3960494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Validation Check</a:t>
            </a:r>
          </a:p>
        </p:txBody>
      </p:sp>
      <p:sp>
        <p:nvSpPr>
          <p:cNvPr id="33" name="Oval 32"/>
          <p:cNvSpPr/>
          <p:nvPr/>
        </p:nvSpPr>
        <p:spPr>
          <a:xfrm>
            <a:off x="3950109" y="3813047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7667" y="4327397"/>
            <a:ext cx="3657508" cy="342900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7667" y="4375404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FFFFFF"/>
                </a:solidFill>
                <a:latin typeface="Pretendard"/>
              </a:rPr>
              <a:t>다음</a:t>
            </a:r>
          </a:p>
        </p:txBody>
      </p:sp>
      <p:sp>
        <p:nvSpPr>
          <p:cNvPr id="36" name="Oval 35"/>
          <p:cNvSpPr/>
          <p:nvPr/>
        </p:nvSpPr>
        <p:spPr>
          <a:xfrm>
            <a:off x="3950109" y="4245101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10927" y="1028700"/>
            <a:ext cx="3657508" cy="274320"/>
          </a:xfrm>
          <a:prstGeom prst="rect">
            <a:avLst/>
          </a:prstGeom>
          <a:solidFill>
            <a:srgbClr val="E6E6E6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10927" y="1069848"/>
            <a:ext cx="3657508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1">
                <a:solidFill>
                  <a:srgbClr val="1A1A1A"/>
                </a:solidFill>
                <a:latin typeface="Pretendard"/>
              </a:rPr>
              <a:t>[필수 충족 CASE]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10927" y="1371600"/>
            <a:ext cx="3657508" cy="342900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10927" y="1419606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FFFFFF"/>
                </a:solidFill>
                <a:latin typeface="Pretendard"/>
              </a:rPr>
              <a:t>다음 — 활성</a:t>
            </a:r>
          </a:p>
        </p:txBody>
      </p:sp>
      <p:sp>
        <p:nvSpPr>
          <p:cNvPr id="41" name="Oval 40"/>
          <p:cNvSpPr/>
          <p:nvPr/>
        </p:nvSpPr>
        <p:spPr>
          <a:xfrm>
            <a:off x="7973368" y="1289304"/>
            <a:ext cx="243833" cy="244144"/>
          </a:xfrm>
          <a:prstGeom prst="ellipse">
            <a:avLst/>
          </a:prstGeom>
          <a:solidFill>
            <a:srgbClr val="76767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</a:rPr>
              <a:t>8a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021854" y="651510"/>
            <a:ext cx="487667" cy="27432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21854" y="692658"/>
            <a:ext cx="487667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번호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509522" y="651510"/>
            <a:ext cx="2438339" cy="27432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509522" y="692658"/>
            <a:ext cx="2438339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Pretendard"/>
              </a:rPr>
              <a:t>설명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021854" y="925830"/>
            <a:ext cx="487667" cy="44577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021854" y="1028700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Pretendard"/>
              </a:rPr>
              <a:t>–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509522" y="925830"/>
            <a:ext cx="2438339" cy="44577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09522" y="966978"/>
            <a:ext cx="2438339" cy="363474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Pretendard"/>
              </a:rPr>
              <a:t>본인회원인증(S1) 완료 시 진입 &gt; 인증 정보 승계 상태로 노출. 직접 진입 시 &gt; S1으로 리다이렉트 처리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021854" y="1371600"/>
            <a:ext cx="487667" cy="107670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021854" y="1426464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509522" y="1371600"/>
            <a:ext cx="2438339" cy="107670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509522" y="1399032"/>
            <a:ext cx="2438339" cy="102184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[Sub Header]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신청 상품명 「가족카드 추가신청」 노출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닫기 선택 시 &gt; 중단 경고 노출 — 「신청을 중단하시겠습니까? 입력하신 내용은 저장되지 않습니다.」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중단 확인 시 &gt; 카드 소개로 이동 / 화면 ID : HDP-CRD0101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FN-E08 · 331(와이어프레임설계) W-09 · 122(현시스템기초분석) H3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021854" y="2448306"/>
            <a:ext cx="487667" cy="107670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021854" y="2503170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2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509522" y="2448306"/>
            <a:ext cx="2438339" cy="107670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509522" y="2475738"/>
            <a:ext cx="2438339" cy="102184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[단계바]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4단계 중 2단계 활성 노출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완료 단계는 완료 표기 · 이후 단계는 비활성 노출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이전 단계 선택 시 &gt; 입력값 보존 상태로 S1 이동 / 화면 ID : HDP-CRD0149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331(와이어프레임설계) W-08·09·10 3단 구조 · FN-E02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021854" y="3525012"/>
            <a:ext cx="487667" cy="107670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021854" y="3579876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509522" y="3525012"/>
            <a:ext cx="2438339" cy="107670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509522" y="3552444"/>
            <a:ext cx="2438339" cy="102184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[신청인 정보] (필수)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S1 인증값 노출 — 읽기전용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제공 항목 : 성명 · 생년월일 · 연락처 — 형식 `%성명%` `YYYY.MM.DD` `010-0000-0000`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수정 시 &gt; S1 재인증 필요 안내 노출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FN-E03 · 213(시스템요건분석) 인증 정책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021854" y="4601718"/>
            <a:ext cx="487667" cy="12481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021854" y="4656582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4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509522" y="4601718"/>
            <a:ext cx="2438339" cy="12481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509522" y="4629150"/>
            <a:ext cx="2438339" cy="119329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[카드 수령 방법] (필수)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미선택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제공 항목 : 지점 수령 / 배송 — 2종 단일 선택(라디오)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지점 수령 선택 시 &gt; 지점 선택(HDP-COM0114) 호출 후 %지점명% 반영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배송 선택 시 &gt; desc 5 배송지 영역 활성 노출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333(UI가이드정의) C-05 선택 컨트롤 · FN-E04 · 컨셉키워드 K3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021854" y="5918454"/>
            <a:ext cx="292600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※ 다음 페이지 계속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021854" y="5849874"/>
            <a:ext cx="487667" cy="34290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021854" y="5918454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750" b="0">
                <a:solidFill>
                  <a:srgbClr val="1A1A1A"/>
                </a:solidFill>
                <a:latin typeface="Pretendard"/>
              </a:rPr>
              <a:t>비고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509522" y="5849874"/>
            <a:ext cx="2438339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509522" y="5884164"/>
            <a:ext cx="2438339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767676"/>
                </a:solidFill>
                <a:latin typeface="Pretendard"/>
              </a:rPr>
              <a:t>331(와이어프레임설계) W-09 원형 상속. 공통 모듈 3종(본인인증·주소검색·약관동의)은 호출만 하고 정의는 343(설계리뷰및리팩토링) 몫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UI상세설계서 · V1.0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28066"/>
            <a:ext cx="12191695" cy="2057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" y="109728"/>
            <a:ext cx="1402044" cy="30175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04792" y="157733"/>
            <a:ext cx="1402044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retendard"/>
              </a:rPr>
              <a:t>HDP-CUL0186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754" y="130302"/>
            <a:ext cx="5486262" cy="315467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Pretendard"/>
              </a:rPr>
              <a:t>대기 상태 조회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36933" y="164592"/>
            <a:ext cx="438901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850" b="0">
                <a:solidFill>
                  <a:srgbClr val="767676"/>
                </a:solidFill>
                <a:latin typeface="Pretendard"/>
              </a:rPr>
              <a:t>PC · 조회·결과형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754" y="370332"/>
            <a:ext cx="5486262" cy="17830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문화센터·공연·전시 &gt; CH 1985·문화센터 &gt; 나의 강좌 &gt; 대기 상태 조회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50" y="651510"/>
            <a:ext cx="8168435" cy="28803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50" y="692658"/>
            <a:ext cx="8168435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조회·결과형 수직 구조 · Header → 조건 입력부 → 조회 버튼 → 결과 영역(결과 N / 빈 상태) → 페이징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7667" y="1028700"/>
            <a:ext cx="3657508" cy="274320"/>
          </a:xfrm>
          <a:prstGeom prst="rect">
            <a:avLst/>
          </a:prstGeom>
          <a:solidFill>
            <a:srgbClr val="E6E6E6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7667" y="1069848"/>
            <a:ext cx="3657508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1">
                <a:solidFill>
                  <a:srgbClr val="1A1A1A"/>
                </a:solidFill>
                <a:latin typeface="Pretendard"/>
              </a:rPr>
              <a:t>[Default — 조건 미입력]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667" y="1371600"/>
            <a:ext cx="3657508" cy="30861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7667" y="1402461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대기 상태</a:t>
            </a:r>
          </a:p>
        </p:txBody>
      </p:sp>
      <p:sp>
        <p:nvSpPr>
          <p:cNvPr id="15" name="Oval 14"/>
          <p:cNvSpPr/>
          <p:nvPr/>
        </p:nvSpPr>
        <p:spPr>
          <a:xfrm>
            <a:off x="3950109" y="1289304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7667" y="1735074"/>
            <a:ext cx="3657508" cy="30861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7667" y="1765935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대기 중 / 등록 완료 / 취소</a:t>
            </a:r>
          </a:p>
        </p:txBody>
      </p:sp>
      <p:sp>
        <p:nvSpPr>
          <p:cNvPr id="18" name="Oval 17"/>
          <p:cNvSpPr/>
          <p:nvPr/>
        </p:nvSpPr>
        <p:spPr>
          <a:xfrm>
            <a:off x="3950109" y="1652778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7667" y="2098548"/>
            <a:ext cx="3657508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7667" y="2163699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신청 기간</a:t>
            </a:r>
          </a:p>
        </p:txBody>
      </p:sp>
      <p:sp>
        <p:nvSpPr>
          <p:cNvPr id="21" name="Oval 20"/>
          <p:cNvSpPr/>
          <p:nvPr/>
        </p:nvSpPr>
        <p:spPr>
          <a:xfrm>
            <a:off x="3950109" y="2016252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7667" y="2530602"/>
            <a:ext cx="3657508" cy="342900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7667" y="2578608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FFFFFF"/>
                </a:solidFill>
                <a:latin typeface="Pretendard"/>
              </a:rPr>
              <a:t>조회</a:t>
            </a:r>
          </a:p>
        </p:txBody>
      </p:sp>
      <p:sp>
        <p:nvSpPr>
          <p:cNvPr id="24" name="Oval 23"/>
          <p:cNvSpPr/>
          <p:nvPr/>
        </p:nvSpPr>
        <p:spPr>
          <a:xfrm>
            <a:off x="3950109" y="2448305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7667" y="2928366"/>
            <a:ext cx="3657508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7667" y="2993517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결과 영역 미노출</a:t>
            </a:r>
          </a:p>
        </p:txBody>
      </p:sp>
      <p:sp>
        <p:nvSpPr>
          <p:cNvPr id="27" name="Oval 26"/>
          <p:cNvSpPr/>
          <p:nvPr/>
        </p:nvSpPr>
        <p:spPr>
          <a:xfrm>
            <a:off x="3950109" y="2846069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10927" y="1028700"/>
            <a:ext cx="3657508" cy="274320"/>
          </a:xfrm>
          <a:prstGeom prst="rect">
            <a:avLst/>
          </a:prstGeom>
          <a:solidFill>
            <a:srgbClr val="E6E6E6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10927" y="1069848"/>
            <a:ext cx="3657508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1">
                <a:solidFill>
                  <a:srgbClr val="1A1A1A"/>
                </a:solidFill>
                <a:latin typeface="Pretendard"/>
              </a:rPr>
              <a:t>[결과 0건 CASE]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10927" y="1371600"/>
            <a:ext cx="3657508" cy="75438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10927" y="1625346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목록 비어 있음</a:t>
            </a:r>
          </a:p>
        </p:txBody>
      </p:sp>
      <p:sp>
        <p:nvSpPr>
          <p:cNvPr id="32" name="Oval 31"/>
          <p:cNvSpPr/>
          <p:nvPr/>
        </p:nvSpPr>
        <p:spPr>
          <a:xfrm>
            <a:off x="7973368" y="1289304"/>
            <a:ext cx="243833" cy="244144"/>
          </a:xfrm>
          <a:prstGeom prst="ellipse">
            <a:avLst/>
          </a:prstGeom>
          <a:solidFill>
            <a:srgbClr val="76767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</a:rPr>
              <a:t>5a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21854" y="651510"/>
            <a:ext cx="487667" cy="27432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21854" y="692658"/>
            <a:ext cx="487667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번호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509522" y="651510"/>
            <a:ext cx="2438339" cy="27432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09522" y="692658"/>
            <a:ext cx="2438339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Pretendard"/>
              </a:rPr>
              <a:t>설명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021854" y="925830"/>
            <a:ext cx="487667" cy="44577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21854" y="1028700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Pretendard"/>
              </a:rPr>
              <a:t>–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509522" y="925830"/>
            <a:ext cx="2438339" cy="44577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509522" y="966978"/>
            <a:ext cx="2438339" cy="363474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Pretendard"/>
              </a:rPr>
              <a:t>나의 강좌(HDP-CUL0130)에서 대기 신청 이력 보유 시 진입 / 정원 초과 레이어(HDP-COM0122)의 「대기 신청」 완료 후에도 진입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021854" y="1371600"/>
            <a:ext cx="487667" cy="73380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021854" y="1426464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509522" y="1371600"/>
            <a:ext cx="2438339" cy="73380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509522" y="1399032"/>
            <a:ext cx="2438339" cy="67894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[Header]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타이틀 「대기 상태」 노출 — P-TERM-05 「나의 강좌」 하위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332(컨텐츠가이드설계) §5-3 P-TERM-05 · IA-038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021854" y="2105406"/>
            <a:ext cx="487667" cy="107670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21854" y="2160270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509522" y="2105406"/>
            <a:ext cx="2438339" cy="107670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509522" y="2132838"/>
            <a:ext cx="2438339" cy="102184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[상태 필터] (선택)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「대기 중」 선택 상태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제공 항목 : 대기 중 / 등록 완료 / 취소 — 3종 단일 선택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선택 시 &gt; 결과 목록 즉시 갱신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333(UI가이드정의) C-02 필터 · FN-D09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021854" y="3182112"/>
            <a:ext cx="487667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021854" y="3236976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509522" y="3182112"/>
            <a:ext cx="2438339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509522" y="3209544"/>
            <a:ext cx="2438339" cy="85039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[신청 기간] (선택)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최근 3개월 — 형식 `YYYY.MM.DD ~ YYYY.MM.DD`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최대 12개월 조회 가능, 12개월 초과 시 &gt; 안내 문구 노출 — "최대 12개월까지 조회할 수 있습니다."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FN-D09 · 213(시스템요건분석) 조회 정책 [가정]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021854" y="4087367"/>
            <a:ext cx="487667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021854" y="4142231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509522" y="4087367"/>
            <a:ext cx="2438339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509522" y="4114799"/>
            <a:ext cx="2438339" cy="85039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[조회] (필수)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활성 노출 — 조건 전건 기본값 보유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선택 시 &gt; 결과 영역 노출 처리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333(UI가이드정의) C-01 버튼 주요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021854" y="5061204"/>
            <a:ext cx="292600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※ 다음 페이지 계속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021854" y="4992624"/>
            <a:ext cx="487667" cy="34290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021854" y="5061204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750" b="0">
                <a:solidFill>
                  <a:srgbClr val="1A1A1A"/>
                </a:solidFill>
                <a:latin typeface="Pretendard"/>
              </a:rPr>
              <a:t>비고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509522" y="4992624"/>
            <a:ext cx="2438339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509522" y="5026914"/>
            <a:ext cx="2438339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767676"/>
                </a:solidFill>
                <a:latin typeface="Pretendard"/>
              </a:rPr>
              <a:t>312(유저플로우설계) 신규 발견②. 원 요구서에 없던 화면 — 플로우 공백에서 도출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021854" y="5335524"/>
            <a:ext cx="487667" cy="342900"/>
          </a:xfrm>
          <a:prstGeom prst="rect">
            <a:avLst/>
          </a:prstGeom>
          <a:solidFill>
            <a:srgbClr val="FFF6F5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021854" y="5404104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700" b="0">
                <a:solidFill>
                  <a:srgbClr val="B3261E"/>
                </a:solidFill>
                <a:latin typeface="Pretendard"/>
              </a:rPr>
              <a:t>확인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509522" y="5335524"/>
            <a:ext cx="2438339" cy="342900"/>
          </a:xfrm>
          <a:prstGeom prst="rect">
            <a:avLst/>
          </a:prstGeom>
          <a:solidFill>
            <a:srgbClr val="FFF6F5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509522" y="5369814"/>
            <a:ext cx="2438339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B3261E"/>
                </a:solidFill>
                <a:latin typeface="Pretendard"/>
              </a:rPr>
              <a:t>대기 → 등록 전환 알림 채널(문자·앱푸시·이메일) 미정 — 213(시스템요건분석) 이관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UI상세설계서 · V1.0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28066"/>
            <a:ext cx="12191695" cy="2057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" y="109728"/>
            <a:ext cx="1402044" cy="30175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04792" y="157733"/>
            <a:ext cx="1402044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retendard"/>
              </a:rPr>
              <a:t>HDP-COM0121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754" y="130302"/>
            <a:ext cx="5486262" cy="315467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Pretendard"/>
              </a:rPr>
              <a:t>결제 실패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36933" y="164592"/>
            <a:ext cx="438901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850" b="0">
                <a:solidFill>
                  <a:srgbClr val="767676"/>
                </a:solidFill>
                <a:latin typeface="Pretendard"/>
              </a:rPr>
              <a:t>PC · 예외·안내형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754" y="370332"/>
            <a:ext cx="5486262" cy="17830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전역 — 결제 단계에서 호출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50" y="651510"/>
            <a:ext cx="8168435" cy="28803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50" y="692658"/>
            <a:ext cx="8168435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예외·안내형 수직 구조 · (Header 비제공) → 상태 아이콘 → 무엇이 잘못됐나 → 왜 → 다음 행동 → 버튼 1~2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7667" y="1028700"/>
            <a:ext cx="3657508" cy="274320"/>
          </a:xfrm>
          <a:prstGeom prst="rect">
            <a:avLst/>
          </a:prstGeom>
          <a:solidFill>
            <a:srgbClr val="E6E6E6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7667" y="1069848"/>
            <a:ext cx="3657508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1">
                <a:solidFill>
                  <a:srgbClr val="1A1A1A"/>
                </a:solidFill>
                <a:latin typeface="Pretendard"/>
              </a:rPr>
              <a:t>[Default — 사유 미전달]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667" y="1371600"/>
            <a:ext cx="3657508" cy="82296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7667" y="1659636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상태 아이콘</a:t>
            </a:r>
          </a:p>
        </p:txBody>
      </p:sp>
      <p:sp>
        <p:nvSpPr>
          <p:cNvPr id="15" name="Oval 14"/>
          <p:cNvSpPr/>
          <p:nvPr/>
        </p:nvSpPr>
        <p:spPr>
          <a:xfrm>
            <a:off x="3950109" y="1289304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7667" y="2249423"/>
            <a:ext cx="3657508" cy="30861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7667" y="2280285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결제가 완료되지 않았습니다.</a:t>
            </a:r>
          </a:p>
        </p:txBody>
      </p:sp>
      <p:sp>
        <p:nvSpPr>
          <p:cNvPr id="18" name="Oval 17"/>
          <p:cNvSpPr/>
          <p:nvPr/>
        </p:nvSpPr>
        <p:spPr>
          <a:xfrm>
            <a:off x="3950109" y="2167128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7667" y="2612897"/>
            <a:ext cx="3657508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7667" y="2678048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신청 내용은 그대로 있습니다. 다시 시도해 주세요.</a:t>
            </a:r>
          </a:p>
        </p:txBody>
      </p:sp>
      <p:sp>
        <p:nvSpPr>
          <p:cNvPr id="21" name="Oval 20"/>
          <p:cNvSpPr/>
          <p:nvPr/>
        </p:nvSpPr>
        <p:spPr>
          <a:xfrm>
            <a:off x="3950109" y="2530601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7667" y="3044951"/>
            <a:ext cx="3657508" cy="342900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7667" y="3092957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FFFFFF"/>
                </a:solidFill>
                <a:latin typeface="Pretendard"/>
              </a:rPr>
              <a:t>다시 시도</a:t>
            </a:r>
          </a:p>
        </p:txBody>
      </p:sp>
      <p:sp>
        <p:nvSpPr>
          <p:cNvPr id="24" name="Oval 23"/>
          <p:cNvSpPr/>
          <p:nvPr/>
        </p:nvSpPr>
        <p:spPr>
          <a:xfrm>
            <a:off x="3950109" y="2962655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7667" y="3442715"/>
            <a:ext cx="3657508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7667" y="3507866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신청 취소</a:t>
            </a:r>
          </a:p>
        </p:txBody>
      </p:sp>
      <p:sp>
        <p:nvSpPr>
          <p:cNvPr id="27" name="Oval 26"/>
          <p:cNvSpPr/>
          <p:nvPr/>
        </p:nvSpPr>
        <p:spPr>
          <a:xfrm>
            <a:off x="3950109" y="3360419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10927" y="1028700"/>
            <a:ext cx="3657508" cy="274320"/>
          </a:xfrm>
          <a:prstGeom prst="rect">
            <a:avLst/>
          </a:prstGeom>
          <a:solidFill>
            <a:srgbClr val="E6E6E6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10927" y="1069848"/>
            <a:ext cx="3657508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1">
                <a:solidFill>
                  <a:srgbClr val="1A1A1A"/>
                </a:solidFill>
                <a:latin typeface="Pretendard"/>
              </a:rPr>
              <a:t>[사유 전달 CASE]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10927" y="1371600"/>
            <a:ext cx="3657508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10927" y="1436751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PG 전달 사유 노출</a:t>
            </a:r>
          </a:p>
        </p:txBody>
      </p:sp>
      <p:sp>
        <p:nvSpPr>
          <p:cNvPr id="32" name="Oval 31"/>
          <p:cNvSpPr/>
          <p:nvPr/>
        </p:nvSpPr>
        <p:spPr>
          <a:xfrm>
            <a:off x="7973368" y="1289304"/>
            <a:ext cx="243833" cy="244144"/>
          </a:xfrm>
          <a:prstGeom prst="ellipse">
            <a:avLst/>
          </a:prstGeom>
          <a:solidFill>
            <a:srgbClr val="76767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</a:rPr>
              <a:t>2a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21854" y="651510"/>
            <a:ext cx="487667" cy="27432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21854" y="692658"/>
            <a:ext cx="487667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번호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509522" y="651510"/>
            <a:ext cx="2438339" cy="27432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09522" y="692658"/>
            <a:ext cx="2438339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Pretendard"/>
              </a:rPr>
              <a:t>설명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021854" y="925830"/>
            <a:ext cx="487667" cy="44577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21854" y="1028700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Pretendard"/>
              </a:rPr>
              <a:t>–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509522" y="925830"/>
            <a:ext cx="2438339" cy="44577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509522" y="966978"/>
            <a:ext cx="2438339" cy="363474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Pretendard"/>
              </a:rPr>
              <a:t>결제 요청 실패 응답 수신 시 &gt; **레이어로 호출.** 본화면 전환 금지 — 입력값이 소실되면 안내 문구가 거짓이 된다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021854" y="1371600"/>
            <a:ext cx="487667" cy="73380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021854" y="1426464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509522" y="1371600"/>
            <a:ext cx="2438339" cy="73380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509522" y="1399032"/>
            <a:ext cx="2438339" cy="67894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[상태 아이콘]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오류 상태 아이콘 노출 — 색·형태는 421(UI디자인)에서 확정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331(와이어프레임설계) W-14 공통 골격 · 333(UI가이드정의) 미결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021854" y="2105406"/>
            <a:ext cx="487667" cy="107670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21854" y="2160270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509522" y="2105406"/>
            <a:ext cx="2438339" cy="107670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509522" y="2132838"/>
            <a:ext cx="2438339" cy="102184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[무엇이 잘못됐나]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332(컨텐츠가이드설계) §6 사전값 고정 — "결제가 완료되지 않았습니다."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문구를 이 문서에서 새로 쓰지 않음 — 사전 정본 인용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주어는 시스템·상황 — 비난 금지 규칙 적용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332(컨텐츠가이드설계) §6 결제 실패 · CT-21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021854" y="3182112"/>
            <a:ext cx="487667" cy="107670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021854" y="3236976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2a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509522" y="3182112"/>
            <a:ext cx="2438339" cy="107670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509522" y="3209544"/>
            <a:ext cx="2438339" cy="102184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[왜 — 사유 전달 케이스]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PG 전달 사유 노출 — %실패사유%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사유 미전달 시 &gt; 영역 비노출 처리 — 「알 수 없는 오류」 류 문구 금지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코드·상태값 노출 0 — 332(컨텐츠가이드설계) §6-1 규칙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332(컨텐츠가이드설계) §6-1 코드 노출 0 · 213(시스템요건분석) PG 연동 [미결]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021854" y="4258817"/>
            <a:ext cx="487667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021854" y="4313681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509522" y="4258817"/>
            <a:ext cx="2438339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509522" y="4286249"/>
            <a:ext cx="2438339" cy="85039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[다음 행동]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332(컨텐츠가이드설계) §6 사전값 고정 — "신청 내용은 그대로 있습니다. 다시 시도해 주세요."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**이 문장이 화면 유형을 결정했다** — 레이어라서 입력값이 보존되므로 참이 된다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332(컨텐츠가이드설계) §6 · 132(수행계획수립) 재산정 근거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021854" y="5164074"/>
            <a:ext cx="487667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021854" y="5218937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509522" y="5164074"/>
            <a:ext cx="2438339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509522" y="5191506"/>
            <a:ext cx="2438339" cy="85039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[다시 시도] (필수)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활성 노출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선택 시 &gt; 레이어 닫힘 후 결제 재요청 — 입력값 보존 상태 유지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331(와이어프레임설계) 「막다른 화면 0」 · 333(UI가이드정의) C-01 버튼 주요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021854" y="6137910"/>
            <a:ext cx="292600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※ 다음 페이지 계속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021854" y="6069330"/>
            <a:ext cx="487667" cy="342900"/>
          </a:xfrm>
          <a:prstGeom prst="rect">
            <a:avLst/>
          </a:prstGeom>
          <a:solidFill>
            <a:srgbClr val="FFF6F5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021854" y="6137910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700" b="0">
                <a:solidFill>
                  <a:srgbClr val="B3261E"/>
                </a:solidFill>
                <a:latin typeface="Pretendard"/>
              </a:rPr>
              <a:t>확인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509522" y="6069330"/>
            <a:ext cx="2438339" cy="342900"/>
          </a:xfrm>
          <a:prstGeom prst="rect">
            <a:avLst/>
          </a:prstGeom>
          <a:solidFill>
            <a:srgbClr val="FFF6F5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509522" y="6103620"/>
            <a:ext cx="2438339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B3261E"/>
                </a:solidFill>
                <a:latin typeface="Pretendard"/>
              </a:rPr>
              <a:t>PG 실패 사유 코드 매핑표 미확보 — 213(시스템요건분석) 이관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UI상세설계서 · V1.0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10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87667" y="171450"/>
            <a:ext cx="3657508" cy="30861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1">
                <a:solidFill>
                  <a:srgbClr val="767676"/>
                </a:solidFill>
                <a:latin typeface="Pretendard"/>
              </a:rPr>
              <a:t>3화면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8051" y="2777490"/>
            <a:ext cx="609584" cy="2743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67093" y="2948940"/>
            <a:ext cx="3901342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300" b="0">
                <a:solidFill>
                  <a:srgbClr val="767676"/>
                </a:solidFill>
                <a:latin typeface="Pretendard"/>
              </a:rPr>
              <a:t>정의는 한 곳, 호출은 여러 곳인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67093" y="3257550"/>
            <a:ext cx="3901342" cy="9601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Pretendard"/>
              </a:rPr>
              <a:t>공통 모듈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화면설계서 (샘플) ·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11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28066"/>
            <a:ext cx="12191695" cy="2057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" y="109728"/>
            <a:ext cx="1402044" cy="30175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04792" y="157733"/>
            <a:ext cx="1402044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retendard"/>
              </a:rPr>
              <a:t>HDP-COM0130L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754" y="130302"/>
            <a:ext cx="5486262" cy="315467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Pretendard"/>
              </a:rPr>
              <a:t>본인인증 공통 모듈(L)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36933" y="164592"/>
            <a:ext cx="438901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850" b="0">
                <a:solidFill>
                  <a:srgbClr val="767676"/>
                </a:solidFill>
                <a:latin typeface="Pretendard"/>
              </a:rPr>
              <a:t>PC · MWEB 공통 · 프로세스형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754" y="370332"/>
            <a:ext cx="5486262" cy="17830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전역 — 카드신청 · 마이페이지 · 문화센터 접수에서 호출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50" y="651510"/>
            <a:ext cx="8168435" cy="28803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50" y="692658"/>
            <a:ext cx="8168435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프로세스형 수직 구조 · 오버레이 헤더 → 인증 수단 선택 → 인증 진행 → 결과 반환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7667" y="1028700"/>
            <a:ext cx="3657508" cy="274320"/>
          </a:xfrm>
          <a:prstGeom prst="rect">
            <a:avLst/>
          </a:prstGeom>
          <a:solidFill>
            <a:srgbClr val="E6E6E6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7667" y="1069848"/>
            <a:ext cx="3657508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1">
                <a:solidFill>
                  <a:srgbClr val="1A1A1A"/>
                </a:solidFill>
                <a:latin typeface="Pretendard"/>
              </a:rPr>
              <a:t>[Default — 수단 선택]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667" y="1371600"/>
            <a:ext cx="3657508" cy="30861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7667" y="1402461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본인인증 · 닫기</a:t>
            </a:r>
          </a:p>
        </p:txBody>
      </p:sp>
      <p:sp>
        <p:nvSpPr>
          <p:cNvPr id="15" name="Oval 14"/>
          <p:cNvSpPr/>
          <p:nvPr/>
        </p:nvSpPr>
        <p:spPr>
          <a:xfrm>
            <a:off x="3950109" y="1289304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7667" y="1735074"/>
            <a:ext cx="3657508" cy="61722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7667" y="1920240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인증 수단 카드 N개</a:t>
            </a:r>
          </a:p>
        </p:txBody>
      </p:sp>
      <p:sp>
        <p:nvSpPr>
          <p:cNvPr id="18" name="Oval 17"/>
          <p:cNvSpPr/>
          <p:nvPr/>
        </p:nvSpPr>
        <p:spPr>
          <a:xfrm>
            <a:off x="3950109" y="1652778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7667" y="2407158"/>
            <a:ext cx="3657508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7667" y="2472309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안내 문구</a:t>
            </a:r>
          </a:p>
        </p:txBody>
      </p:sp>
      <p:sp>
        <p:nvSpPr>
          <p:cNvPr id="21" name="Oval 20"/>
          <p:cNvSpPr/>
          <p:nvPr/>
        </p:nvSpPr>
        <p:spPr>
          <a:xfrm>
            <a:off x="3950109" y="2324862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10927" y="1028700"/>
            <a:ext cx="3657508" cy="274320"/>
          </a:xfrm>
          <a:prstGeom prst="rect">
            <a:avLst/>
          </a:prstGeom>
          <a:solidFill>
            <a:srgbClr val="E6E6E6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10927" y="1069848"/>
            <a:ext cx="3657508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1">
                <a:solidFill>
                  <a:srgbClr val="1A1A1A"/>
                </a:solidFill>
                <a:latin typeface="Pretendard"/>
              </a:rPr>
              <a:t>[인증 실패 CASE]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10927" y="1371600"/>
            <a:ext cx="3657508" cy="75438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10927" y="1625346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실패 안내 · 재시도</a:t>
            </a:r>
          </a:p>
        </p:txBody>
      </p:sp>
      <p:sp>
        <p:nvSpPr>
          <p:cNvPr id="26" name="Oval 25"/>
          <p:cNvSpPr/>
          <p:nvPr/>
        </p:nvSpPr>
        <p:spPr>
          <a:xfrm>
            <a:off x="7973368" y="1289304"/>
            <a:ext cx="243833" cy="244144"/>
          </a:xfrm>
          <a:prstGeom prst="ellipse">
            <a:avLst/>
          </a:prstGeom>
          <a:solidFill>
            <a:srgbClr val="76767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</a:rPr>
              <a:t>2a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21854" y="651510"/>
            <a:ext cx="487667" cy="27432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21854" y="692658"/>
            <a:ext cx="487667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번호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09522" y="651510"/>
            <a:ext cx="2438339" cy="27432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09522" y="692658"/>
            <a:ext cx="2438339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Pretendard"/>
              </a:rPr>
              <a:t>설명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21854" y="925830"/>
            <a:ext cx="487667" cy="44577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21854" y="1028700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Pretendard"/>
              </a:rPr>
              <a:t>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509522" y="925830"/>
            <a:ext cx="2438339" cy="44577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509522" y="966978"/>
            <a:ext cx="2438339" cy="363474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Pretendard"/>
              </a:rPr>
              <a:t>본인 확인이 필요한 단계 진입 시 &gt; 레이어로 호출. 완료 시 호출 화면에 인증값 반환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021854" y="1371600"/>
            <a:ext cx="487667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21854" y="1426464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509522" y="1371600"/>
            <a:ext cx="2438339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509522" y="1399032"/>
            <a:ext cx="2438339" cy="85039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[오버레이 헤더]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타이틀 「본인인증」 노출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닫기 선택 시 &gt; 중단 경고 노출 — 호출 화면의 입력값은 보존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333(UI가이드정의) T-07 오버레이 · FN-E03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021854" y="2276856"/>
            <a:ext cx="487667" cy="107670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21854" y="2331720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509522" y="2276856"/>
            <a:ext cx="2438339" cy="107670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509522" y="2304288"/>
            <a:ext cx="2438339" cy="102184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[인증 수단 선택] (필수)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미선택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제공 항목 : 인증 수단 — 종류·우선순위는 213(시스템요건분석) 미결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선택 시 &gt; 해당 수단 인증 화면으로 전환 — 모듈 내부 전환, 화면 이동 없음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FN-E03 · 212 정책요건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021854" y="3353562"/>
            <a:ext cx="487667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21854" y="3408426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2a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509522" y="3353562"/>
            <a:ext cx="2438339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509522" y="3380994"/>
            <a:ext cx="2438339" cy="85039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[인증 실패]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332(컨텐츠가이드설계) §6 예외 골격 — 무엇 · 왜 · 다음 행동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「다시 시도」 버튼 제공 — 선택 시 &gt; 수단 선택으로 원복 처리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332(컨텐츠가이드설계) §6 · 331(와이어프레임설계) 「막다른 화면 0」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021854" y="4258818"/>
            <a:ext cx="487667" cy="73380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021854" y="4313682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509522" y="4258818"/>
            <a:ext cx="2438339" cy="73380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509522" y="4286250"/>
            <a:ext cx="2438339" cy="67894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[안내 문구]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인증 목적·수집 항목 고지 노출 — 212 정책요건 문구 사용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212 정책요건 · 354 접근성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021854" y="4992624"/>
            <a:ext cx="487667" cy="34290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021854" y="5061204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750" b="0">
                <a:solidFill>
                  <a:srgbClr val="1A1A1A"/>
                </a:solidFill>
                <a:latin typeface="Pretendard"/>
              </a:rPr>
              <a:t>비고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509522" y="4992624"/>
            <a:ext cx="2438339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509522" y="5026914"/>
            <a:ext cx="2438339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767676"/>
                </a:solidFill>
                <a:latin typeface="Pretendard"/>
              </a:rPr>
              <a:t>호출처: HDP-CRD0149(본인회원인증 S1) · HDP-MYP0133(개인정보 관리) · 문화센터 접수. 정의는 1곳, 호출은 N곳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021854" y="5335524"/>
            <a:ext cx="487667" cy="342900"/>
          </a:xfrm>
          <a:prstGeom prst="rect">
            <a:avLst/>
          </a:prstGeom>
          <a:solidFill>
            <a:srgbClr val="FFF6F5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021854" y="5404104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700" b="0">
                <a:solidFill>
                  <a:srgbClr val="B3261E"/>
                </a:solidFill>
                <a:latin typeface="Pretendard"/>
              </a:rPr>
              <a:t>확인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509522" y="5335524"/>
            <a:ext cx="2438339" cy="342900"/>
          </a:xfrm>
          <a:prstGeom prst="rect">
            <a:avLst/>
          </a:prstGeom>
          <a:solidFill>
            <a:srgbClr val="FFF6F5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509522" y="5369814"/>
            <a:ext cx="2438339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B3261E"/>
                </a:solidFill>
                <a:latin typeface="Pretendard"/>
              </a:rPr>
              <a:t>인증 수단 종류·PG 계약 — 213(시스템요건분석) 미결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UI상세설계서 · V1.0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12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28066"/>
            <a:ext cx="12191695" cy="2057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" y="109728"/>
            <a:ext cx="1402044" cy="30175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04792" y="157733"/>
            <a:ext cx="1402044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retendard"/>
              </a:rPr>
              <a:t>HDP-COM0131L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754" y="130302"/>
            <a:ext cx="5486262" cy="315467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Pretendard"/>
              </a:rPr>
              <a:t>주소검색 공통 모듈(L)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36933" y="164592"/>
            <a:ext cx="438901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850" b="0">
                <a:solidFill>
                  <a:srgbClr val="767676"/>
                </a:solidFill>
                <a:latin typeface="Pretendard"/>
              </a:rPr>
              <a:t>PC · MWEB 공통 · 조회·결과형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754" y="370332"/>
            <a:ext cx="5486262" cy="17830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전역 — 배송지 입력에서 호출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50" y="651510"/>
            <a:ext cx="8168435" cy="28803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50" y="692658"/>
            <a:ext cx="8168435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조회·결과형 수직 구조 · 오버레이 헤더 → 검색 입력 → 결과 목록 → 선택 반환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7667" y="1028700"/>
            <a:ext cx="3657508" cy="274320"/>
          </a:xfrm>
          <a:prstGeom prst="rect">
            <a:avLst/>
          </a:prstGeom>
          <a:solidFill>
            <a:srgbClr val="E6E6E6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7667" y="1069848"/>
            <a:ext cx="3657508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1">
                <a:solidFill>
                  <a:srgbClr val="1A1A1A"/>
                </a:solidFill>
                <a:latin typeface="Pretendard"/>
              </a:rPr>
              <a:t>[Default — 검색 전]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667" y="1371600"/>
            <a:ext cx="3657508" cy="30861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7667" y="1402461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주소 검색 · 닫기</a:t>
            </a:r>
          </a:p>
        </p:txBody>
      </p:sp>
      <p:sp>
        <p:nvSpPr>
          <p:cNvPr id="15" name="Oval 14"/>
          <p:cNvSpPr/>
          <p:nvPr/>
        </p:nvSpPr>
        <p:spPr>
          <a:xfrm>
            <a:off x="3950109" y="1289304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7667" y="1735074"/>
            <a:ext cx="3657508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7667" y="1800225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도로명·지번 입력</a:t>
            </a:r>
          </a:p>
        </p:txBody>
      </p:sp>
      <p:sp>
        <p:nvSpPr>
          <p:cNvPr id="18" name="Oval 17"/>
          <p:cNvSpPr/>
          <p:nvPr/>
        </p:nvSpPr>
        <p:spPr>
          <a:xfrm>
            <a:off x="3950109" y="1652778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7667" y="2167128"/>
            <a:ext cx="3657508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7667" y="2232279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결과 영역 미노출</a:t>
            </a:r>
          </a:p>
        </p:txBody>
      </p:sp>
      <p:sp>
        <p:nvSpPr>
          <p:cNvPr id="21" name="Oval 20"/>
          <p:cNvSpPr/>
          <p:nvPr/>
        </p:nvSpPr>
        <p:spPr>
          <a:xfrm>
            <a:off x="3950109" y="2084832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10927" y="1028700"/>
            <a:ext cx="3657508" cy="274320"/>
          </a:xfrm>
          <a:prstGeom prst="rect">
            <a:avLst/>
          </a:prstGeom>
          <a:solidFill>
            <a:srgbClr val="E6E6E6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10927" y="1069848"/>
            <a:ext cx="3657508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1">
                <a:solidFill>
                  <a:srgbClr val="1A1A1A"/>
                </a:solidFill>
                <a:latin typeface="Pretendard"/>
              </a:rPr>
              <a:t>[결과 없음 CASE]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10927" y="1371600"/>
            <a:ext cx="3657508" cy="75438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10927" y="1625346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결과 없음 안내</a:t>
            </a:r>
          </a:p>
        </p:txBody>
      </p:sp>
      <p:sp>
        <p:nvSpPr>
          <p:cNvPr id="26" name="Oval 25"/>
          <p:cNvSpPr/>
          <p:nvPr/>
        </p:nvSpPr>
        <p:spPr>
          <a:xfrm>
            <a:off x="7973368" y="1289304"/>
            <a:ext cx="243833" cy="244144"/>
          </a:xfrm>
          <a:prstGeom prst="ellipse">
            <a:avLst/>
          </a:prstGeom>
          <a:solidFill>
            <a:srgbClr val="76767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</a:rPr>
              <a:t>3a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21854" y="651510"/>
            <a:ext cx="487667" cy="27432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21854" y="692658"/>
            <a:ext cx="487667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번호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09522" y="651510"/>
            <a:ext cx="2438339" cy="27432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09522" y="692658"/>
            <a:ext cx="2438339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Pretendard"/>
              </a:rPr>
              <a:t>설명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21854" y="925830"/>
            <a:ext cx="487667" cy="44577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21854" y="1028700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Pretendard"/>
              </a:rPr>
              <a:t>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509522" y="925830"/>
            <a:ext cx="2438339" cy="44577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509522" y="966978"/>
            <a:ext cx="2438339" cy="363474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Pretendard"/>
              </a:rPr>
              <a:t>우편번호 찾기 선택 시 &gt; 레이어로 호출. 선택 시 호출 화면 주소 필드에 값 반환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021854" y="1371600"/>
            <a:ext cx="487667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21854" y="1426464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509522" y="1371600"/>
            <a:ext cx="2438339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509522" y="1399032"/>
            <a:ext cx="2438339" cy="85039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[오버레이 헤더]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타이틀 「주소 검색」 노출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닫기 선택 시 &gt; 값 반환 없이 닫힘 — 호출 화면 기존 값 유지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333(UI가이드정의) T-07 오버레이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021854" y="2276856"/>
            <a:ext cx="487667" cy="107670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21854" y="2331720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509522" y="2276856"/>
            <a:ext cx="2438339" cy="107670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509522" y="2304288"/>
            <a:ext cx="2438339" cy="102184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[검색 입력] (필수)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플레이스 홀더 노출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입력 시 &gt; 2자 이상부터 검색 실행 가능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최대 50자 입력 가능, 50자 초과 시 &gt; 입력 차단 처리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333(UI가이드정의) C-03 검색 입력(지역)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021854" y="3353562"/>
            <a:ext cx="487667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21854" y="3408426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509522" y="3353562"/>
            <a:ext cx="2438339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509522" y="3380994"/>
            <a:ext cx="2438339" cy="85039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[결과 목록]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검색 전 미노출 — 빈 상태와 구분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결과 건수 상단 표기 · 선택 시 &gt; 호출 화면에 우편번호·기본주소 반환 후 닫힘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342(UI상세설계) HDP-CRD0150 desc 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021854" y="4258818"/>
            <a:ext cx="487667" cy="73380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021854" y="4313682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3a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509522" y="4258818"/>
            <a:ext cx="2438339" cy="73380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509522" y="4286250"/>
            <a:ext cx="2438339" cy="67894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[결과 없음]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332(컨텐츠가이드설계) §6-2 빈 상태 1행 골격 문구 노출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332(컨텐츠가이드설계) §6-2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021854" y="4992624"/>
            <a:ext cx="487667" cy="34290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021854" y="5061204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750" b="0">
                <a:solidFill>
                  <a:srgbClr val="1A1A1A"/>
                </a:solidFill>
                <a:latin typeface="Pretendard"/>
              </a:rPr>
              <a:t>비고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509522" y="4992624"/>
            <a:ext cx="2438339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509522" y="5026914"/>
            <a:ext cx="2438339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767676"/>
                </a:solidFill>
                <a:latin typeface="Pretendard"/>
              </a:rPr>
              <a:t>호출처: HDP-CRD0150(배송지) · 상품권 배송 · 마이페이지 주소 관리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021854" y="5335524"/>
            <a:ext cx="487667" cy="342900"/>
          </a:xfrm>
          <a:prstGeom prst="rect">
            <a:avLst/>
          </a:prstGeom>
          <a:solidFill>
            <a:srgbClr val="FFF6F5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021854" y="5404104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700" b="0">
                <a:solidFill>
                  <a:srgbClr val="B3261E"/>
                </a:solidFill>
                <a:latin typeface="Pretendard"/>
              </a:rPr>
              <a:t>확인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509522" y="5335524"/>
            <a:ext cx="2438339" cy="342900"/>
          </a:xfrm>
          <a:prstGeom prst="rect">
            <a:avLst/>
          </a:prstGeom>
          <a:solidFill>
            <a:srgbClr val="FFF6F5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509522" y="5369814"/>
            <a:ext cx="2438339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B3261E"/>
                </a:solidFill>
                <a:latin typeface="Pretendard"/>
              </a:rPr>
              <a:t>주소 API 제공자 — 213(시스템요건분석) 미결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UI상세설계서 · V1.0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13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28066"/>
            <a:ext cx="12191695" cy="2057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" y="109728"/>
            <a:ext cx="1402044" cy="30175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04792" y="157733"/>
            <a:ext cx="1402044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retendard"/>
              </a:rPr>
              <a:t>HDP-COM0132L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754" y="130302"/>
            <a:ext cx="5486262" cy="315467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Pretendard"/>
              </a:rPr>
              <a:t>약관 상세 공통 모듈(L)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36933" y="164592"/>
            <a:ext cx="438901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850" b="0">
                <a:solidFill>
                  <a:srgbClr val="767676"/>
                </a:solidFill>
                <a:latin typeface="Pretendard"/>
              </a:rPr>
              <a:t>PC · MWEB 공통 · 콘텐츠 상세형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754" y="370332"/>
            <a:ext cx="5486262" cy="17830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전역 — 약관 동의 블록에서 호출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50" y="651510"/>
            <a:ext cx="8168435" cy="28803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50" y="692658"/>
            <a:ext cx="8168435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콘텐츠 상세형 수직 구조 · 오버레이 헤더 → 약관 전문 → 닫기·동의 반환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7667" y="1028700"/>
            <a:ext cx="3657508" cy="274320"/>
          </a:xfrm>
          <a:prstGeom prst="rect">
            <a:avLst/>
          </a:prstGeom>
          <a:solidFill>
            <a:srgbClr val="E6E6E6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7667" y="1069848"/>
            <a:ext cx="3657508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1">
                <a:solidFill>
                  <a:srgbClr val="1A1A1A"/>
                </a:solidFill>
                <a:latin typeface="Pretendard"/>
              </a:rPr>
              <a:t>[Default]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667" y="1371600"/>
            <a:ext cx="3657508" cy="30861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7667" y="1402461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%약관명% · 닫기</a:t>
            </a:r>
          </a:p>
        </p:txBody>
      </p:sp>
      <p:sp>
        <p:nvSpPr>
          <p:cNvPr id="15" name="Oval 14"/>
          <p:cNvSpPr/>
          <p:nvPr/>
        </p:nvSpPr>
        <p:spPr>
          <a:xfrm>
            <a:off x="3950109" y="1289304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7667" y="1735074"/>
            <a:ext cx="3657508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7667" y="1800225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약관 전문 — Admin 등록</a:t>
            </a:r>
          </a:p>
        </p:txBody>
      </p:sp>
      <p:sp>
        <p:nvSpPr>
          <p:cNvPr id="18" name="Oval 17"/>
          <p:cNvSpPr/>
          <p:nvPr/>
        </p:nvSpPr>
        <p:spPr>
          <a:xfrm>
            <a:off x="3950109" y="1652778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7667" y="2167128"/>
            <a:ext cx="3657508" cy="342900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7667" y="2215134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FFFFFF"/>
                </a:solidFill>
                <a:latin typeface="Pretendard"/>
              </a:rPr>
              <a:t>동의하고 닫기</a:t>
            </a:r>
          </a:p>
        </p:txBody>
      </p:sp>
      <p:sp>
        <p:nvSpPr>
          <p:cNvPr id="21" name="Oval 20"/>
          <p:cNvSpPr/>
          <p:nvPr/>
        </p:nvSpPr>
        <p:spPr>
          <a:xfrm>
            <a:off x="3950109" y="2084832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21854" y="651510"/>
            <a:ext cx="487667" cy="27432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21854" y="692658"/>
            <a:ext cx="487667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번호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509522" y="651510"/>
            <a:ext cx="2438339" cy="27432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09522" y="692658"/>
            <a:ext cx="2438339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Pretendard"/>
              </a:rPr>
              <a:t>설명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21854" y="925830"/>
            <a:ext cx="487667" cy="44577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21854" y="1028700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Pretendard"/>
              </a:rPr>
              <a:t>–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509522" y="925830"/>
            <a:ext cx="2438339" cy="44577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09522" y="966978"/>
            <a:ext cx="2438339" cy="363474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Pretendard"/>
              </a:rPr>
              <a:t>약관명 선택 시 &gt; 레이어로 호출. 전문은 Admin 등록값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21854" y="1371600"/>
            <a:ext cx="487667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21854" y="1426464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509522" y="1371600"/>
            <a:ext cx="2438339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509522" y="1399032"/>
            <a:ext cx="2438339" cy="85039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[오버레이 헤더]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%약관명% 노출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닫기 선택 시 &gt; 동의 상태 변경 없이 닫힘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333(UI가이드정의) T-07 오버레이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021854" y="2276856"/>
            <a:ext cx="487667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021854" y="2331720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509522" y="2276856"/>
            <a:ext cx="2438339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09522" y="2304288"/>
            <a:ext cx="2438339" cy="85039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[약관 전문]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Admin에서 등록한 전문 노출 — 개정 시 Admin에서 버전 관리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스크롤 제공 · 본문 내 링크 없음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212 정책요건 · FN-E07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021854" y="3182112"/>
            <a:ext cx="487667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21854" y="3236976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509522" y="3182112"/>
            <a:ext cx="2438339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509522" y="3209544"/>
            <a:ext cx="2438339" cy="85039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[동의하고 닫기]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활성 노출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선택 시 &gt; 호출 화면의 해당 약관 동의 체크 반영 후 닫힘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342(UI상세설계) HDP-CRD0150 desc 6 · 354 접근성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021854" y="4087368"/>
            <a:ext cx="487667" cy="34290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21854" y="4155948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750" b="0">
                <a:solidFill>
                  <a:srgbClr val="1A1A1A"/>
                </a:solidFill>
                <a:latin typeface="Pretendard"/>
              </a:rPr>
              <a:t>비고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509522" y="4087368"/>
            <a:ext cx="2438339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509522" y="4121658"/>
            <a:ext cx="2438339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767676"/>
                </a:solidFill>
                <a:latin typeface="Pretendard"/>
              </a:rPr>
              <a:t>호출처: HDP-CRD0150(약관 동의) · 회원 · 문화센터 접수. MWEB 짝 HDM-COM0123L~0125L 동일 정의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021854" y="4430268"/>
            <a:ext cx="487667" cy="342900"/>
          </a:xfrm>
          <a:prstGeom prst="rect">
            <a:avLst/>
          </a:prstGeom>
          <a:solidFill>
            <a:srgbClr val="FFF6F5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021854" y="4498848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700" b="0">
                <a:solidFill>
                  <a:srgbClr val="B3261E"/>
                </a:solidFill>
                <a:latin typeface="Pretendard"/>
              </a:rPr>
              <a:t>확인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509522" y="4430268"/>
            <a:ext cx="2438339" cy="342900"/>
          </a:xfrm>
          <a:prstGeom prst="rect">
            <a:avLst/>
          </a:prstGeom>
          <a:solidFill>
            <a:srgbClr val="FFF6F5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09522" y="4464558"/>
            <a:ext cx="2438339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B3261E"/>
                </a:solidFill>
                <a:latin typeface="Pretendard"/>
              </a:rPr>
              <a:t>약관 개정 고지 방식(재동의 요구 조건) — 212 정책요건 미결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UI상세설계서 · V1.0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